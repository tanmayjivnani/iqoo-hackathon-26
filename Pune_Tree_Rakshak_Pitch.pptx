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420624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iQOO HACKATHON 2026 • OPEN INNOVATION TRACK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Pune Tree Rakshak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Phone-First Civic Accountability &amp; Urban Forest Preservation Platform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166360" cy="3429000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2316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The Problem: Broken Evidence &amp; Ghost Closures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4.09M+ Pune Trees: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Facing rampant illegal felling, concrete choking &amp; decay.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Vague Complaints: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submit un-timestamped photos with no statutory basis.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"Paper Closures":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Municipal portals close tickets without physical ground action.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Queue Flooding: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Non-tree spam and indoor photos clog municipal response teams.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166360" cy="3429000"/>
          </a:xfrm>
          <a:prstGeom prst="roundRect">
            <a:avLst>
              <a:gd name="adj" fmla="val 2667"/>
            </a:avLst>
          </a:prstGeom>
          <a:solidFill>
            <a:srgbClr val="F8FAF8"/>
          </a:solidFill>
          <a:ln w="19050">
            <a:solidFill>
              <a:srgbClr val="D1E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42316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The Solution: Closed-Loop Statutory Platform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Statutory Categories: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Maharashtra Tree Act 1975.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Sensor Telemetry: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tree tilt angle with device accelerometer.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3-Layer Forensic Standard: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Multi-angle capture with AI Anti-Spam Gate.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PMC 4.09M Tree Census GIS: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Attaches official municipal tree records.
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Zero-Trust Re-Audit: </a:t>
            </a:r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Timelock verification + Municipal Commissioner escalation.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App Launch / Grievance Tracker on your phone. Introduce problem &amp; vision in 30s.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 of 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• STEP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Civic Triage &amp; Sensor Telemetry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Screen: Category Selection &amp; Real-Time Accelerometer Grounding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385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🌳 7 Statutory Categories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Hazardous Leaning Tree (Fall Risk)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Illegal Felling (Active / Fresh Stump)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Heavy Unauthorized Pruning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Snapped / Hanging Broken Limbs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Root Concretization (NGT Basin)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Disease, Rot &amp; Pest Infestation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Tree Vandalism (Nails, Boards, Wires)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07408" y="178308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0F7F2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9385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Hardware Sensor Telemetry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228600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Physics Over Guesswork: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Device accelerometer samples physical tilt angle relative to true gravity vector.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Embeds mathematically verified tilt degrees (e.g., 23.4° tilt) directly into legal prayer.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Section 7(b) Trigger: Proves imminent structural collapse threat.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i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Gives officers hard physical sensor evidence.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9385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Automated Ward Routing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28600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2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Guesswork for Citizens: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Android Geocoder resolves exact landmark, street name, and postal PIN code.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spatial engine maps GPS coords to PMC 15 Administrative Wards.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Kharadi / Viman Nagar coordinates automatically target Nagar Road - Vadgaon Sheri Ward Office.
</a:t>
            </a:r>
            <a:endParaRPr lang="en-US" sz="92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20" b="1" i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Targets the exact responsible Tree Officer.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Tap "New Grievance" -&gt; Select "Dangerous Leaning Tree" -&gt; Physically tilt phone to show live sensor readout.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• STEP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3-Layer Forensic Evidence Standard &amp; AI Anti-Spam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Screen: CameraX Multi-Angle Guidance &amp; Pre-Submission Quality Gate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7452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AI Anti-Spam Quality Gate &amp; Municipal Quota Protection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140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 inspects photo before submission. Non-tree content (screens, keyboards, desks, selfies) is rejected instantly with a 3-hour cooldown — shielding municipal officers and LLM compute from civic junk.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52928"/>
            <a:ext cx="219456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6350">
            <a:solidFill>
              <a:srgbClr val="D1E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529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(Locus Context)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 Street Perspective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493008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the tree in its overall streetscape: footpath, roadway, adjacent building, and landmark.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Eliminates the #1 municipal dismissal: "Not on municipal land / wrong jurisdiction."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16552" y="269748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2852928"/>
            <a:ext cx="2194560" cy="237744"/>
          </a:xfrm>
          <a:prstGeom prst="roundRect">
            <a:avLst>
              <a:gd name="adj" fmla="val 23077"/>
            </a:avLst>
          </a:prstGeom>
          <a:solidFill>
            <a:srgbClr val="E0F2FE"/>
          </a:solidFill>
          <a:ln w="6350">
            <a:solidFill>
              <a:srgbClr val="D1E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8529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(Structural Frame)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99432" y="3154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Architecture &amp; Lean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9432" y="3493008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Mid-range shot showing trunk-to-crown architecture, lean trajectory relative to vertical reference, and pedestrian strike danger zone.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Establishes structural severity &amp; collapse hazard.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055864" y="269748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2852928"/>
            <a:ext cx="2194560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6350">
            <a:solidFill>
              <a:srgbClr val="D1E7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28529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(Forensic Macro)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38744" y="3154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Microscopic Damage Proof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38744" y="3493008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Close-up macro of exact damage: fresh chainsaw tooth marks, iron nails in cambium bark, root concrete choke, or decay.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Incontrovertible forensic proof for legal prosecution.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the 3-Layer CameraX overlay and take the 3 required photos.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• STEP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Dual-Engine AI + PMC 4.09M Tree Census GIS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Screen: Photo Preview &amp; Dual Triage Options (On-Device Edge vs Cloud)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8FAF8"/>
          </a:solidFill>
          <a:ln w="19050">
            <a:solidFill>
              <a:srgbClr val="D1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Hybrid Edge-to-Cloud AI Architecture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On-Device Edge AI (Flagship Hardware / iQOO 15):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Local Gemma 3n execution via MediaPipe / LiteRT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100% Offline: Zero latency in low-connectivity zones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Edge Privacy: Photos remain on-device; zero cloud API cost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Cloud Multimodal AI (High-Precision Vision):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Google Gemini 3.6 Flash / Qwen 3 Multimodal via OpenRouter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Deep arboricultural morphology, rot assessment &amp; statutory drafting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Deterministic fallback guarantees response within 5 seconds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0F7F2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Government GIS Tree Census Match (4.09M Trees)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30428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Municipal Record Verification: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spatial query against PMC official 4.09 Million Tree Census dataset within 10 meters.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Automatically extracts &amp; binds official municipal data: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Government Census Tree Tag ID (e.g. #140285)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Botanical species (Azadirachta indica / Samanea saman)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Registered trunk girth &amp; historic condition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i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Municipal officers cannot claim the tree is private or unregistered.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Preview Screen -&gt; Point out "On-Device AI" vs "Cloud AI" buttons -&gt; Tap "Cloud AI" to run live analysis.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• STEP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Statutory Matrix &amp; Sealed PDF Notice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Screen: Legal Notice Review, Court-Grade Sealed PDF &amp; Multi-Channel Dispatch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6217920" cy="3886200"/>
          </a:xfrm>
          <a:prstGeom prst="roundRect">
            <a:avLst>
              <a:gd name="adj" fmla="val 1882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Zero-Hallucination Statutory Routing Matrix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5806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Hardcoded statutory citations under Maharashtra Tree Act 1975 &amp; NGT orders:
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Illegal Felling: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21 cognizable offence → Routed to Pune Police (112) + Tree Authority.
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Dangerous Leaning Tree: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7(b) public safety mandate → Routed to PMC Disaster Cell (24h SLA).
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Concretization: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NGT Directives for mandatory 1-meter unpaved green basin → PMC Road Dept.
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Tree Vandalism (Nails/Wires): </a:t>
            </a:r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Court anti-nail orders → PMC Garden Dept (Tree Ambulance).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269480" y="1783080"/>
            <a:ext cx="4114800" cy="3886200"/>
          </a:xfrm>
          <a:prstGeom prst="roundRect">
            <a:avLst>
              <a:gd name="adj" fmla="val 1882"/>
            </a:avLst>
          </a:prstGeom>
          <a:solidFill>
            <a:srgbClr val="F0F7F2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Court-Grade Sealed PDF Notice</a:t>
            </a:r>
            <a:endParaRPr lang="en-US" sz="1100" dirty="0"/>
          </a:p>
        </p:txBody>
      </p:sp>
      <p:pic>
        <p:nvPicPr>
          <p:cNvPr id="12" name="Image 0" descr="C:\Repos\automated-tree-complaint\presentation\assets\sealed_pdf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68" y="2240280"/>
            <a:ext cx="2240280" cy="31546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the generated statutory draft on phone -&gt; Tap to preview the court-grade sealed PDF notice.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• STEP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Zero-Trust Ground Re-Audit &amp; Escalation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Screen: Reverification Screen, Timelock Status &amp; One-Tap Escalation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8FAF8"/>
          </a:solidFill>
          <a:ln w="19050">
            <a:solidFill>
              <a:srgbClr val="D1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Ending "Closed on Paper" Resolutions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Civic Flaw Solved: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Municipal contractors routinely close tickets without touching a shovel.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Zero-Trust Re-Audit Architecture: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Statutory Timelock: Starts 24h, 48h, or 72h countdown based on statutory urgency.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Mandatory Ground Re-Photography: Ticket cannot be closed without citizen after-action photos.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Vision AI Re-Audit: Compares before-and-after photos to verify whether the concrete was excavated or if the tree was illegally chopped.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One-Tap Commissioner Escalation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30428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 Municipal Accountability: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the statutory timelock expires without ground remediation: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App unlocks the RED Escalation Action.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Dispatched Directly To: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Municipal Commissioner, PMC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Additional Municipal Commissioner (Gardens)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Superintendent of Gardens &amp; Tree Officer
</a:t>
            </a:r>
            <a:endParaRPr lang="en-US" sz="9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b="1" i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💥 Cites administrative dereliction of statutory duty under Section 7 of Maharashtra Tree Act.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Reverification Screen on phone -&gt; Highlight active timelock countdown and the Red Escalation button.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Civic Impact for Pune 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Pune Tree Rakshak Wins the Open Innovation Track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Flagship Mobile 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Kotlin + Jetpack Compose with CameraX and on-device MediaPipe/LiteRT inference — optimized for iQOO 15 hardware.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100% Statutorily Grounded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219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legal matrix encoding the Maharashtra Tree Act 1975, NGT 1m breathing basin mandates, and High Court orders.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75888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4.09M Tree Census GIS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977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spatial correlation against PMC 4.09M tree dataset, connecting citizen photos to official municipal tree IDs.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538728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8FAF8"/>
          </a:solidFill>
          <a:ln w="12700">
            <a:solidFill>
              <a:srgbClr val="D1E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675888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Zero-Trust Re-Audit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977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Guarantees physical follow-through. Ends ghost ticket closures via timelocks, AI re-audit vision, and direct Commissioner escalation.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5376672"/>
            <a:ext cx="1060704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76672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Production-grade &amp; ready for immediate ward rollout across all 15 PMC Administrative Wards in Pune.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870448"/>
            <a:ext cx="1060704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LIVE DEMO: Show Home Screen with completed audit trail. Conclude with vision for Pune’s green canopy.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• Pune City Battle | Pune Tree Rakshak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555480" y="6327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Pune Tree Rakshak - iQOO Hackathon 2026 Final Pitch</dc:title>
  <dc:subject>PptxGenJS Presentation</dc:subject>
  <dc:creator>Pune Tree Rakshak Team</dc:creator>
  <cp:lastModifiedBy>Pune Tree Rakshak Team</cp:lastModifiedBy>
  <cp:revision>1</cp:revision>
  <dcterms:created xsi:type="dcterms:W3CDTF">2026-09-06T08:48:42Z</dcterms:created>
  <dcterms:modified xsi:type="dcterms:W3CDTF">2026-09-06T08:48:42Z</dcterms:modified>
</cp:coreProperties>
</file>