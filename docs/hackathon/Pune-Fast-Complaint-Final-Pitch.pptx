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108a24c78d4c8c" /><Relationship Type="http://schemas.openxmlformats.org/officeDocument/2006/relationships/extended-properties" Target="/docProps/app.xml" Id="Rbdf2f89cb78f4dc5" /><Relationship Type="http://schemas.openxmlformats.org/officeDocument/2006/relationships/officeDocument" Target="/ppt/presentation.xml" Id="R77a80a9b811b4e77" /></Relationships>
</file>

<file path=ppt/presentation.xml><?xml version="1.0" encoding="utf-8"?>
<p:presentation xmlns:p="http://schemas.openxmlformats.org/presentationml/2006/main">
  <p:sldMasterIdLst>
    <p:sldMasterId xmlns:r="http://schemas.openxmlformats.org/officeDocument/2006/relationships" id="2147483648" r:id="Rbbeeca2b00c045b3"/>
  </p:sldMasterIdLst>
  <p:notesMasterIdLst>
    <p:notesMasterId xmlns:r="http://schemas.openxmlformats.org/officeDocument/2006/relationships" r:id="R3da278e8cb144458"/>
  </p:notesMasterIdLst>
  <p:sldIdLst>
    <p:sldId xmlns:r="http://schemas.openxmlformats.org/officeDocument/2006/relationships" id="256" r:id="R7f5a88f4adbd4209"/>
    <p:sldId xmlns:r="http://schemas.openxmlformats.org/officeDocument/2006/relationships" id="257" r:id="R54c6ac67109c430c"/>
    <p:sldId xmlns:r="http://schemas.openxmlformats.org/officeDocument/2006/relationships" id="258" r:id="R1816dcddaadd4bc9"/>
    <p:sldId xmlns:r="http://schemas.openxmlformats.org/officeDocument/2006/relationships" id="259" r:id="Red70a07f920147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f81a887b894356" /><Relationship Type="http://schemas.openxmlformats.org/officeDocument/2006/relationships/slideMaster" Target="/ppt/slideMasters/slideMaster1.xml" Id="Rbbeeca2b00c045b3" /><Relationship Type="http://schemas.openxmlformats.org/officeDocument/2006/relationships/notesMaster" Target="/ppt/notesMasters/notesMaster1.xml" Id="R3da278e8cb144458" /><Relationship Type="http://schemas.openxmlformats.org/officeDocument/2006/relationships/presProps" Target="/ppt/presProps.xml" Id="Rbbbd23ec219d4b9d" /><Relationship Type="http://schemas.openxmlformats.org/officeDocument/2006/relationships/tableStyles" Target="/ppt/tableStyles.xml" Id="Rd22b2de12e5648aa" /><Relationship Type="http://schemas.openxmlformats.org/officeDocument/2006/relationships/slide" Target="/ppt/slides/slide1.xml" Id="R7f5a88f4adbd4209" /><Relationship Type="http://schemas.openxmlformats.org/officeDocument/2006/relationships/slide" Target="/ppt/slides/slide2.xml" Id="R54c6ac67109c430c" /><Relationship Type="http://schemas.openxmlformats.org/officeDocument/2006/relationships/slide" Target="/ppt/slides/slide3.xml" Id="R1816dcddaadd4bc9" /><Relationship Type="http://schemas.openxmlformats.org/officeDocument/2006/relationships/slide" Target="/ppt/slides/slide4.xml" Id="Red70a07f920147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96b010789f40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480ff50805490b" /><Relationship Type="http://schemas.openxmlformats.org/officeDocument/2006/relationships/notesMaster" Target="/ppt/notesMasters/notesMaster1.xml" Id="R035db4f9c8054a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e478268f5a4765" /><Relationship Type="http://schemas.openxmlformats.org/officeDocument/2006/relationships/notesMaster" Target="/ppt/notesMasters/notesMaster1.xml" Id="Rf37b11e0afcf4f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d9038c41b94523" /><Relationship Type="http://schemas.openxmlformats.org/officeDocument/2006/relationships/notesMaster" Target="/ppt/notesMasters/notesMaster1.xml" Id="R3ff8c541625b47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afc8ebc9c34bb9" /><Relationship Type="http://schemas.openxmlformats.org/officeDocument/2006/relationships/notesMaster" Target="/ppt/notesMasters/notesMaster1.xml" Id="R88488514533146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0:00–0:25 (25 seconds).</a:t>
            </a:r>
          </a:p>
          <a:p xmlns:a="http://schemas.openxmlformats.org/drawingml/2006/main">
            <a:r>
              <a:t/>
            </a:r>
          </a:p>
          <a:p xmlns:a="http://schemas.openxmlformats.org/drawingml/2006/main">
            <a:r>
              <a:t>SCRIPT:</a:t>
            </a:r>
          </a:p>
          <a:p xmlns:a="http://schemas.openxmlformats.org/drawingml/2006/main">
            <a:r>
              <a:t>Citizens notice civic problems every day. But reporting takes effort, and when nothing changes, they often lack a clear evidence record to support escalation. Pune Fast Complaint connects quick reporting with evidence collection and public accountability.</a:t>
            </a:r>
          </a:p>
          <a:p xmlns:a="http://schemas.openxmlformats.org/drawingml/2006/main">
            <a:r>
              <a:t/>
            </a:r>
          </a:p>
          <a:p xmlns:a="http://schemas.openxmlformats.org/drawingml/2006/main">
            <a:r>
              <a:t>SOURCE: Problem framing and brand supplied by the project team. Logo: mobile/assets/images/civic-logo.png. No adoption or measured speed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0:25–1:00 (35 seconds).</a:t>
            </a:r>
          </a:p>
          <a:p xmlns:a="http://schemas.openxmlformats.org/drawingml/2006/main">
            <a:r>
              <a:t/>
            </a:r>
          </a:p>
          <a:p xmlns:a="http://schemas.openxmlformats.org/drawingml/2006/main">
            <a:r>
              <a:t>SCRIPT:</a:t>
            </a:r>
          </a:p>
          <a:p xmlns:a="http://schemas.openxmlformats.org/drawingml/2006/main">
            <a:r>
              <a:t>Our platform has three pillars. Fast filing gets a concern reported with less effort. Evidence gives it substance: photographs, recordings, location and time help build a record that can support escalation and potential court proceedings. Public visibility supports follow-up and accountability. Let me show you how these work together.</a:t>
            </a:r>
          </a:p>
          <a:p xmlns:a="http://schemas.openxmlformats.org/drawingml/2006/main">
            <a:r>
              <a:t/>
            </a:r>
          </a:p>
          <a:p xmlns:a="http://schemas.openxmlformats.org/drawingml/2006/main">
            <a:r>
              <a:t>AT EXACTLY 1:00: SWITCH TO THE APP. No slides during the demo. Stay in the app until 3:30.</a:t>
            </a:r>
          </a:p>
          <a:p xmlns:a="http://schemas.openxmlformats.org/drawingml/2006/main">
            <a:r>
              <a:t/>
            </a:r>
          </a:p>
          <a:p xmlns:a="http://schemas.openxmlformats.org/drawingml/2006/main">
            <a:r>
              <a:t>DEMO, 1:00–3:30:</a:t>
            </a:r>
          </a:p>
          <a:p xmlns:a="http://schemas.openxmlformats.org/drawingml/2006/main">
            <a:r>
              <a:t>First 30 seconds: show Roads categories (potholes, open manholes/drains, blocked footpaths), Garbage categories (waste dumps, waste burning), and Noise categories (loudspeaker/DJ systems, night-time disturbance).</a:t>
            </a:r>
          </a:p>
          <a:p xmlns:a="http://schemas.openxmlformats.org/drawingml/2006/main">
            <a:r>
              <a:t>Remaining 2 minutes: complete Trees flow. Select concern. Upload prepared overall and close-up photos. Show AI observations. Confirm an additional issue only if detected. Review/edit the draft. Open email or WhatsApp. Return to the public map focused on the saved complaint.</a:t>
            </a:r>
          </a:p>
          <a:p xmlns:a="http://schemas.openxmlformats.org/drawingml/2006/main">
            <a:r>
              <a:t>Opening a composer does not prove sending, delivery or official receipt. Keep a previously generated draft available if provider response delays the demo.</a:t>
            </a:r>
          </a:p>
          <a:p xmlns:a="http://schemas.openxmlformats.org/drawingml/2006/main">
            <a:r>
              <a:t>At 3:30 return to slide 3.</a:t>
            </a:r>
          </a:p>
          <a:p xmlns:a="http://schemas.openxmlformats.org/drawingml/2006/main">
            <a:r>
              <a:t/>
            </a:r>
          </a:p>
          <a:p xmlns:a="http://schemas.openxmlformats.org/drawingml/2006/main">
            <a:r>
              <a:t>SOURCES: mobile/src/data/civic.ts, complaint screens, server/src/lib/ai.ts, and MapComponent.tsx. Under 60 seconds is a design target, not a measured benchmark. Court admissibility is not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3:30–4:00 (30 seconds), immediately after the app demo.</a:t>
            </a:r>
          </a:p>
          <a:p xmlns:a="http://schemas.openxmlformats.org/drawingml/2006/main">
            <a:r>
              <a:t/>
            </a:r>
          </a:p>
          <a:p xmlns:a="http://schemas.openxmlformats.org/drawingml/2006/main">
            <a:r>
              <a:t>SCRIPT:</a:t>
            </a:r>
          </a:p>
          <a:p xmlns:a="http://schemas.openxmlformats.org/drawingml/2006/main">
            <a:r>
              <a:t>There is a second problem: civic organisations may know an issue persists, but lack organised evidence to support a case in court. Citizen photographs, complaint records and follow-up evidence can help substantiate those concerns. With legal review, groups can use supporting records in proceedings to seek action and hold authorities accountable. Court acceptance still depends on evidentiary requirements.</a:t>
            </a:r>
          </a:p>
          <a:p xmlns:a="http://schemas.openxmlformats.org/drawingml/2006/main">
            <a:r>
              <a:t/>
            </a:r>
          </a:p>
          <a:p xmlns:a="http://schemas.openxmlformats.org/drawingml/2006/main">
            <a:r>
              <a:t>SOURCE: Problem statement and civic organisation use case supplied by the project team. The app collects evidence and complaint records. This slide describes how civic groups could use those records, not an implemented legal case-management or organisation-access feature. No guaranteed admissibility, court outcome, legal liability or certified chain of custody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4:00–4:40 for future scope, 4:40–5:00 for closing.</a:t>
            </a:r>
          </a:p>
          <a:p xmlns:a="http://schemas.openxmlformats.org/drawingml/2006/main">
            <a:r>
              <a:t/>
            </a:r>
          </a:p>
          <a:p xmlns:a="http://schemas.openxmlformats.org/drawingml/2006/main">
            <a:r>
              <a:t>FUTURE SCOPE SCRIPT:</a:t>
            </a:r>
          </a:p>
          <a:p xmlns:a="http://schemas.openxmlformats.org/drawingml/2006/main">
            <a:r>
              <a:t>Today, follow-up still depends on the citizen. Our next step is optional email access that matches replies to complaints and suggests status updates. With consented and labelled data, we want specialised models that better recognise local civic issues. Analytics can reveal recurring hotspots and resolution patterns. Verified ward officer information on the map can make responsibility clearer.</a:t>
            </a:r>
          </a:p>
          <a:p xmlns:a="http://schemas.openxmlformats.org/drawingml/2006/main">
            <a:r>
              <a:t/>
            </a:r>
          </a:p>
          <a:p xmlns:a="http://schemas.openxmlformats.org/drawingml/2006/main">
            <a:r>
              <a:t>CLOSING SCRIPT:</a:t>
            </a:r>
          </a:p>
          <a:p xmlns:a="http://schemas.openxmlformats.org/drawingml/2006/main">
            <a:r>
              <a:t>Our goal is to make reporting fast, evidence useful and accountability visible. Pune Fast Complaint gives citizens a practical way to turn a local concern into a documented request for action. Thank you.</a:t>
            </a:r>
          </a:p>
          <a:p xmlns:a="http://schemas.openxmlformats.org/drawingml/2006/main">
            <a:r>
              <a:t/>
            </a:r>
          </a:p>
          <a:p xmlns:a="http://schemas.openxmlformats.org/drawingml/2006/main">
            <a:r>
              <a:t>SOURCE: Roadmap proposed by the project team. All four items are future scope. These are not claims of existing email integration, custom model training, advanced analytics or verified ward officer mapping. Training would require consent, privacy protections and reliable labels. Performance improvement is an objective, not a demonstrated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caa2fd305449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3429955a0347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1e8898c8bc49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a03069396347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af66517b7a4b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717475fff24b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DB5F6F-EE4E-4582-B059-B9F9AA5D371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13E8B5-7FA7-453B-B468-2B6542EE600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F42CB3-D3DD-46AD-A8BC-6BD203FAB3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860C49-917F-4DA1-AF60-0BC1DCF24C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3EA38C1-1E4E-420D-9351-573AAF0110C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30AB516-AD67-4B84-B758-D98F384AC2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D93413-1CE8-4C8E-A4D6-7262C2D087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EA8D4C-47A2-4820-B5E7-9957814E20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95753B-01ED-4871-9ED3-3D30C1BC49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E63065-8752-4757-B198-06C011D937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54d953a5534f84" /><Relationship Type="http://schemas.openxmlformats.org/officeDocument/2006/relationships/slideLayout" Target="/ppt/slideLayouts/slideLayout1.xml" Id="R01e90702db1f47e0" /><Relationship Type="http://schemas.openxmlformats.org/officeDocument/2006/relationships/slideLayout" Target="/ppt/slideLayouts/slideLayout2.xml" Id="R79579a83901848d6" /><Relationship Type="http://schemas.openxmlformats.org/officeDocument/2006/relationships/slideLayout" Target="/ppt/slideLayouts/slideLayout3.xml" Id="Rca3c72f46c624089" /><Relationship Type="http://schemas.openxmlformats.org/officeDocument/2006/relationships/slideLayout" Target="/ppt/slideLayouts/slideLayout4.xml" Id="R98d21ec82bd44927" /><Relationship Type="http://schemas.openxmlformats.org/officeDocument/2006/relationships/slideLayout" Target="/ppt/slideLayouts/slideLayout5.xml" Id="Rae65e3c5cfd84e43" /><Relationship Type="http://schemas.openxmlformats.org/officeDocument/2006/relationships/slideLayout" Target="/ppt/slideLayouts/slideLayout6.xml" Id="Rbbce5d175e2c4a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e90702db1f47e0"/>
    <p:sldLayoutId xmlns:r="http://schemas.openxmlformats.org/officeDocument/2006/relationships" id="2147483650" r:id="R79579a83901848d6"/>
    <p:sldLayoutId xmlns:r="http://schemas.openxmlformats.org/officeDocument/2006/relationships" id="2147483651" r:id="Rca3c72f46c624089"/>
    <p:sldLayoutId xmlns:r="http://schemas.openxmlformats.org/officeDocument/2006/relationships" id="2147483652" r:id="R98d21ec82bd44927"/>
    <p:sldLayoutId xmlns:r="http://schemas.openxmlformats.org/officeDocument/2006/relationships" id="2147483653" r:id="Rae65e3c5cfd84e43"/>
    <p:sldLayoutId xmlns:r="http://schemas.openxmlformats.org/officeDocument/2006/relationships" id="2147483654" r:id="Rbbce5d175e2c4a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c27951fd914604" /><Relationship Type="http://schemas.openxmlformats.org/officeDocument/2006/relationships/image" Target="/ppt/media/image.png" Id="R66ef06f197b444bb" /><Relationship Type="http://schemas.openxmlformats.org/officeDocument/2006/relationships/notesSlide" Target="/ppt/notesSlides/notesSlide1.xml" Id="R2a5e72bddcaa40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d28d624fdd4158" /><Relationship Type="http://schemas.openxmlformats.org/officeDocument/2006/relationships/notesSlide" Target="/ppt/notesSlides/notesSlide2.xml" Id="R77142e08fbf44b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88230592bd4876" /><Relationship Type="http://schemas.openxmlformats.org/officeDocument/2006/relationships/notesSlide" Target="/ppt/notesSlides/notesSlide3.xml" Id="Rf4d02f1d113945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583a7e3b224ddf" /><Relationship Type="http://schemas.openxmlformats.org/officeDocument/2006/relationships/notesSlide" Target="/ppt/notesSlides/notesSlide4.xml" Id="R1d9f4178567741c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0546FE6E-9F5D-4CE3-94A6-4822C8F8A99A}"/>
              </a:ext>
            </a:extLst>
          </p:cNvPr>
          <p:cNvSpPr>
            <a:spLocks xmlns:a="http://schemas.openxmlformats.org/drawingml/2006/main" noGrp="1"/>
          </p:cNvSpPr>
          <p:nvPr/>
        </p:nvSpPr>
        <p:spPr>
          <a:xfrm xmlns:a="http://schemas.openxmlformats.org/drawingml/2006/main">
            <a:off x="609600" y="419100"/>
            <a:ext cx="885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84B"/>
                </a:solidFill>
                <a:latin typeface="Arial"/>
                <a:ea typeface="Arial"/>
                <a:cs typeface="Arial"/>
              </a:defRPr>
            </a:defPPr>
          </a:lstStyle>
          <a:p xmlns:a="http://schemas.openxmlformats.org/drawingml/2006/main">
            <a:pPr algn="l">
              <a:defRPr sz="1275" b="1">
                <a:solidFill>
                  <a:srgbClr val="29784B"/>
                </a:solidFill>
                <a:latin typeface="Arial"/>
                <a:ea typeface="Arial"/>
                <a:cs typeface="Arial"/>
              </a:defRPr>
            </a:pPr>
            <a:r>
              <a:rPr sz="1275" b="1">
                <a:solidFill>
                  <a:srgbClr val="29784B"/>
                </a:solidFill>
                <a:latin typeface="Arial"/>
                <a:ea typeface="Arial"/>
                <a:cs typeface="Arial"/>
              </a:rPr>
              <a:t>CITIZEN EMPOWERMENT &amp; ACCOUNTABILITY</a:t>
            </a:r>
          </a:p>
        </p:txBody>
      </p:sp>
      <p:sp>
        <p:nvSpPr>
          <p:cNvPr id="2" name="text-2">
            <a:extLst xmlns:a="http://schemas.openxmlformats.org/drawingml/2006/main">
              <a:ext uri="{FF2B5EF4-FFF2-40B4-BE49-F238E27FC236}">
                <a16:creationId xmlns:a16="http://schemas.microsoft.com/office/drawing/2014/main" id="{1EA56ABB-50C1-442F-BC1C-6A2DF195531B}"/>
              </a:ext>
            </a:extLst>
          </p:cNvPr>
          <p:cNvSpPr>
            <a:spLocks xmlns:a="http://schemas.openxmlformats.org/drawingml/2006/main" noGrp="1"/>
          </p:cNvSpPr>
          <p:nvPr/>
        </p:nvSpPr>
        <p:spPr>
          <a:xfrm xmlns:a="http://schemas.openxmlformats.org/drawingml/2006/main">
            <a:off x="609600" y="1323975"/>
            <a:ext cx="76200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83C2F"/>
                </a:solidFill>
                <a:latin typeface="Arial"/>
                <a:ea typeface="Arial"/>
                <a:cs typeface="Arial"/>
              </a:defRPr>
            </a:defPPr>
          </a:lstStyle>
          <a:p xmlns:a="http://schemas.openxmlformats.org/drawingml/2006/main">
            <a:pPr algn="l">
              <a:defRPr sz="5700" b="1">
                <a:solidFill>
                  <a:srgbClr val="183C2F"/>
                </a:solidFill>
                <a:latin typeface="Arial"/>
                <a:ea typeface="Arial"/>
                <a:cs typeface="Arial"/>
              </a:defRPr>
            </a:pPr>
            <a:r>
              <a:rPr sz="5700" b="1">
                <a:solidFill>
                  <a:srgbClr val="183C2F"/>
                </a:solidFill>
                <a:latin typeface="Arial"/>
                <a:ea typeface="Arial"/>
                <a:cs typeface="Arial"/>
              </a:rPr>
              <a:t>Pune Fast</a:t>
            </a:r>
          </a:p>
          <a:p xmlns:a="http://schemas.openxmlformats.org/drawingml/2006/main">
            <a:pPr algn="l">
              <a:defRPr sz="5700" b="1">
                <a:solidFill>
                  <a:srgbClr val="183C2F"/>
                </a:solidFill>
                <a:latin typeface="Arial"/>
                <a:ea typeface="Arial"/>
                <a:cs typeface="Arial"/>
              </a:defRPr>
            </a:pPr>
            <a:r>
              <a:rPr sz="5700" b="1">
                <a:solidFill>
                  <a:srgbClr val="183C2F"/>
                </a:solidFill>
                <a:latin typeface="Arial"/>
                <a:ea typeface="Arial"/>
                <a:cs typeface="Arial"/>
              </a:rPr>
              <a:t>Complaint</a:t>
            </a:r>
          </a:p>
        </p:txBody>
      </p:sp>
      <p:sp>
        <p:nvSpPr>
          <p:cNvPr id="3" name="text-3">
            <a:extLst xmlns:a="http://schemas.openxmlformats.org/drawingml/2006/main">
              <a:ext uri="{FF2B5EF4-FFF2-40B4-BE49-F238E27FC236}">
                <a16:creationId xmlns:a16="http://schemas.microsoft.com/office/drawing/2014/main" id="{BD0E56D8-CBD0-4CAD-9643-457EC828292A}"/>
              </a:ext>
            </a:extLst>
          </p:cNvPr>
          <p:cNvSpPr>
            <a:spLocks xmlns:a="http://schemas.openxmlformats.org/drawingml/2006/main" noGrp="1"/>
          </p:cNvSpPr>
          <p:nvPr/>
        </p:nvSpPr>
        <p:spPr>
          <a:xfrm xmlns:a="http://schemas.openxmlformats.org/drawingml/2006/main">
            <a:off x="638175" y="3476625"/>
            <a:ext cx="8382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9784B"/>
                </a:solidFill>
                <a:latin typeface="Arial"/>
                <a:ea typeface="Arial"/>
                <a:cs typeface="Arial"/>
              </a:defRPr>
            </a:defPPr>
          </a:lstStyle>
          <a:p xmlns:a="http://schemas.openxmlformats.org/drawingml/2006/main">
            <a:pPr algn="l">
              <a:defRPr sz="2700" b="1">
                <a:solidFill>
                  <a:srgbClr val="29784B"/>
                </a:solidFill>
                <a:latin typeface="Arial"/>
                <a:ea typeface="Arial"/>
                <a:cs typeface="Arial"/>
              </a:defRPr>
            </a:pPr>
            <a:r>
              <a:rPr sz="2700" b="1">
                <a:solidFill>
                  <a:srgbClr val="29784B"/>
                </a:solidFill>
                <a:latin typeface="Arial"/>
                <a:ea typeface="Arial"/>
                <a:cs typeface="Arial"/>
              </a:rPr>
              <a:t>Fast filing. Clear evidence.</a:t>
            </a:r>
          </a:p>
          <a:p xmlns:a="http://schemas.openxmlformats.org/drawingml/2006/main">
            <a:pPr algn="l">
              <a:defRPr sz="2700" b="1">
                <a:solidFill>
                  <a:srgbClr val="29784B"/>
                </a:solidFill>
                <a:latin typeface="Arial"/>
                <a:ea typeface="Arial"/>
                <a:cs typeface="Arial"/>
              </a:defRPr>
            </a:pPr>
            <a:r>
              <a:rPr sz="2700" b="1">
                <a:solidFill>
                  <a:srgbClr val="29784B"/>
                </a:solidFill>
                <a:latin typeface="Arial"/>
                <a:ea typeface="Arial"/>
                <a:cs typeface="Arial"/>
              </a:rPr>
              <a:t>Public accountability.</a:t>
            </a:r>
          </a:p>
        </p:txBody>
      </p:sp>
      <p:sp>
        <p:nvSpPr>
          <p:cNvPr id="4" name="text-4">
            <a:extLst xmlns:a="http://schemas.openxmlformats.org/drawingml/2006/main">
              <a:ext uri="{FF2B5EF4-FFF2-40B4-BE49-F238E27FC236}">
                <a16:creationId xmlns:a16="http://schemas.microsoft.com/office/drawing/2014/main" id="{9FC5FFA3-7886-4298-8672-9933FC339872}"/>
              </a:ext>
            </a:extLst>
          </p:cNvPr>
          <p:cNvSpPr>
            <a:spLocks xmlns:a="http://schemas.openxmlformats.org/drawingml/2006/main" noGrp="1"/>
          </p:cNvSpPr>
          <p:nvPr/>
        </p:nvSpPr>
        <p:spPr>
          <a:xfrm xmlns:a="http://schemas.openxmlformats.org/drawingml/2006/main">
            <a:off x="638175" y="49911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4655C"/>
                </a:solidFill>
                <a:latin typeface="Arial"/>
                <a:ea typeface="Arial"/>
                <a:cs typeface="Arial"/>
              </a:defRPr>
            </a:defPPr>
          </a:lstStyle>
          <a:p xmlns:a="http://schemas.openxmlformats.org/drawingml/2006/main">
            <a:pPr algn="l">
              <a:defRPr sz="2025" b="0">
                <a:solidFill>
                  <a:srgbClr val="54655C"/>
                </a:solidFill>
                <a:latin typeface="Arial"/>
                <a:ea typeface="Arial"/>
                <a:cs typeface="Arial"/>
              </a:defRPr>
            </a:pPr>
            <a:r>
              <a:rPr sz="2025" b="0">
                <a:solidFill>
                  <a:srgbClr val="54655C"/>
                </a:solidFill>
                <a:latin typeface="Arial"/>
                <a:ea typeface="Arial"/>
                <a:cs typeface="Arial"/>
              </a:rPr>
              <a:t>Civic problems are easy to notice.</a:t>
            </a:r>
          </a:p>
          <a:p xmlns:a="http://schemas.openxmlformats.org/drawingml/2006/main">
            <a:pPr algn="l">
              <a:defRPr sz="2025" b="0">
                <a:solidFill>
                  <a:srgbClr val="54655C"/>
                </a:solidFill>
                <a:latin typeface="Arial"/>
                <a:ea typeface="Arial"/>
                <a:cs typeface="Arial"/>
              </a:defRPr>
            </a:pPr>
            <a:r>
              <a:rPr sz="2025" b="0">
                <a:solidFill>
                  <a:srgbClr val="54655C"/>
                </a:solidFill>
                <a:latin typeface="Arial"/>
                <a:ea typeface="Arial"/>
                <a:cs typeface="Arial"/>
              </a:rPr>
              <a:t>Reporting and pursuing action take much more effort.</a:t>
            </a:r>
          </a:p>
        </p:txBody>
      </p:sp>
      <p:pic>
        <p:nvPicPr>
          <p:cNvPr id="5" name="">
            <a:extLst xmlns:a="http://schemas.openxmlformats.org/drawingml/2006/main">
              <a:ext uri="{FF2B5EF4-FFF2-40B4-BE49-F238E27FC236}">
                <a16:creationId xmlns:a16="http://schemas.microsoft.com/office/drawing/2014/main" id="{596E4544-E7B2-4635-8A86-C2B57A6936E6}"/>
              </a:ext>
            </a:extLst>
          </p:cNvPr>
          <p:cNvPicPr>
            <a:picLocks xmlns:a="http://schemas.openxmlformats.org/drawingml/2006/main" noChangeAspect="1"/>
          </p:cNvPicPr>
          <p:nvPr/>
        </p:nvPicPr>
        <p:blipFill>
          <a:blip xmlns:r="http://schemas.openxmlformats.org/officeDocument/2006/relationships" xmlns:a="http://schemas.openxmlformats.org/drawingml/2006/main" r:embed="R66ef06f197b444bb"/>
          <a:stretch xmlns:a="http://schemas.openxmlformats.org/drawingml/2006/main"/>
        </p:blipFill>
        <p:spPr>
          <a:xfrm xmlns:a="http://schemas.openxmlformats.org/drawingml/2006/main">
            <a:off x="8743950" y="1285875"/>
            <a:ext cx="2714625" cy="2714625"/>
          </a:xfrm>
          <a:prstGeom xmlns:a="http://schemas.openxmlformats.org/drawingml/2006/main" prst="rect">
            <a:avLst/>
          </a:prstGeom>
        </p:spPr>
      </p:pic>
      <p:sp>
        <p:nvSpPr>
          <p:cNvPr id="6" name="frame-5">
            <a:extLst xmlns:a="http://schemas.openxmlformats.org/drawingml/2006/main">
              <a:ext uri="{FF2B5EF4-FFF2-40B4-BE49-F238E27FC236}">
                <a16:creationId xmlns:a16="http://schemas.microsoft.com/office/drawing/2014/main" id="{FCD898E9-640F-4EC1-A74A-754AB8E6F9F1}"/>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7" name="text-6">
            <a:extLst xmlns:a="http://schemas.openxmlformats.org/drawingml/2006/main">
              <a:ext uri="{FF2B5EF4-FFF2-40B4-BE49-F238E27FC236}">
                <a16:creationId xmlns:a16="http://schemas.microsoft.com/office/drawing/2014/main" id="{696B290D-948A-4FD4-BC7A-1C2422DDB1A0}"/>
              </a:ext>
            </a:extLst>
          </p:cNvPr>
          <p:cNvSpPr>
            <a:spLocks xmlns:a="http://schemas.openxmlformats.org/drawingml/2006/main" noGrp="1"/>
          </p:cNvSpPr>
          <p:nvPr/>
        </p:nvSpPr>
        <p:spPr>
          <a:xfrm xmlns:a="http://schemas.openxmlformats.org/drawingml/2006/main">
            <a:off x="609600" y="64960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8" name="text-7">
            <a:extLst xmlns:a="http://schemas.openxmlformats.org/drawingml/2006/main">
              <a:ext uri="{FF2B5EF4-FFF2-40B4-BE49-F238E27FC236}">
                <a16:creationId xmlns:a16="http://schemas.microsoft.com/office/drawing/2014/main" id="{BF144E06-F82D-40F6-9C99-FBF22B86DCF0}"/>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01</a:t>
            </a:r>
          </a:p>
        </p:txBody>
      </p:sp>
    </p:spTree>
    <p:extLst>
      <p:ext uri="{BB962C8B-B14F-4D97-AF65-F5344CB8AC3E}">
        <p14:creationId xmlns:p14="http://schemas.microsoft.com/office/powerpoint/2010/main" val="1615131332"/>
      </p:ext>
    </p:extLst>
  </p:cSld>
</p:sld>
</file>

<file path=ppt/slides/slide2.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9" name="text-8">
            <a:extLst xmlns:a="http://schemas.openxmlformats.org/drawingml/2006/main">
              <a:ext uri="{FF2B5EF4-FFF2-40B4-BE49-F238E27FC236}">
                <a16:creationId xmlns:a16="http://schemas.microsoft.com/office/drawing/2014/main" id="{5ABDE5AB-FC33-48C5-AF15-20FED71806E9}"/>
              </a:ext>
            </a:extLst>
          </p:cNvPr>
          <p:cNvSpPr>
            <a:spLocks xmlns:a="http://schemas.openxmlformats.org/drawingml/2006/main" noGrp="1"/>
          </p:cNvSpPr>
          <p:nvPr/>
        </p:nvSpPr>
        <p:spPr>
          <a:xfrm xmlns:a="http://schemas.openxmlformats.org/drawingml/2006/main">
            <a:off x="609600" y="323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THE SOLUTION</a:t>
            </a:r>
          </a:p>
        </p:txBody>
      </p:sp>
      <p:sp>
        <p:nvSpPr>
          <p:cNvPr id="2" name="text-9">
            <a:extLst xmlns:a="http://schemas.openxmlformats.org/drawingml/2006/main">
              <a:ext uri="{FF2B5EF4-FFF2-40B4-BE49-F238E27FC236}">
                <a16:creationId xmlns:a16="http://schemas.microsoft.com/office/drawing/2014/main" id="{A9394D7A-97E6-42D0-9E5C-BBBE4A9F91C1}"/>
              </a:ext>
            </a:extLst>
          </p:cNvPr>
          <p:cNvSpPr>
            <a:spLocks xmlns:a="http://schemas.openxmlformats.org/drawingml/2006/main" noGrp="1"/>
          </p:cNvSpPr>
          <p:nvPr/>
        </p:nvSpPr>
        <p:spPr>
          <a:xfrm xmlns:a="http://schemas.openxmlformats.org/drawingml/2006/main">
            <a:off x="609600" y="819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83C2F"/>
                </a:solidFill>
                <a:latin typeface="Arial"/>
                <a:ea typeface="Arial"/>
                <a:cs typeface="Arial"/>
              </a:defRPr>
            </a:defPPr>
          </a:lstStyle>
          <a:p xmlns:a="http://schemas.openxmlformats.org/drawingml/2006/main">
            <a:pPr algn="l">
              <a:defRPr sz="3450" b="1">
                <a:solidFill>
                  <a:srgbClr val="183C2F"/>
                </a:solidFill>
                <a:latin typeface="Arial"/>
                <a:ea typeface="Arial"/>
                <a:cs typeface="Arial"/>
              </a:defRPr>
            </a:pPr>
            <a:r>
              <a:rPr sz="3450" b="1">
                <a:solidFill>
                  <a:srgbClr val="183C2F"/>
                </a:solidFill>
                <a:latin typeface="Arial"/>
                <a:ea typeface="Arial"/>
                <a:cs typeface="Arial"/>
              </a:rPr>
              <a:t>Three pillars of citizen accountability</a:t>
            </a:r>
          </a:p>
        </p:txBody>
      </p:sp>
      <p:sp>
        <p:nvSpPr>
          <p:cNvPr id="3" name="frame-10">
            <a:extLst xmlns:a="http://schemas.openxmlformats.org/drawingml/2006/main">
              <a:ext uri="{FF2B5EF4-FFF2-40B4-BE49-F238E27FC236}">
                <a16:creationId xmlns:a16="http://schemas.microsoft.com/office/drawing/2014/main" id="{984D17BB-2DD0-4F60-91E8-3C1737E23C4F}"/>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11">
            <a:extLst xmlns:a="http://schemas.openxmlformats.org/drawingml/2006/main">
              <a:ext uri="{FF2B5EF4-FFF2-40B4-BE49-F238E27FC236}">
                <a16:creationId xmlns:a16="http://schemas.microsoft.com/office/drawing/2014/main" id="{9B14192D-4745-4C08-B680-65E2C533BA96}"/>
              </a:ext>
            </a:extLst>
          </p:cNvPr>
          <p:cNvSpPr>
            <a:spLocks xmlns:a="http://schemas.openxmlformats.org/drawingml/2006/main" noGrp="1"/>
          </p:cNvSpPr>
          <p:nvPr/>
        </p:nvSpPr>
        <p:spPr>
          <a:xfrm xmlns:a="http://schemas.openxmlformats.org/drawingml/2006/main">
            <a:off x="609600" y="64960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12">
            <a:extLst xmlns:a="http://schemas.openxmlformats.org/drawingml/2006/main">
              <a:ext uri="{FF2B5EF4-FFF2-40B4-BE49-F238E27FC236}">
                <a16:creationId xmlns:a16="http://schemas.microsoft.com/office/drawing/2014/main" id="{65999EA9-826B-4A81-A33C-0DBC6B8CC157}"/>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02</a:t>
            </a:r>
          </a:p>
        </p:txBody>
      </p:sp>
      <p:sp>
        <p:nvSpPr>
          <p:cNvPr id="6" name="text-13">
            <a:extLst xmlns:a="http://schemas.openxmlformats.org/drawingml/2006/main">
              <a:ext uri="{FF2B5EF4-FFF2-40B4-BE49-F238E27FC236}">
                <a16:creationId xmlns:a16="http://schemas.microsoft.com/office/drawing/2014/main" id="{85A1E5EC-5DD9-4F14-90C1-F789DBF0F70E}"/>
              </a:ext>
            </a:extLst>
          </p:cNvPr>
          <p:cNvSpPr>
            <a:spLocks xmlns:a="http://schemas.openxmlformats.org/drawingml/2006/main" noGrp="1"/>
          </p:cNvSpPr>
          <p:nvPr/>
        </p:nvSpPr>
        <p:spPr>
          <a:xfrm xmlns:a="http://schemas.openxmlformats.org/drawingml/2006/main">
            <a:off x="609600" y="1981200"/>
            <a:ext cx="3190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9784B"/>
                </a:solidFill>
                <a:latin typeface="Arial"/>
                <a:ea typeface="Arial"/>
                <a:cs typeface="Arial"/>
              </a:defRPr>
            </a:defPPr>
          </a:lstStyle>
          <a:p xmlns:a="http://schemas.openxmlformats.org/drawingml/2006/main">
            <a:pPr algn="l">
              <a:defRPr sz="5250" b="1">
                <a:solidFill>
                  <a:srgbClr val="29784B"/>
                </a:solidFill>
                <a:latin typeface="Arial"/>
                <a:ea typeface="Arial"/>
                <a:cs typeface="Arial"/>
              </a:defRPr>
            </a:pPr>
            <a:r>
              <a:rPr sz="5250" b="1">
                <a:solidFill>
                  <a:srgbClr val="29784B"/>
                </a:solidFill>
                <a:latin typeface="Arial"/>
                <a:ea typeface="Arial"/>
                <a:cs typeface="Arial"/>
              </a:rPr>
              <a:t>01</a:t>
            </a:r>
          </a:p>
        </p:txBody>
      </p:sp>
      <p:sp>
        <p:nvSpPr>
          <p:cNvPr id="7" name="text-14">
            <a:extLst xmlns:a="http://schemas.openxmlformats.org/drawingml/2006/main">
              <a:ext uri="{FF2B5EF4-FFF2-40B4-BE49-F238E27FC236}">
                <a16:creationId xmlns:a16="http://schemas.microsoft.com/office/drawing/2014/main" id="{23D81A3D-9A5F-44B6-B178-37DEF3F246F8}"/>
              </a:ext>
            </a:extLst>
          </p:cNvPr>
          <p:cNvSpPr>
            <a:spLocks xmlns:a="http://schemas.openxmlformats.org/drawingml/2006/main" noGrp="1"/>
          </p:cNvSpPr>
          <p:nvPr/>
        </p:nvSpPr>
        <p:spPr>
          <a:xfrm xmlns:a="http://schemas.openxmlformats.org/drawingml/2006/main">
            <a:off x="609600" y="3028950"/>
            <a:ext cx="323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83C2F"/>
                </a:solidFill>
                <a:latin typeface="Arial"/>
                <a:ea typeface="Arial"/>
                <a:cs typeface="Arial"/>
              </a:defRPr>
            </a:defPPr>
          </a:lstStyle>
          <a:p xmlns:a="http://schemas.openxmlformats.org/drawingml/2006/main">
            <a:pPr algn="l">
              <a:defRPr sz="2325" b="1">
                <a:solidFill>
                  <a:srgbClr val="183C2F"/>
                </a:solidFill>
                <a:latin typeface="Arial"/>
                <a:ea typeface="Arial"/>
                <a:cs typeface="Arial"/>
              </a:defRPr>
            </a:pPr>
            <a:r>
              <a:rPr sz="2325" b="1">
                <a:solidFill>
                  <a:srgbClr val="183C2F"/>
                </a:solidFill>
                <a:latin typeface="Arial"/>
                <a:ea typeface="Arial"/>
                <a:cs typeface="Arial"/>
              </a:rPr>
              <a:t>Fast complaints</a:t>
            </a:r>
          </a:p>
        </p:txBody>
      </p:sp>
      <p:sp>
        <p:nvSpPr>
          <p:cNvPr id="8" name="text-15">
            <a:extLst xmlns:a="http://schemas.openxmlformats.org/drawingml/2006/main">
              <a:ext uri="{FF2B5EF4-FFF2-40B4-BE49-F238E27FC236}">
                <a16:creationId xmlns:a16="http://schemas.microsoft.com/office/drawing/2014/main" id="{0ADDD58E-8B89-4AB9-8366-BD9D8E920A08}"/>
              </a:ext>
            </a:extLst>
          </p:cNvPr>
          <p:cNvSpPr>
            <a:spLocks xmlns:a="http://schemas.openxmlformats.org/drawingml/2006/main" noGrp="1"/>
          </p:cNvSpPr>
          <p:nvPr/>
        </p:nvSpPr>
        <p:spPr>
          <a:xfrm xmlns:a="http://schemas.openxmlformats.org/drawingml/2006/main">
            <a:off x="609600" y="3962400"/>
            <a:ext cx="323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Guided capture and</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AI-assisted drafts reduce</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forms and manual typing.</a:t>
            </a:r>
          </a:p>
        </p:txBody>
      </p:sp>
      <p:sp>
        <p:nvSpPr>
          <p:cNvPr id="9" name="text-16">
            <a:extLst xmlns:a="http://schemas.openxmlformats.org/drawingml/2006/main">
              <a:ext uri="{FF2B5EF4-FFF2-40B4-BE49-F238E27FC236}">
                <a16:creationId xmlns:a16="http://schemas.microsoft.com/office/drawing/2014/main" id="{884CE969-6D94-4EFC-9EBA-85D68ECF86C7}"/>
              </a:ext>
            </a:extLst>
          </p:cNvPr>
          <p:cNvSpPr>
            <a:spLocks xmlns:a="http://schemas.openxmlformats.org/drawingml/2006/main" noGrp="1"/>
          </p:cNvSpPr>
          <p:nvPr/>
        </p:nvSpPr>
        <p:spPr>
          <a:xfrm xmlns:a="http://schemas.openxmlformats.org/drawingml/2006/main">
            <a:off x="609600" y="5572125"/>
            <a:ext cx="3257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9784B"/>
                </a:solidFill>
                <a:latin typeface="Arial"/>
                <a:ea typeface="Arial"/>
                <a:cs typeface="Arial"/>
              </a:defRPr>
            </a:defPPr>
          </a:lstStyle>
          <a:p xmlns:a="http://schemas.openxmlformats.org/drawingml/2006/main">
            <a:pPr algn="l">
              <a:defRPr sz="1500" b="1">
                <a:solidFill>
                  <a:srgbClr val="29784B"/>
                </a:solidFill>
                <a:latin typeface="Arial"/>
                <a:ea typeface="Arial"/>
                <a:cs typeface="Arial"/>
              </a:defRPr>
            </a:pPr>
            <a:r>
              <a:rPr sz="1500" b="1">
                <a:solidFill>
                  <a:srgbClr val="29784B"/>
                </a:solidFill>
                <a:latin typeface="Arial"/>
                <a:ea typeface="Arial"/>
                <a:cs typeface="Arial"/>
              </a:rPr>
              <a:t>Design target: under 60 seconds</a:t>
            </a:r>
          </a:p>
        </p:txBody>
      </p:sp>
      <p:sp>
        <p:nvSpPr>
          <p:cNvPr id="10" name="text-17">
            <a:extLst xmlns:a="http://schemas.openxmlformats.org/drawingml/2006/main">
              <a:ext uri="{FF2B5EF4-FFF2-40B4-BE49-F238E27FC236}">
                <a16:creationId xmlns:a16="http://schemas.microsoft.com/office/drawing/2014/main" id="{20F4F09C-6B09-485F-A45F-3839A358F429}"/>
              </a:ext>
            </a:extLst>
          </p:cNvPr>
          <p:cNvSpPr>
            <a:spLocks xmlns:a="http://schemas.openxmlformats.org/drawingml/2006/main" noGrp="1"/>
          </p:cNvSpPr>
          <p:nvPr/>
        </p:nvSpPr>
        <p:spPr>
          <a:xfrm xmlns:a="http://schemas.openxmlformats.org/drawingml/2006/main">
            <a:off x="4381500" y="1981200"/>
            <a:ext cx="3190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9784B"/>
                </a:solidFill>
                <a:latin typeface="Arial"/>
                <a:ea typeface="Arial"/>
                <a:cs typeface="Arial"/>
              </a:defRPr>
            </a:defPPr>
          </a:lstStyle>
          <a:p xmlns:a="http://schemas.openxmlformats.org/drawingml/2006/main">
            <a:pPr algn="l">
              <a:defRPr sz="5250" b="1">
                <a:solidFill>
                  <a:srgbClr val="29784B"/>
                </a:solidFill>
                <a:latin typeface="Arial"/>
                <a:ea typeface="Arial"/>
                <a:cs typeface="Arial"/>
              </a:defRPr>
            </a:pPr>
            <a:r>
              <a:rPr sz="5250" b="1">
                <a:solidFill>
                  <a:srgbClr val="29784B"/>
                </a:solidFill>
                <a:latin typeface="Arial"/>
                <a:ea typeface="Arial"/>
                <a:cs typeface="Arial"/>
              </a:rPr>
              <a:t>02</a:t>
            </a:r>
          </a:p>
        </p:txBody>
      </p:sp>
      <p:sp>
        <p:nvSpPr>
          <p:cNvPr id="11" name="text-18">
            <a:extLst xmlns:a="http://schemas.openxmlformats.org/drawingml/2006/main">
              <a:ext uri="{FF2B5EF4-FFF2-40B4-BE49-F238E27FC236}">
                <a16:creationId xmlns:a16="http://schemas.microsoft.com/office/drawing/2014/main" id="{35F70011-820D-42B1-A0C0-7C2DAA5C416B}"/>
              </a:ext>
            </a:extLst>
          </p:cNvPr>
          <p:cNvSpPr>
            <a:spLocks xmlns:a="http://schemas.openxmlformats.org/drawingml/2006/main" noGrp="1"/>
          </p:cNvSpPr>
          <p:nvPr/>
        </p:nvSpPr>
        <p:spPr>
          <a:xfrm xmlns:a="http://schemas.openxmlformats.org/drawingml/2006/main">
            <a:off x="4381500" y="3028950"/>
            <a:ext cx="323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83C2F"/>
                </a:solidFill>
                <a:latin typeface="Arial"/>
                <a:ea typeface="Arial"/>
                <a:cs typeface="Arial"/>
              </a:defRPr>
            </a:defPPr>
          </a:lstStyle>
          <a:p xmlns:a="http://schemas.openxmlformats.org/drawingml/2006/main">
            <a:pPr algn="l">
              <a:defRPr sz="2325" b="1">
                <a:solidFill>
                  <a:srgbClr val="183C2F"/>
                </a:solidFill>
                <a:latin typeface="Arial"/>
                <a:ea typeface="Arial"/>
                <a:cs typeface="Arial"/>
              </a:defRPr>
            </a:pPr>
            <a:r>
              <a:rPr sz="2325" b="1">
                <a:solidFill>
                  <a:srgbClr val="183C2F"/>
                </a:solidFill>
                <a:latin typeface="Arial"/>
                <a:ea typeface="Arial"/>
                <a:cs typeface="Arial"/>
              </a:rPr>
              <a:t>Evidence collection</a:t>
            </a:r>
          </a:p>
        </p:txBody>
      </p:sp>
      <p:sp>
        <p:nvSpPr>
          <p:cNvPr id="12" name="text-19">
            <a:extLst xmlns:a="http://schemas.openxmlformats.org/drawingml/2006/main">
              <a:ext uri="{FF2B5EF4-FFF2-40B4-BE49-F238E27FC236}">
                <a16:creationId xmlns:a16="http://schemas.microsoft.com/office/drawing/2014/main" id="{CA5171E6-5A1B-4697-BDA9-982CEAE7C669}"/>
              </a:ext>
            </a:extLst>
          </p:cNvPr>
          <p:cNvSpPr>
            <a:spLocks xmlns:a="http://schemas.openxmlformats.org/drawingml/2006/main" noGrp="1"/>
          </p:cNvSpPr>
          <p:nvPr/>
        </p:nvSpPr>
        <p:spPr>
          <a:xfrm xmlns:a="http://schemas.openxmlformats.org/drawingml/2006/main">
            <a:off x="4381500" y="3962400"/>
            <a:ext cx="323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Photos, recordings, location</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and time build a record for</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escalation and potential</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court proceedings.</a:t>
            </a:r>
          </a:p>
        </p:txBody>
      </p:sp>
      <p:sp>
        <p:nvSpPr>
          <p:cNvPr id="13" name="text-20">
            <a:extLst xmlns:a="http://schemas.openxmlformats.org/drawingml/2006/main">
              <a:ext uri="{FF2B5EF4-FFF2-40B4-BE49-F238E27FC236}">
                <a16:creationId xmlns:a16="http://schemas.microsoft.com/office/drawing/2014/main" id="{94EFBED6-EEBC-49D7-9861-52BBE4BB82D8}"/>
              </a:ext>
            </a:extLst>
          </p:cNvPr>
          <p:cNvSpPr>
            <a:spLocks xmlns:a="http://schemas.openxmlformats.org/drawingml/2006/main" noGrp="1"/>
          </p:cNvSpPr>
          <p:nvPr/>
        </p:nvSpPr>
        <p:spPr>
          <a:xfrm xmlns:a="http://schemas.openxmlformats.org/drawingml/2006/main">
            <a:off x="4381500" y="5572125"/>
            <a:ext cx="3257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9784B"/>
                </a:solidFill>
                <a:latin typeface="Arial"/>
                <a:ea typeface="Arial"/>
                <a:cs typeface="Arial"/>
              </a:defRPr>
            </a:defPPr>
          </a:lstStyle>
          <a:p xmlns:a="http://schemas.openxmlformats.org/drawingml/2006/main">
            <a:pPr algn="l">
              <a:defRPr sz="1500" b="1">
                <a:solidFill>
                  <a:srgbClr val="29784B"/>
                </a:solidFill>
                <a:latin typeface="Arial"/>
                <a:ea typeface="Arial"/>
                <a:cs typeface="Arial"/>
              </a:defRPr>
            </a:pPr>
            <a:r>
              <a:rPr sz="1500" b="1">
                <a:solidFill>
                  <a:srgbClr val="29784B"/>
                </a:solidFill>
                <a:latin typeface="Arial"/>
                <a:ea typeface="Arial"/>
                <a:cs typeface="Arial"/>
              </a:rPr>
              <a:t>A valuable asset for escalation</a:t>
            </a:r>
          </a:p>
        </p:txBody>
      </p:sp>
      <p:sp>
        <p:nvSpPr>
          <p:cNvPr id="14" name="text-21">
            <a:extLst xmlns:a="http://schemas.openxmlformats.org/drawingml/2006/main">
              <a:ext uri="{FF2B5EF4-FFF2-40B4-BE49-F238E27FC236}">
                <a16:creationId xmlns:a16="http://schemas.microsoft.com/office/drawing/2014/main" id="{8BBC4D0D-CCB2-4FCB-B342-0F9AFA1A7294}"/>
              </a:ext>
            </a:extLst>
          </p:cNvPr>
          <p:cNvSpPr>
            <a:spLocks xmlns:a="http://schemas.openxmlformats.org/drawingml/2006/main" noGrp="1"/>
          </p:cNvSpPr>
          <p:nvPr/>
        </p:nvSpPr>
        <p:spPr>
          <a:xfrm xmlns:a="http://schemas.openxmlformats.org/drawingml/2006/main">
            <a:off x="8153400" y="1981200"/>
            <a:ext cx="3190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9784B"/>
                </a:solidFill>
                <a:latin typeface="Arial"/>
                <a:ea typeface="Arial"/>
                <a:cs typeface="Arial"/>
              </a:defRPr>
            </a:defPPr>
          </a:lstStyle>
          <a:p xmlns:a="http://schemas.openxmlformats.org/drawingml/2006/main">
            <a:pPr algn="l">
              <a:defRPr sz="5250" b="1">
                <a:solidFill>
                  <a:srgbClr val="29784B"/>
                </a:solidFill>
                <a:latin typeface="Arial"/>
                <a:ea typeface="Arial"/>
                <a:cs typeface="Arial"/>
              </a:defRPr>
            </a:pPr>
            <a:r>
              <a:rPr sz="5250" b="1">
                <a:solidFill>
                  <a:srgbClr val="29784B"/>
                </a:solidFill>
                <a:latin typeface="Arial"/>
                <a:ea typeface="Arial"/>
                <a:cs typeface="Arial"/>
              </a:rPr>
              <a:t>03</a:t>
            </a:r>
          </a:p>
        </p:txBody>
      </p:sp>
      <p:sp>
        <p:nvSpPr>
          <p:cNvPr id="15" name="text-22">
            <a:extLst xmlns:a="http://schemas.openxmlformats.org/drawingml/2006/main">
              <a:ext uri="{FF2B5EF4-FFF2-40B4-BE49-F238E27FC236}">
                <a16:creationId xmlns:a16="http://schemas.microsoft.com/office/drawing/2014/main" id="{A7E82D08-D732-49D0-B5D9-D729E148B2D2}"/>
              </a:ext>
            </a:extLst>
          </p:cNvPr>
          <p:cNvSpPr>
            <a:spLocks xmlns:a="http://schemas.openxmlformats.org/drawingml/2006/main" noGrp="1"/>
          </p:cNvSpPr>
          <p:nvPr/>
        </p:nvSpPr>
        <p:spPr>
          <a:xfrm xmlns:a="http://schemas.openxmlformats.org/drawingml/2006/main">
            <a:off x="8153400" y="3028950"/>
            <a:ext cx="323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83C2F"/>
                </a:solidFill>
                <a:latin typeface="Arial"/>
                <a:ea typeface="Arial"/>
                <a:cs typeface="Arial"/>
              </a:defRPr>
            </a:defPPr>
          </a:lstStyle>
          <a:p xmlns:a="http://schemas.openxmlformats.org/drawingml/2006/main">
            <a:pPr algn="l">
              <a:defRPr sz="2325" b="1">
                <a:solidFill>
                  <a:srgbClr val="183C2F"/>
                </a:solidFill>
                <a:latin typeface="Arial"/>
                <a:ea typeface="Arial"/>
                <a:cs typeface="Arial"/>
              </a:defRPr>
            </a:pPr>
            <a:r>
              <a:rPr sz="2325" b="1">
                <a:solidFill>
                  <a:srgbClr val="183C2F"/>
                </a:solidFill>
                <a:latin typeface="Arial"/>
                <a:ea typeface="Arial"/>
                <a:cs typeface="Arial"/>
              </a:rPr>
              <a:t>Public accountability</a:t>
            </a:r>
          </a:p>
        </p:txBody>
      </p:sp>
      <p:sp>
        <p:nvSpPr>
          <p:cNvPr id="16" name="text-23">
            <a:extLst xmlns:a="http://schemas.openxmlformats.org/drawingml/2006/main">
              <a:ext uri="{FF2B5EF4-FFF2-40B4-BE49-F238E27FC236}">
                <a16:creationId xmlns:a16="http://schemas.microsoft.com/office/drawing/2014/main" id="{A07257B6-24E9-40AA-8A7D-9550B404B0E9}"/>
              </a:ext>
            </a:extLst>
          </p:cNvPr>
          <p:cNvSpPr>
            <a:spLocks xmlns:a="http://schemas.openxmlformats.org/drawingml/2006/main" noGrp="1"/>
          </p:cNvSpPr>
          <p:nvPr/>
        </p:nvSpPr>
        <p:spPr>
          <a:xfrm xmlns:a="http://schemas.openxmlformats.org/drawingml/2006/main">
            <a:off x="8153400" y="3962400"/>
            <a:ext cx="323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A shared map makes</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reported concerns visible.</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Follow-up evidence helps</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document physical change.</a:t>
            </a:r>
          </a:p>
        </p:txBody>
      </p:sp>
      <p:sp>
        <p:nvSpPr>
          <p:cNvPr id="17" name="text-24">
            <a:extLst xmlns:a="http://schemas.openxmlformats.org/drawingml/2006/main">
              <a:ext uri="{FF2B5EF4-FFF2-40B4-BE49-F238E27FC236}">
                <a16:creationId xmlns:a16="http://schemas.microsoft.com/office/drawing/2014/main" id="{531779E4-B63C-4C4D-AF60-F7D4546B3BA0}"/>
              </a:ext>
            </a:extLst>
          </p:cNvPr>
          <p:cNvSpPr>
            <a:spLocks xmlns:a="http://schemas.openxmlformats.org/drawingml/2006/main" noGrp="1"/>
          </p:cNvSpPr>
          <p:nvPr/>
        </p:nvSpPr>
        <p:spPr>
          <a:xfrm xmlns:a="http://schemas.openxmlformats.org/drawingml/2006/main">
            <a:off x="8153400" y="5572125"/>
            <a:ext cx="3257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9784B"/>
                </a:solidFill>
                <a:latin typeface="Arial"/>
                <a:ea typeface="Arial"/>
                <a:cs typeface="Arial"/>
              </a:defRPr>
            </a:defPPr>
          </a:lstStyle>
          <a:p xmlns:a="http://schemas.openxmlformats.org/drawingml/2006/main">
            <a:pPr algn="l">
              <a:defRPr sz="1500" b="1">
                <a:solidFill>
                  <a:srgbClr val="29784B"/>
                </a:solidFill>
                <a:latin typeface="Arial"/>
                <a:ea typeface="Arial"/>
                <a:cs typeface="Arial"/>
              </a:defRPr>
            </a:pPr>
            <a:r>
              <a:rPr sz="1500" b="1">
                <a:solidFill>
                  <a:srgbClr val="29784B"/>
                </a:solidFill>
                <a:latin typeface="Arial"/>
                <a:ea typeface="Arial"/>
                <a:cs typeface="Arial"/>
              </a:rPr>
              <a:t>Visible concerns and follow-up</a:t>
            </a:r>
          </a:p>
        </p:txBody>
      </p:sp>
      <p:sp>
        <p:nvSpPr>
          <p:cNvPr id="18" name="text-25">
            <a:extLst xmlns:a="http://schemas.openxmlformats.org/drawingml/2006/main">
              <a:ext uri="{FF2B5EF4-FFF2-40B4-BE49-F238E27FC236}">
                <a16:creationId xmlns:a16="http://schemas.microsoft.com/office/drawing/2014/main" id="{0426C22C-BBF1-42A4-956F-F80B93377E13}"/>
              </a:ext>
            </a:extLst>
          </p:cNvPr>
          <p:cNvSpPr>
            <a:spLocks xmlns:a="http://schemas.openxmlformats.org/drawingml/2006/main" noGrp="1"/>
          </p:cNvSpPr>
          <p:nvPr/>
        </p:nvSpPr>
        <p:spPr>
          <a:xfrm xmlns:a="http://schemas.openxmlformats.org/drawingml/2006/main">
            <a:off x="609600" y="602932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4655C"/>
                </a:solidFill>
                <a:latin typeface="Arial"/>
                <a:ea typeface="Arial"/>
                <a:cs typeface="Arial"/>
              </a:defRPr>
            </a:defPPr>
          </a:lstStyle>
          <a:p xmlns:a="http://schemas.openxmlformats.org/drawingml/2006/main">
            <a:pPr algn="l">
              <a:defRPr sz="1200" b="0">
                <a:solidFill>
                  <a:srgbClr val="54655C"/>
                </a:solidFill>
                <a:latin typeface="Arial"/>
                <a:ea typeface="Arial"/>
                <a:cs typeface="Arial"/>
              </a:defRPr>
            </a:pPr>
            <a:r>
              <a:rPr sz="1200" b="0">
                <a:solidFill>
                  <a:srgbClr val="54655C"/>
                </a:solidFill>
                <a:latin typeface="Arial"/>
                <a:ea typeface="Arial"/>
                <a:cs typeface="Arial"/>
              </a:rPr>
              <a:t>Court acceptance depends on applicable evidentiary requirements.</a:t>
            </a:r>
          </a:p>
        </p:txBody>
      </p:sp>
    </p:spTree>
    <p:extLst>
      <p:ext uri="{BB962C8B-B14F-4D97-AF65-F5344CB8AC3E}">
        <p14:creationId xmlns:p14="http://schemas.microsoft.com/office/powerpoint/2010/main" val="918416423"/>
      </p:ext>
    </p:extLst>
  </p:cSld>
</p:sld>
</file>

<file path=ppt/slides/slide3.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5" name="text-26">
            <a:extLst xmlns:a="http://schemas.openxmlformats.org/drawingml/2006/main">
              <a:ext uri="{FF2B5EF4-FFF2-40B4-BE49-F238E27FC236}">
                <a16:creationId xmlns:a16="http://schemas.microsoft.com/office/drawing/2014/main" id="{DA740DF1-5431-4615-8242-9BF465E44C99}"/>
              </a:ext>
            </a:extLst>
          </p:cNvPr>
          <p:cNvSpPr>
            <a:spLocks xmlns:a="http://schemas.openxmlformats.org/drawingml/2006/main" noGrp="1"/>
          </p:cNvSpPr>
          <p:nvPr/>
        </p:nvSpPr>
        <p:spPr>
          <a:xfrm xmlns:a="http://schemas.openxmlformats.org/drawingml/2006/main">
            <a:off x="609600" y="323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THE COURT EVIDENCE GAP</a:t>
            </a:r>
          </a:p>
        </p:txBody>
      </p:sp>
      <p:sp>
        <p:nvSpPr>
          <p:cNvPr id="2" name="text-27">
            <a:extLst xmlns:a="http://schemas.openxmlformats.org/drawingml/2006/main">
              <a:ext uri="{FF2B5EF4-FFF2-40B4-BE49-F238E27FC236}">
                <a16:creationId xmlns:a16="http://schemas.microsoft.com/office/drawing/2014/main" id="{B09B7401-AAD3-4D3C-821F-5661144BB15F}"/>
              </a:ext>
            </a:extLst>
          </p:cNvPr>
          <p:cNvSpPr>
            <a:spLocks xmlns:a="http://schemas.openxmlformats.org/drawingml/2006/main" noGrp="1"/>
          </p:cNvSpPr>
          <p:nvPr/>
        </p:nvSpPr>
        <p:spPr>
          <a:xfrm xmlns:a="http://schemas.openxmlformats.org/drawingml/2006/main">
            <a:off x="609600" y="819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83C2F"/>
                </a:solidFill>
                <a:latin typeface="Arial"/>
                <a:ea typeface="Arial"/>
                <a:cs typeface="Arial"/>
              </a:defRPr>
            </a:defPPr>
          </a:lstStyle>
          <a:p xmlns:a="http://schemas.openxmlformats.org/drawingml/2006/main">
            <a:pPr algn="l">
              <a:defRPr sz="3450" b="1">
                <a:solidFill>
                  <a:srgbClr val="183C2F"/>
                </a:solidFill>
                <a:latin typeface="Arial"/>
                <a:ea typeface="Arial"/>
                <a:cs typeface="Arial"/>
              </a:defRPr>
            </a:pPr>
            <a:r>
              <a:rPr sz="3450" b="1">
                <a:solidFill>
                  <a:srgbClr val="183C2F"/>
                </a:solidFill>
                <a:latin typeface="Arial"/>
                <a:ea typeface="Arial"/>
                <a:cs typeface="Arial"/>
              </a:rPr>
              <a:t>Civic groups need stronger evidence</a:t>
            </a:r>
          </a:p>
        </p:txBody>
      </p:sp>
      <p:sp>
        <p:nvSpPr>
          <p:cNvPr id="3" name="frame-28">
            <a:extLst xmlns:a="http://schemas.openxmlformats.org/drawingml/2006/main">
              <a:ext uri="{FF2B5EF4-FFF2-40B4-BE49-F238E27FC236}">
                <a16:creationId xmlns:a16="http://schemas.microsoft.com/office/drawing/2014/main" id="{B253CDFF-5B31-4453-BDFB-77239403BE39}"/>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29">
            <a:extLst xmlns:a="http://schemas.openxmlformats.org/drawingml/2006/main">
              <a:ext uri="{FF2B5EF4-FFF2-40B4-BE49-F238E27FC236}">
                <a16:creationId xmlns:a16="http://schemas.microsoft.com/office/drawing/2014/main" id="{FF3290E0-CAFF-4BFB-A638-BE13C5D426CB}"/>
              </a:ext>
            </a:extLst>
          </p:cNvPr>
          <p:cNvSpPr>
            <a:spLocks xmlns:a="http://schemas.openxmlformats.org/drawingml/2006/main" noGrp="1"/>
          </p:cNvSpPr>
          <p:nvPr/>
        </p:nvSpPr>
        <p:spPr>
          <a:xfrm xmlns:a="http://schemas.openxmlformats.org/drawingml/2006/main">
            <a:off x="609600" y="64960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30">
            <a:extLst xmlns:a="http://schemas.openxmlformats.org/drawingml/2006/main">
              <a:ext uri="{FF2B5EF4-FFF2-40B4-BE49-F238E27FC236}">
                <a16:creationId xmlns:a16="http://schemas.microsoft.com/office/drawing/2014/main" id="{556DA948-67F3-4041-B046-AEB2288AAEFF}"/>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03</a:t>
            </a:r>
          </a:p>
        </p:txBody>
      </p:sp>
      <p:sp>
        <p:nvSpPr>
          <p:cNvPr id="6" name="text-31">
            <a:extLst xmlns:a="http://schemas.openxmlformats.org/drawingml/2006/main">
              <a:ext uri="{FF2B5EF4-FFF2-40B4-BE49-F238E27FC236}">
                <a16:creationId xmlns:a16="http://schemas.microsoft.com/office/drawing/2014/main" id="{799730BE-BA64-411C-8306-EDDD82012500}"/>
              </a:ext>
            </a:extLst>
          </p:cNvPr>
          <p:cNvSpPr>
            <a:spLocks xmlns:a="http://schemas.openxmlformats.org/drawingml/2006/main" noGrp="1"/>
          </p:cNvSpPr>
          <p:nvPr/>
        </p:nvSpPr>
        <p:spPr>
          <a:xfrm xmlns:a="http://schemas.openxmlformats.org/drawingml/2006/main">
            <a:off x="609600" y="194310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4655C"/>
                </a:solidFill>
                <a:latin typeface="Arial"/>
                <a:ea typeface="Arial"/>
                <a:cs typeface="Arial"/>
              </a:defRPr>
            </a:defPPr>
          </a:lstStyle>
          <a:p xmlns:a="http://schemas.openxmlformats.org/drawingml/2006/main">
            <a:pPr algn="l">
              <a:defRPr sz="2025" b="0">
                <a:solidFill>
                  <a:srgbClr val="54655C"/>
                </a:solidFill>
                <a:latin typeface="Arial"/>
                <a:ea typeface="Arial"/>
                <a:cs typeface="Arial"/>
              </a:defRPr>
            </a:pPr>
            <a:r>
              <a:rPr sz="2025" b="0">
                <a:solidFill>
                  <a:srgbClr val="54655C"/>
                </a:solidFill>
                <a:latin typeface="Arial"/>
                <a:ea typeface="Arial"/>
                <a:cs typeface="Arial"/>
              </a:rPr>
              <a:t>Civic organisations often lack organised evidence to support a case in court.</a:t>
            </a:r>
          </a:p>
          <a:p xmlns:a="http://schemas.openxmlformats.org/drawingml/2006/main">
            <a:pPr algn="l">
              <a:defRPr sz="2025" b="0">
                <a:solidFill>
                  <a:srgbClr val="54655C"/>
                </a:solidFill>
                <a:latin typeface="Arial"/>
                <a:ea typeface="Arial"/>
                <a:cs typeface="Arial"/>
              </a:defRPr>
            </a:pPr>
            <a:r>
              <a:rPr sz="2025" b="0">
                <a:solidFill>
                  <a:srgbClr val="54655C"/>
                </a:solidFill>
                <a:latin typeface="Arial"/>
                <a:ea typeface="Arial"/>
                <a:cs typeface="Arial"/>
              </a:rPr>
              <a:t>Scattered photos and undocumented follow-up make escalation harder.</a:t>
            </a:r>
          </a:p>
        </p:txBody>
      </p:sp>
      <p:sp>
        <p:nvSpPr>
          <p:cNvPr id="7" name="text-32">
            <a:extLst xmlns:a="http://schemas.openxmlformats.org/drawingml/2006/main">
              <a:ext uri="{FF2B5EF4-FFF2-40B4-BE49-F238E27FC236}">
                <a16:creationId xmlns:a16="http://schemas.microsoft.com/office/drawing/2014/main" id="{FD6C2E50-8945-4EF4-92BC-FD15AA562445}"/>
              </a:ext>
            </a:extLst>
          </p:cNvPr>
          <p:cNvSpPr>
            <a:spLocks xmlns:a="http://schemas.openxmlformats.org/drawingml/2006/main" noGrp="1"/>
          </p:cNvSpPr>
          <p:nvPr/>
        </p:nvSpPr>
        <p:spPr>
          <a:xfrm xmlns:a="http://schemas.openxmlformats.org/drawingml/2006/main">
            <a:off x="609600" y="3209925"/>
            <a:ext cx="32670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84B"/>
                </a:solidFill>
                <a:latin typeface="Arial"/>
                <a:ea typeface="Arial"/>
                <a:cs typeface="Arial"/>
              </a:defRPr>
            </a:defPPr>
          </a:lstStyle>
          <a:p xmlns:a="http://schemas.openxmlformats.org/drawingml/2006/main">
            <a:pPr algn="l">
              <a:defRPr sz="2250" b="1">
                <a:solidFill>
                  <a:srgbClr val="29784B"/>
                </a:solidFill>
                <a:latin typeface="Arial"/>
                <a:ea typeface="Arial"/>
                <a:cs typeface="Arial"/>
              </a:defRPr>
            </a:pPr>
            <a:r>
              <a:rPr sz="2250" b="1">
                <a:solidFill>
                  <a:srgbClr val="29784B"/>
                </a:solidFill>
                <a:latin typeface="Arial"/>
                <a:ea typeface="Arial"/>
                <a:cs typeface="Arial"/>
              </a:rPr>
              <a:t>Citizen evidence</a:t>
            </a:r>
          </a:p>
        </p:txBody>
      </p:sp>
      <p:sp>
        <p:nvSpPr>
          <p:cNvPr id="8" name="text-33">
            <a:extLst xmlns:a="http://schemas.openxmlformats.org/drawingml/2006/main">
              <a:ext uri="{FF2B5EF4-FFF2-40B4-BE49-F238E27FC236}">
                <a16:creationId xmlns:a16="http://schemas.microsoft.com/office/drawing/2014/main" id="{356F1963-CE4D-4A0E-9052-7062CBCB8653}"/>
              </a:ext>
            </a:extLst>
          </p:cNvPr>
          <p:cNvSpPr>
            <a:spLocks xmlns:a="http://schemas.openxmlformats.org/drawingml/2006/main" noGrp="1"/>
          </p:cNvSpPr>
          <p:nvPr/>
        </p:nvSpPr>
        <p:spPr>
          <a:xfrm xmlns:a="http://schemas.openxmlformats.org/drawingml/2006/main">
            <a:off x="609600" y="4105275"/>
            <a:ext cx="32670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3C2F"/>
                </a:solidFill>
                <a:latin typeface="Arial"/>
                <a:ea typeface="Arial"/>
                <a:cs typeface="Arial"/>
              </a:defRPr>
            </a:defPPr>
          </a:lstStyle>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Photos and recordings</a:t>
            </a:r>
          </a:p>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Location and capture time</a:t>
            </a:r>
          </a:p>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Complaint records</a:t>
            </a:r>
          </a:p>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Follow-up photographs</a:t>
            </a:r>
          </a:p>
        </p:txBody>
      </p:sp>
      <p:sp>
        <p:nvSpPr>
          <p:cNvPr id="9" name="text-34">
            <a:extLst xmlns:a="http://schemas.openxmlformats.org/drawingml/2006/main">
              <a:ext uri="{FF2B5EF4-FFF2-40B4-BE49-F238E27FC236}">
                <a16:creationId xmlns:a16="http://schemas.microsoft.com/office/drawing/2014/main" id="{9771F6D3-6910-4812-A394-4931BD843881}"/>
              </a:ext>
            </a:extLst>
          </p:cNvPr>
          <p:cNvSpPr>
            <a:spLocks xmlns:a="http://schemas.openxmlformats.org/drawingml/2006/main" noGrp="1"/>
          </p:cNvSpPr>
          <p:nvPr/>
        </p:nvSpPr>
        <p:spPr>
          <a:xfrm xmlns:a="http://schemas.openxmlformats.org/drawingml/2006/main">
            <a:off x="4381500" y="3209925"/>
            <a:ext cx="32670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84B"/>
                </a:solidFill>
                <a:latin typeface="Arial"/>
                <a:ea typeface="Arial"/>
                <a:cs typeface="Arial"/>
              </a:defRPr>
            </a:defPPr>
          </a:lstStyle>
          <a:p xmlns:a="http://schemas.openxmlformats.org/drawingml/2006/main">
            <a:pPr algn="l">
              <a:defRPr sz="2250" b="1">
                <a:solidFill>
                  <a:srgbClr val="29784B"/>
                </a:solidFill>
                <a:latin typeface="Arial"/>
                <a:ea typeface="Arial"/>
                <a:cs typeface="Arial"/>
              </a:defRPr>
            </a:pPr>
            <a:r>
              <a:rPr sz="2250" b="1">
                <a:solidFill>
                  <a:srgbClr val="29784B"/>
                </a:solidFill>
                <a:latin typeface="Arial"/>
                <a:ea typeface="Arial"/>
                <a:cs typeface="Arial"/>
              </a:rPr>
              <a:t>An organised case</a:t>
            </a:r>
          </a:p>
        </p:txBody>
      </p:sp>
      <p:sp>
        <p:nvSpPr>
          <p:cNvPr id="10" name="text-35">
            <a:extLst xmlns:a="http://schemas.openxmlformats.org/drawingml/2006/main">
              <a:ext uri="{FF2B5EF4-FFF2-40B4-BE49-F238E27FC236}">
                <a16:creationId xmlns:a16="http://schemas.microsoft.com/office/drawing/2014/main" id="{A6825E0D-4057-45CE-8BD8-B6A84A8520BD}"/>
              </a:ext>
            </a:extLst>
          </p:cNvPr>
          <p:cNvSpPr>
            <a:spLocks xmlns:a="http://schemas.openxmlformats.org/drawingml/2006/main" noGrp="1"/>
          </p:cNvSpPr>
          <p:nvPr/>
        </p:nvSpPr>
        <p:spPr>
          <a:xfrm xmlns:a="http://schemas.openxmlformats.org/drawingml/2006/main">
            <a:off x="4381500" y="4105275"/>
            <a:ext cx="32670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3C2F"/>
                </a:solidFill>
                <a:latin typeface="Arial"/>
                <a:ea typeface="Arial"/>
                <a:cs typeface="Arial"/>
              </a:defRPr>
            </a:defPPr>
          </a:lstStyle>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Connect related concerns</a:t>
            </a:r>
          </a:p>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Document continuing issues</a:t>
            </a:r>
          </a:p>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Review the evidence</a:t>
            </a:r>
          </a:p>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with legal support</a:t>
            </a:r>
          </a:p>
        </p:txBody>
      </p:sp>
      <p:sp>
        <p:nvSpPr>
          <p:cNvPr id="11" name="text-36">
            <a:extLst xmlns:a="http://schemas.openxmlformats.org/drawingml/2006/main">
              <a:ext uri="{FF2B5EF4-FFF2-40B4-BE49-F238E27FC236}">
                <a16:creationId xmlns:a16="http://schemas.microsoft.com/office/drawing/2014/main" id="{97436444-8AEB-419B-9B5C-A772A0616F4C}"/>
              </a:ext>
            </a:extLst>
          </p:cNvPr>
          <p:cNvSpPr>
            <a:spLocks xmlns:a="http://schemas.openxmlformats.org/drawingml/2006/main" noGrp="1"/>
          </p:cNvSpPr>
          <p:nvPr/>
        </p:nvSpPr>
        <p:spPr>
          <a:xfrm xmlns:a="http://schemas.openxmlformats.org/drawingml/2006/main">
            <a:off x="8153400" y="3209925"/>
            <a:ext cx="32670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84B"/>
                </a:solidFill>
                <a:latin typeface="Arial"/>
                <a:ea typeface="Arial"/>
                <a:cs typeface="Arial"/>
              </a:defRPr>
            </a:defPPr>
          </a:lstStyle>
          <a:p xmlns:a="http://schemas.openxmlformats.org/drawingml/2006/main">
            <a:pPr algn="l">
              <a:defRPr sz="2250" b="1">
                <a:solidFill>
                  <a:srgbClr val="29784B"/>
                </a:solidFill>
                <a:latin typeface="Arial"/>
                <a:ea typeface="Arial"/>
                <a:cs typeface="Arial"/>
              </a:defRPr>
            </a:pPr>
            <a:r>
              <a:rPr sz="2250" b="1">
                <a:solidFill>
                  <a:srgbClr val="29784B"/>
                </a:solidFill>
                <a:latin typeface="Arial"/>
                <a:ea typeface="Arial"/>
                <a:cs typeface="Arial"/>
              </a:rPr>
              <a:t>Court accountability</a:t>
            </a:r>
          </a:p>
        </p:txBody>
      </p:sp>
      <p:sp>
        <p:nvSpPr>
          <p:cNvPr id="12" name="text-37">
            <a:extLst xmlns:a="http://schemas.openxmlformats.org/drawingml/2006/main">
              <a:ext uri="{FF2B5EF4-FFF2-40B4-BE49-F238E27FC236}">
                <a16:creationId xmlns:a16="http://schemas.microsoft.com/office/drawing/2014/main" id="{089B2AD2-2C0C-42C6-8395-C4EEFE77546F}"/>
              </a:ext>
            </a:extLst>
          </p:cNvPr>
          <p:cNvSpPr>
            <a:spLocks xmlns:a="http://schemas.openxmlformats.org/drawingml/2006/main" noGrp="1"/>
          </p:cNvSpPr>
          <p:nvPr/>
        </p:nvSpPr>
        <p:spPr>
          <a:xfrm xmlns:a="http://schemas.openxmlformats.org/drawingml/2006/main">
            <a:off x="8153400" y="4105275"/>
            <a:ext cx="32670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3C2F"/>
                </a:solidFill>
                <a:latin typeface="Arial"/>
                <a:ea typeface="Arial"/>
                <a:cs typeface="Arial"/>
              </a:defRPr>
            </a:defPPr>
          </a:lstStyle>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Use supporting records</a:t>
            </a:r>
          </a:p>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in legal proceedings</a:t>
            </a:r>
          </a:p>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Seek official action</a:t>
            </a:r>
          </a:p>
          <a:p xmlns:a="http://schemas.openxmlformats.org/drawingml/2006/main">
            <a:pPr algn="l">
              <a:defRPr sz="1875" b="0">
                <a:solidFill>
                  <a:srgbClr val="183C2F"/>
                </a:solidFill>
                <a:latin typeface="Arial"/>
                <a:ea typeface="Arial"/>
                <a:cs typeface="Arial"/>
              </a:defRPr>
            </a:pPr>
            <a:r>
              <a:rPr sz="1875" b="0">
                <a:solidFill>
                  <a:srgbClr val="183C2F"/>
                </a:solidFill>
                <a:latin typeface="Arial"/>
                <a:ea typeface="Arial"/>
                <a:cs typeface="Arial"/>
              </a:rPr>
              <a:t>and accountability</a:t>
            </a:r>
          </a:p>
        </p:txBody>
      </p:sp>
      <p:sp>
        <p:nvSpPr>
          <p:cNvPr id="13" name="text-38">
            <a:extLst xmlns:a="http://schemas.openxmlformats.org/drawingml/2006/main">
              <a:ext uri="{FF2B5EF4-FFF2-40B4-BE49-F238E27FC236}">
                <a16:creationId xmlns:a16="http://schemas.microsoft.com/office/drawing/2014/main" id="{BCCC1E51-84F1-41A3-B468-9F75E19FE816}"/>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9784B"/>
                </a:solidFill>
                <a:latin typeface="Arial"/>
                <a:ea typeface="Arial"/>
                <a:cs typeface="Arial"/>
              </a:defRPr>
            </a:defPPr>
          </a:lstStyle>
          <a:p xmlns:a="http://schemas.openxmlformats.org/drawingml/2006/main">
            <a:pPr algn="l">
              <a:defRPr sz="2025" b="1">
                <a:solidFill>
                  <a:srgbClr val="29784B"/>
                </a:solidFill>
                <a:latin typeface="Arial"/>
                <a:ea typeface="Arial"/>
                <a:cs typeface="Arial"/>
              </a:defRPr>
            </a:pPr>
            <a:r>
              <a:rPr sz="2025" b="1">
                <a:solidFill>
                  <a:srgbClr val="29784B"/>
                </a:solidFill>
                <a:latin typeface="Arial"/>
                <a:ea typeface="Arial"/>
                <a:cs typeface="Arial"/>
              </a:rPr>
              <a:t>Collected citizen evidence can help civic groups substantiate their concerns</a:t>
            </a:r>
          </a:p>
        </p:txBody>
      </p:sp>
      <p:sp>
        <p:nvSpPr>
          <p:cNvPr id="14" name="text-39">
            <a:extLst xmlns:a="http://schemas.openxmlformats.org/drawingml/2006/main">
              <a:ext uri="{FF2B5EF4-FFF2-40B4-BE49-F238E27FC236}">
                <a16:creationId xmlns:a16="http://schemas.microsoft.com/office/drawing/2014/main" id="{D866DF34-477F-400A-A8B9-7DE1A15BF293}"/>
              </a:ext>
            </a:extLst>
          </p:cNvPr>
          <p:cNvSpPr>
            <a:spLocks xmlns:a="http://schemas.openxmlformats.org/drawingml/2006/main" noGrp="1"/>
          </p:cNvSpPr>
          <p:nvPr/>
        </p:nvSpPr>
        <p:spPr>
          <a:xfrm xmlns:a="http://schemas.openxmlformats.org/drawingml/2006/main">
            <a:off x="609600" y="6067425"/>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4655C"/>
                </a:solidFill>
                <a:latin typeface="Arial"/>
                <a:ea typeface="Arial"/>
                <a:cs typeface="Arial"/>
              </a:defRPr>
            </a:defPPr>
          </a:lstStyle>
          <a:p xmlns:a="http://schemas.openxmlformats.org/drawingml/2006/main">
            <a:pPr algn="l">
              <a:defRPr sz="1200" b="0">
                <a:solidFill>
                  <a:srgbClr val="54655C"/>
                </a:solidFill>
                <a:latin typeface="Arial"/>
                <a:ea typeface="Arial"/>
                <a:cs typeface="Arial"/>
              </a:defRPr>
            </a:pPr>
            <a:r>
              <a:rPr sz="1200" b="0">
                <a:solidFill>
                  <a:srgbClr val="54655C"/>
                </a:solidFill>
                <a:latin typeface="Arial"/>
                <a:ea typeface="Arial"/>
                <a:cs typeface="Arial"/>
              </a:rPr>
              <a:t>Court acceptance depends on applicable evidentiary requirements and legal review.</a:t>
            </a:r>
          </a:p>
        </p:txBody>
      </p:sp>
    </p:spTree>
    <p:extLst>
      <p:ext uri="{BB962C8B-B14F-4D97-AF65-F5344CB8AC3E}">
        <p14:creationId xmlns:p14="http://schemas.microsoft.com/office/powerpoint/2010/main" val="40760489"/>
      </p:ext>
    </p:extLst>
  </p:cSld>
</p:sld>
</file>

<file path=ppt/slides/slide4.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5" name="text-40">
            <a:extLst xmlns:a="http://schemas.openxmlformats.org/drawingml/2006/main">
              <a:ext uri="{FF2B5EF4-FFF2-40B4-BE49-F238E27FC236}">
                <a16:creationId xmlns:a16="http://schemas.microsoft.com/office/drawing/2014/main" id="{B8E4D8D1-596D-4E73-AB63-69DC55A6E72D}"/>
              </a:ext>
            </a:extLst>
          </p:cNvPr>
          <p:cNvSpPr>
            <a:spLocks xmlns:a="http://schemas.openxmlformats.org/drawingml/2006/main" noGrp="1"/>
          </p:cNvSpPr>
          <p:nvPr/>
        </p:nvSpPr>
        <p:spPr>
          <a:xfrm xmlns:a="http://schemas.openxmlformats.org/drawingml/2006/main">
            <a:off x="609600" y="3238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BUILDING STRONGER ACCOUNTABILITY</a:t>
            </a:r>
          </a:p>
        </p:txBody>
      </p:sp>
      <p:sp>
        <p:nvSpPr>
          <p:cNvPr id="2" name="text-41">
            <a:extLst xmlns:a="http://schemas.openxmlformats.org/drawingml/2006/main">
              <a:ext uri="{FF2B5EF4-FFF2-40B4-BE49-F238E27FC236}">
                <a16:creationId xmlns:a16="http://schemas.microsoft.com/office/drawing/2014/main" id="{C29F7A66-351B-4143-B5D6-6071BCE3F2A4}"/>
              </a:ext>
            </a:extLst>
          </p:cNvPr>
          <p:cNvSpPr>
            <a:spLocks xmlns:a="http://schemas.openxmlformats.org/drawingml/2006/main" noGrp="1"/>
          </p:cNvSpPr>
          <p:nvPr/>
        </p:nvSpPr>
        <p:spPr>
          <a:xfrm xmlns:a="http://schemas.openxmlformats.org/drawingml/2006/main">
            <a:off x="609600" y="819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83C2F"/>
                </a:solidFill>
                <a:latin typeface="Arial"/>
                <a:ea typeface="Arial"/>
                <a:cs typeface="Arial"/>
              </a:defRPr>
            </a:defPPr>
          </a:lstStyle>
          <a:p xmlns:a="http://schemas.openxmlformats.org/drawingml/2006/main">
            <a:pPr algn="l">
              <a:defRPr sz="3450" b="1">
                <a:solidFill>
                  <a:srgbClr val="183C2F"/>
                </a:solidFill>
                <a:latin typeface="Arial"/>
                <a:ea typeface="Arial"/>
                <a:cs typeface="Arial"/>
              </a:defRPr>
            </a:pPr>
            <a:r>
              <a:rPr sz="3450" b="1">
                <a:solidFill>
                  <a:srgbClr val="183C2F"/>
                </a:solidFill>
                <a:latin typeface="Arial"/>
                <a:ea typeface="Arial"/>
                <a:cs typeface="Arial"/>
              </a:rPr>
              <a:t>Future scope</a:t>
            </a:r>
          </a:p>
        </p:txBody>
      </p:sp>
      <p:sp>
        <p:nvSpPr>
          <p:cNvPr id="3" name="frame-42">
            <a:extLst xmlns:a="http://schemas.openxmlformats.org/drawingml/2006/main">
              <a:ext uri="{FF2B5EF4-FFF2-40B4-BE49-F238E27FC236}">
                <a16:creationId xmlns:a16="http://schemas.microsoft.com/office/drawing/2014/main" id="{A304530D-4F64-48C9-B15D-401547CE286C}"/>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43">
            <a:extLst xmlns:a="http://schemas.openxmlformats.org/drawingml/2006/main">
              <a:ext uri="{FF2B5EF4-FFF2-40B4-BE49-F238E27FC236}">
                <a16:creationId xmlns:a16="http://schemas.microsoft.com/office/drawing/2014/main" id="{890CCBDB-C83D-4A8E-9807-CEC407739C59}"/>
              </a:ext>
            </a:extLst>
          </p:cNvPr>
          <p:cNvSpPr>
            <a:spLocks xmlns:a="http://schemas.openxmlformats.org/drawingml/2006/main" noGrp="1"/>
          </p:cNvSpPr>
          <p:nvPr/>
        </p:nvSpPr>
        <p:spPr>
          <a:xfrm xmlns:a="http://schemas.openxmlformats.org/drawingml/2006/main">
            <a:off x="609600" y="64960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44">
            <a:extLst xmlns:a="http://schemas.openxmlformats.org/drawingml/2006/main">
              <a:ext uri="{FF2B5EF4-FFF2-40B4-BE49-F238E27FC236}">
                <a16:creationId xmlns:a16="http://schemas.microsoft.com/office/drawing/2014/main" id="{6C3ADA94-5C2F-4D62-ABFC-5C8E0E3E787B}"/>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04</a:t>
            </a:r>
          </a:p>
        </p:txBody>
      </p:sp>
      <p:sp>
        <p:nvSpPr>
          <p:cNvPr id="6" name="text-45">
            <a:extLst xmlns:a="http://schemas.openxmlformats.org/drawingml/2006/main">
              <a:ext uri="{FF2B5EF4-FFF2-40B4-BE49-F238E27FC236}">
                <a16:creationId xmlns:a16="http://schemas.microsoft.com/office/drawing/2014/main" id="{482A1AEF-4128-470B-847F-7E64B9F88F55}"/>
              </a:ext>
            </a:extLst>
          </p:cNvPr>
          <p:cNvSpPr>
            <a:spLocks xmlns:a="http://schemas.openxmlformats.org/drawingml/2006/main" noGrp="1"/>
          </p:cNvSpPr>
          <p:nvPr/>
        </p:nvSpPr>
        <p:spPr>
          <a:xfrm xmlns:a="http://schemas.openxmlformats.org/drawingml/2006/main">
            <a:off x="609600" y="1924050"/>
            <a:ext cx="37433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9784B"/>
                </a:solidFill>
                <a:latin typeface="Arial"/>
                <a:ea typeface="Arial"/>
                <a:cs typeface="Arial"/>
              </a:defRPr>
            </a:defPPr>
          </a:lstStyle>
          <a:p xmlns:a="http://schemas.openxmlformats.org/drawingml/2006/main">
            <a:pPr algn="l">
              <a:defRPr sz="2025" b="1">
                <a:solidFill>
                  <a:srgbClr val="29784B"/>
                </a:solidFill>
                <a:latin typeface="Arial"/>
                <a:ea typeface="Arial"/>
                <a:cs typeface="Arial"/>
              </a:defRPr>
            </a:pPr>
            <a:r>
              <a:rPr sz="2025" b="1">
                <a:solidFill>
                  <a:srgbClr val="29784B"/>
                </a:solidFill>
                <a:latin typeface="Arial"/>
                <a:ea typeface="Arial"/>
                <a:cs typeface="Arial"/>
              </a:rPr>
              <a:t>Email status tracking</a:t>
            </a:r>
          </a:p>
        </p:txBody>
      </p:sp>
      <p:sp>
        <p:nvSpPr>
          <p:cNvPr id="7" name="text-46">
            <a:extLst xmlns:a="http://schemas.openxmlformats.org/drawingml/2006/main">
              <a:ext uri="{FF2B5EF4-FFF2-40B4-BE49-F238E27FC236}">
                <a16:creationId xmlns:a16="http://schemas.microsoft.com/office/drawing/2014/main" id="{641455FE-474E-4FEE-AA9C-B55BA1527BB0}"/>
              </a:ext>
            </a:extLst>
          </p:cNvPr>
          <p:cNvSpPr>
            <a:spLocks xmlns:a="http://schemas.openxmlformats.org/drawingml/2006/main" noGrp="1"/>
          </p:cNvSpPr>
          <p:nvPr/>
        </p:nvSpPr>
        <p:spPr>
          <a:xfrm xmlns:a="http://schemas.openxmlformats.org/drawingml/2006/main">
            <a:off x="4829175" y="1924050"/>
            <a:ext cx="66770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5C"/>
                </a:solidFill>
                <a:latin typeface="Arial"/>
                <a:ea typeface="Arial"/>
                <a:cs typeface="Arial"/>
              </a:defRPr>
            </a:defPPr>
          </a:lstStyle>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With permission, match complaint replies</a:t>
            </a:r>
          </a:p>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and suggest status updates.</a:t>
            </a:r>
          </a:p>
        </p:txBody>
      </p:sp>
      <p:sp>
        <p:nvSpPr>
          <p:cNvPr id="8" name="text-47">
            <a:extLst xmlns:a="http://schemas.openxmlformats.org/drawingml/2006/main">
              <a:ext uri="{FF2B5EF4-FFF2-40B4-BE49-F238E27FC236}">
                <a16:creationId xmlns:a16="http://schemas.microsoft.com/office/drawing/2014/main" id="{66B62564-D545-4BE8-A7C2-FAAA3FA6DCA4}"/>
              </a:ext>
            </a:extLst>
          </p:cNvPr>
          <p:cNvSpPr>
            <a:spLocks xmlns:a="http://schemas.openxmlformats.org/drawingml/2006/main" noGrp="1"/>
          </p:cNvSpPr>
          <p:nvPr/>
        </p:nvSpPr>
        <p:spPr>
          <a:xfrm xmlns:a="http://schemas.openxmlformats.org/drawingml/2006/main">
            <a:off x="609600" y="2819400"/>
            <a:ext cx="37433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9784B"/>
                </a:solidFill>
                <a:latin typeface="Arial"/>
                <a:ea typeface="Arial"/>
                <a:cs typeface="Arial"/>
              </a:defRPr>
            </a:defPPr>
          </a:lstStyle>
          <a:p xmlns:a="http://schemas.openxmlformats.org/drawingml/2006/main">
            <a:pPr algn="l">
              <a:defRPr sz="2025" b="1">
                <a:solidFill>
                  <a:srgbClr val="29784B"/>
                </a:solidFill>
                <a:latin typeface="Arial"/>
                <a:ea typeface="Arial"/>
                <a:cs typeface="Arial"/>
              </a:defRPr>
            </a:pPr>
            <a:r>
              <a:rPr sz="2025" b="1">
                <a:solidFill>
                  <a:srgbClr val="29784B"/>
                </a:solidFill>
                <a:latin typeface="Arial"/>
                <a:ea typeface="Arial"/>
                <a:cs typeface="Arial"/>
              </a:rPr>
              <a:t>Specialised ML models</a:t>
            </a:r>
          </a:p>
        </p:txBody>
      </p:sp>
      <p:sp>
        <p:nvSpPr>
          <p:cNvPr id="9" name="text-48">
            <a:extLst xmlns:a="http://schemas.openxmlformats.org/drawingml/2006/main">
              <a:ext uri="{FF2B5EF4-FFF2-40B4-BE49-F238E27FC236}">
                <a16:creationId xmlns:a16="http://schemas.microsoft.com/office/drawing/2014/main" id="{1F2A2C89-F875-477A-AE01-D1FEEA46987D}"/>
              </a:ext>
            </a:extLst>
          </p:cNvPr>
          <p:cNvSpPr>
            <a:spLocks xmlns:a="http://schemas.openxmlformats.org/drawingml/2006/main" noGrp="1"/>
          </p:cNvSpPr>
          <p:nvPr/>
        </p:nvSpPr>
        <p:spPr>
          <a:xfrm xmlns:a="http://schemas.openxmlformats.org/drawingml/2006/main">
            <a:off x="4829175" y="2819400"/>
            <a:ext cx="66770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5C"/>
                </a:solidFill>
                <a:latin typeface="Arial"/>
                <a:ea typeface="Arial"/>
                <a:cs typeface="Arial"/>
              </a:defRPr>
            </a:defPPr>
          </a:lstStyle>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Train on consented, reviewed and labelled evidence</a:t>
            </a:r>
          </a:p>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to improve accuracy for local civic issues.</a:t>
            </a:r>
          </a:p>
        </p:txBody>
      </p:sp>
      <p:sp>
        <p:nvSpPr>
          <p:cNvPr id="10" name="text-49">
            <a:extLst xmlns:a="http://schemas.openxmlformats.org/drawingml/2006/main">
              <a:ext uri="{FF2B5EF4-FFF2-40B4-BE49-F238E27FC236}">
                <a16:creationId xmlns:a16="http://schemas.microsoft.com/office/drawing/2014/main" id="{2A18DAD5-01CF-4C06-9040-2F12DE634968}"/>
              </a:ext>
            </a:extLst>
          </p:cNvPr>
          <p:cNvSpPr>
            <a:spLocks xmlns:a="http://schemas.openxmlformats.org/drawingml/2006/main" noGrp="1"/>
          </p:cNvSpPr>
          <p:nvPr/>
        </p:nvSpPr>
        <p:spPr>
          <a:xfrm xmlns:a="http://schemas.openxmlformats.org/drawingml/2006/main">
            <a:off x="609600" y="3714750"/>
            <a:ext cx="37433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9784B"/>
                </a:solidFill>
                <a:latin typeface="Arial"/>
                <a:ea typeface="Arial"/>
                <a:cs typeface="Arial"/>
              </a:defRPr>
            </a:defPPr>
          </a:lstStyle>
          <a:p xmlns:a="http://schemas.openxmlformats.org/drawingml/2006/main">
            <a:pPr algn="l">
              <a:defRPr sz="2025" b="1">
                <a:solidFill>
                  <a:srgbClr val="29784B"/>
                </a:solidFill>
                <a:latin typeface="Arial"/>
                <a:ea typeface="Arial"/>
                <a:cs typeface="Arial"/>
              </a:defRPr>
            </a:pPr>
            <a:r>
              <a:rPr sz="2025" b="1">
                <a:solidFill>
                  <a:srgbClr val="29784B"/>
                </a:solidFill>
                <a:latin typeface="Arial"/>
                <a:ea typeface="Arial"/>
                <a:cs typeface="Arial"/>
              </a:rPr>
              <a:t>Patterns and analytics</a:t>
            </a:r>
          </a:p>
        </p:txBody>
      </p:sp>
      <p:sp>
        <p:nvSpPr>
          <p:cNvPr id="11" name="text-50">
            <a:extLst xmlns:a="http://schemas.openxmlformats.org/drawingml/2006/main">
              <a:ext uri="{FF2B5EF4-FFF2-40B4-BE49-F238E27FC236}">
                <a16:creationId xmlns:a16="http://schemas.microsoft.com/office/drawing/2014/main" id="{4BFB8F86-3833-47B3-91F4-3C1A2F101FC7}"/>
              </a:ext>
            </a:extLst>
          </p:cNvPr>
          <p:cNvSpPr>
            <a:spLocks xmlns:a="http://schemas.openxmlformats.org/drawingml/2006/main" noGrp="1"/>
          </p:cNvSpPr>
          <p:nvPr/>
        </p:nvSpPr>
        <p:spPr>
          <a:xfrm xmlns:a="http://schemas.openxmlformats.org/drawingml/2006/main">
            <a:off x="4829175" y="3714750"/>
            <a:ext cx="66770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5C"/>
                </a:solidFill>
                <a:latin typeface="Arial"/>
                <a:ea typeface="Arial"/>
                <a:cs typeface="Arial"/>
              </a:defRPr>
            </a:defPPr>
          </a:lstStyle>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Find recurring hotspots, repeated complaints</a:t>
            </a:r>
          </a:p>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and resolution trends.</a:t>
            </a:r>
          </a:p>
        </p:txBody>
      </p:sp>
      <p:sp>
        <p:nvSpPr>
          <p:cNvPr id="12" name="text-51">
            <a:extLst xmlns:a="http://schemas.openxmlformats.org/drawingml/2006/main">
              <a:ext uri="{FF2B5EF4-FFF2-40B4-BE49-F238E27FC236}">
                <a16:creationId xmlns:a16="http://schemas.microsoft.com/office/drawing/2014/main" id="{4B5C8A49-CCDD-45F1-8314-41B95ED37DED}"/>
              </a:ext>
            </a:extLst>
          </p:cNvPr>
          <p:cNvSpPr>
            <a:spLocks xmlns:a="http://schemas.openxmlformats.org/drawingml/2006/main" noGrp="1"/>
          </p:cNvSpPr>
          <p:nvPr/>
        </p:nvSpPr>
        <p:spPr>
          <a:xfrm xmlns:a="http://schemas.openxmlformats.org/drawingml/2006/main">
            <a:off x="609600" y="4610100"/>
            <a:ext cx="37433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9784B"/>
                </a:solidFill>
                <a:latin typeface="Arial"/>
                <a:ea typeface="Arial"/>
                <a:cs typeface="Arial"/>
              </a:defRPr>
            </a:defPPr>
          </a:lstStyle>
          <a:p xmlns:a="http://schemas.openxmlformats.org/drawingml/2006/main">
            <a:pPr algn="l">
              <a:defRPr sz="2025" b="1">
                <a:solidFill>
                  <a:srgbClr val="29784B"/>
                </a:solidFill>
                <a:latin typeface="Arial"/>
                <a:ea typeface="Arial"/>
                <a:cs typeface="Arial"/>
              </a:defRPr>
            </a:pPr>
            <a:r>
              <a:rPr sz="2025" b="1">
                <a:solidFill>
                  <a:srgbClr val="29784B"/>
                </a:solidFill>
                <a:latin typeface="Arial"/>
                <a:ea typeface="Arial"/>
                <a:cs typeface="Arial"/>
              </a:rPr>
              <a:t>Ward officer visibility</a:t>
            </a:r>
          </a:p>
        </p:txBody>
      </p:sp>
      <p:sp>
        <p:nvSpPr>
          <p:cNvPr id="13" name="text-52">
            <a:extLst xmlns:a="http://schemas.openxmlformats.org/drawingml/2006/main">
              <a:ext uri="{FF2B5EF4-FFF2-40B4-BE49-F238E27FC236}">
                <a16:creationId xmlns:a16="http://schemas.microsoft.com/office/drawing/2014/main" id="{388BFB3C-355F-4F4D-BD76-A3BE6EEF8F59}"/>
              </a:ext>
            </a:extLst>
          </p:cNvPr>
          <p:cNvSpPr>
            <a:spLocks xmlns:a="http://schemas.openxmlformats.org/drawingml/2006/main" noGrp="1"/>
          </p:cNvSpPr>
          <p:nvPr/>
        </p:nvSpPr>
        <p:spPr>
          <a:xfrm xmlns:a="http://schemas.openxmlformats.org/drawingml/2006/main">
            <a:off x="4829175" y="4610100"/>
            <a:ext cx="66770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5C"/>
                </a:solidFill>
                <a:latin typeface="Arial"/>
                <a:ea typeface="Arial"/>
                <a:cs typeface="Arial"/>
              </a:defRPr>
            </a:defPPr>
          </a:lstStyle>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Link verified ward boundaries and officer contacts</a:t>
            </a:r>
          </a:p>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to complaints on the public map.</a:t>
            </a:r>
          </a:p>
        </p:txBody>
      </p:sp>
      <p:sp>
        <p:nvSpPr>
          <p:cNvPr id="14" name="text-53">
            <a:extLst xmlns:a="http://schemas.openxmlformats.org/drawingml/2006/main">
              <a:ext uri="{FF2B5EF4-FFF2-40B4-BE49-F238E27FC236}">
                <a16:creationId xmlns:a16="http://schemas.microsoft.com/office/drawing/2014/main" id="{D7BAC7D2-2228-4F45-8E12-2F1A6A94C872}"/>
              </a:ext>
            </a:extLst>
          </p:cNvPr>
          <p:cNvSpPr>
            <a:spLocks xmlns:a="http://schemas.openxmlformats.org/drawingml/2006/main" noGrp="1"/>
          </p:cNvSpPr>
          <p:nvPr/>
        </p:nvSpPr>
        <p:spPr>
          <a:xfrm xmlns:a="http://schemas.openxmlformats.org/drawingml/2006/main">
            <a:off x="609600" y="56197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3C2F"/>
                </a:solidFill>
                <a:latin typeface="Arial"/>
                <a:ea typeface="Arial"/>
                <a:cs typeface="Arial"/>
              </a:defRPr>
            </a:defPPr>
          </a:lstStyle>
          <a:p xmlns:a="http://schemas.openxmlformats.org/drawingml/2006/main">
            <a:pPr algn="l">
              <a:defRPr sz="2175" b="1">
                <a:solidFill>
                  <a:srgbClr val="183C2F"/>
                </a:solidFill>
                <a:latin typeface="Arial"/>
                <a:ea typeface="Arial"/>
                <a:cs typeface="Arial"/>
              </a:defRPr>
            </a:pPr>
            <a:r>
              <a:rPr sz="2175" b="1">
                <a:solidFill>
                  <a:srgbClr val="183C2F"/>
                </a:solidFill>
                <a:latin typeface="Arial"/>
                <a:ea typeface="Arial"/>
                <a:cs typeface="Arial"/>
              </a:rPr>
              <a:t>Fast complaints. Evidence citizens can use.</a:t>
            </a:r>
          </a:p>
          <a:p xmlns:a="http://schemas.openxmlformats.org/drawingml/2006/main">
            <a:pPr algn="l">
              <a:defRPr sz="2175" b="1">
                <a:solidFill>
                  <a:srgbClr val="183C2F"/>
                </a:solidFill>
                <a:latin typeface="Arial"/>
                <a:ea typeface="Arial"/>
                <a:cs typeface="Arial"/>
              </a:defRPr>
            </a:pPr>
            <a:r>
              <a:rPr sz="2175" b="1">
                <a:solidFill>
                  <a:srgbClr val="183C2F"/>
                </a:solidFill>
                <a:latin typeface="Arial"/>
                <a:ea typeface="Arial"/>
                <a:cs typeface="Arial"/>
              </a:rPr>
              <a:t>Accountability everyone can see.</a:t>
            </a:r>
          </a:p>
        </p:txBody>
      </p:sp>
    </p:spTree>
    <p:extLst>
      <p:ext uri="{BB962C8B-B14F-4D97-AF65-F5344CB8AC3E}">
        <p14:creationId xmlns:p14="http://schemas.microsoft.com/office/powerpoint/2010/main" val="18478954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2026-10-11T09:42:55.2210000Z</dcterms:created>
  <dcterms:modified xsi:type="dcterms:W3CDTF">2026-10-11T09:42:55.2210000Z</dcterms:modified>
</coreProperties>
</file>