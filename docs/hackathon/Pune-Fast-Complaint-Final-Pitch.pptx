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94343b639cb4fc6" /><Relationship Type="http://schemas.openxmlformats.org/officeDocument/2006/relationships/extended-properties" Target="/docProps/app.xml" Id="Rbecc49cfd8ba4503" /><Relationship Type="http://schemas.openxmlformats.org/officeDocument/2006/relationships/officeDocument" Target="/ppt/presentation.xml" Id="R5d300b211c4a48ae" /></Relationships>
</file>

<file path=ppt/presentation.xml><?xml version="1.0" encoding="utf-8"?>
<p:presentation xmlns:p="http://schemas.openxmlformats.org/presentationml/2006/main">
  <p:sldMasterIdLst>
    <p:sldMasterId xmlns:r="http://schemas.openxmlformats.org/officeDocument/2006/relationships" id="2147483648" r:id="Rc380f6c00bef4f32"/>
  </p:sldMasterIdLst>
  <p:notesMasterIdLst>
    <p:notesMasterId xmlns:r="http://schemas.openxmlformats.org/officeDocument/2006/relationships" r:id="R0444e47782334882"/>
  </p:notesMasterIdLst>
  <p:sldIdLst>
    <p:sldId xmlns:r="http://schemas.openxmlformats.org/officeDocument/2006/relationships" id="256" r:id="R4d8ee876f8ed40cd"/>
    <p:sldId xmlns:r="http://schemas.openxmlformats.org/officeDocument/2006/relationships" id="257" r:id="Rf6ddacd5a4d74d1d"/>
    <p:sldId xmlns:r="http://schemas.openxmlformats.org/officeDocument/2006/relationships" id="258" r:id="R9e560ec28dda4137"/>
    <p:sldId xmlns:r="http://schemas.openxmlformats.org/officeDocument/2006/relationships" id="259" r:id="R8930c0bebf37496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29065e911d84ac9" /><Relationship Type="http://schemas.openxmlformats.org/officeDocument/2006/relationships/slideMaster" Target="/ppt/slideMasters/slideMaster1.xml" Id="Rc380f6c00bef4f32" /><Relationship Type="http://schemas.openxmlformats.org/officeDocument/2006/relationships/notesMaster" Target="/ppt/notesMasters/notesMaster1.xml" Id="R0444e47782334882" /><Relationship Type="http://schemas.openxmlformats.org/officeDocument/2006/relationships/presProps" Target="/ppt/presProps.xml" Id="Rbb13203205c442af" /><Relationship Type="http://schemas.openxmlformats.org/officeDocument/2006/relationships/tableStyles" Target="/ppt/tableStyles.xml" Id="R38541a4a26bd4abc" /><Relationship Type="http://schemas.openxmlformats.org/officeDocument/2006/relationships/slide" Target="/ppt/slides/slide1.xml" Id="R4d8ee876f8ed40cd" /><Relationship Type="http://schemas.openxmlformats.org/officeDocument/2006/relationships/slide" Target="/ppt/slides/slide2.xml" Id="Rf6ddacd5a4d74d1d" /><Relationship Type="http://schemas.openxmlformats.org/officeDocument/2006/relationships/slide" Target="/ppt/slides/slide3.xml" Id="R9e560ec28dda4137" /><Relationship Type="http://schemas.openxmlformats.org/officeDocument/2006/relationships/slide" Target="/ppt/slides/slide4.xml" Id="R8930c0bebf37496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853f26d8fa423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fe05dbfa864686" /><Relationship Type="http://schemas.openxmlformats.org/officeDocument/2006/relationships/notesMaster" Target="/ppt/notesMasters/notesMaster1.xml" Id="R2fe3bce98d1d47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8accb110b74c73" /><Relationship Type="http://schemas.openxmlformats.org/officeDocument/2006/relationships/notesMaster" Target="/ppt/notesMasters/notesMaster1.xml" Id="R817f1e17486b4131"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6193e31b7040f8" /><Relationship Type="http://schemas.openxmlformats.org/officeDocument/2006/relationships/notesMaster" Target="/ppt/notesMasters/notesMaster1.xml" Id="R72c51a5a948b4e55" /></Relationships>
</file>

<file path=ppt/notesSlides/_rels/notesSlide4.xml.rels>&#65279;<?xml version="1.0" encoding="utf-8"?><Relationships xmlns="http://schemas.openxmlformats.org/package/2006/relationships"><Relationship Type="http://schemas.openxmlformats.org/officeDocument/2006/relationships/slide" Target="/ppt/slides/slide4.xml" Id="Rac06e9295eb54d25" /><Relationship Type="http://schemas.openxmlformats.org/officeDocument/2006/relationships/notesMaster" Target="/ppt/notesMasters/notesMaster1.xml" Id="R4c2db60d3ca34a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0:00–0:25 (25 seconds).</a:t>
            </a:r>
          </a:p>
          <a:p xmlns:a="http://schemas.openxmlformats.org/drawingml/2006/main">
            <a:r>
              <a:t/>
            </a:r>
          </a:p>
          <a:p xmlns:a="http://schemas.openxmlformats.org/drawingml/2006/main">
            <a:r>
              <a:t>SCRIPT:</a:t>
            </a:r>
          </a:p>
          <a:p xmlns:a="http://schemas.openxmlformats.org/drawingml/2006/main">
            <a:r>
              <a:t>Citizens notice civic problems every day. But reporting takes effort, and when nothing changes, they often lack a clear evidence record to support escalation. Pune Fast Complaint connects quick reporting with evidence collection and public accountability.</a:t>
            </a:r>
          </a:p>
          <a:p xmlns:a="http://schemas.openxmlformats.org/drawingml/2006/main">
            <a:r>
              <a:t/>
            </a:r>
          </a:p>
          <a:p xmlns:a="http://schemas.openxmlformats.org/drawingml/2006/main">
            <a:r>
              <a:t>SOURCE: Problem framing and brand supplied by the project team. Logo: mobile/assets/images/civic-logo.png. No adoption or measured speed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0:25–1:00 (35 seconds).</a:t>
            </a:r>
          </a:p>
          <a:p xmlns:a="http://schemas.openxmlformats.org/drawingml/2006/main">
            <a:r>
              <a:t/>
            </a:r>
          </a:p>
          <a:p xmlns:a="http://schemas.openxmlformats.org/drawingml/2006/main">
            <a:r>
              <a:t>SCRIPT:</a:t>
            </a:r>
          </a:p>
          <a:p xmlns:a="http://schemas.openxmlformats.org/drawingml/2006/main">
            <a:r>
              <a:t>Our platform has three pillars. Fast filing gets a concern reported with less effort. Evidence gives it substance: photographs, recordings, location and time help build a record that can support escalation and potential court proceedings. Public visibility supports follow-up and accountability. Let me show you how these work together.</a:t>
            </a:r>
          </a:p>
          <a:p xmlns:a="http://schemas.openxmlformats.org/drawingml/2006/main">
            <a:r>
              <a:t/>
            </a:r>
          </a:p>
          <a:p xmlns:a="http://schemas.openxmlformats.org/drawingml/2006/main">
            <a:r>
              <a:t>AT EXACTLY 1:00: SWITCH TO THE APP. No slides during the demo. Stay in the app until 3:30.</a:t>
            </a:r>
          </a:p>
          <a:p xmlns:a="http://schemas.openxmlformats.org/drawingml/2006/main">
            <a:r>
              <a:t/>
            </a:r>
          </a:p>
          <a:p xmlns:a="http://schemas.openxmlformats.org/drawingml/2006/main">
            <a:r>
              <a:t>DEMO, 1:00–3:30:</a:t>
            </a:r>
          </a:p>
          <a:p xmlns:a="http://schemas.openxmlformats.org/drawingml/2006/main">
            <a:r>
              <a:t>First 30 seconds: show Roads categories (potholes, open manholes/drains, blocked footpaths), Garbage categories (waste dumps, waste burning), and Noise categories (loudspeaker/DJ systems, night-time disturbance).</a:t>
            </a:r>
          </a:p>
          <a:p xmlns:a="http://schemas.openxmlformats.org/drawingml/2006/main">
            <a:r>
              <a:t>Remaining 2 minutes: complete Trees flow. Select concern. Upload prepared overall and close-up photos. Show AI observations. Confirm an additional issue only if detected. Review/edit the draft. Open email or WhatsApp. Return to the public map focused on the saved complaint.</a:t>
            </a:r>
          </a:p>
          <a:p xmlns:a="http://schemas.openxmlformats.org/drawingml/2006/main">
            <a:r>
              <a:t>Opening a composer does not prove sending, delivery or official receipt. Keep a previously generated draft available if provider response delays the demo.</a:t>
            </a:r>
          </a:p>
          <a:p xmlns:a="http://schemas.openxmlformats.org/drawingml/2006/main">
            <a:r>
              <a:t>At 3:30 return to slide 3.</a:t>
            </a:r>
          </a:p>
          <a:p xmlns:a="http://schemas.openxmlformats.org/drawingml/2006/main">
            <a:r>
              <a:t/>
            </a:r>
          </a:p>
          <a:p xmlns:a="http://schemas.openxmlformats.org/drawingml/2006/main">
            <a:r>
              <a:t>SOURCES: mobile/src/data/civic.ts, complaint screens, server/src/lib/ai.ts, and MapComponent.tsx. Under 60 seconds is a design target, not a measured benchmark. Court admissibility is not guaranteed.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3:30–4:00 (30 seconds), immediately after returning from the app demo.</a:t>
            </a:r>
          </a:p>
          <a:p xmlns:a="http://schemas.openxmlformats.org/drawingml/2006/main">
            <a:r>
              <a:t/>
            </a:r>
          </a:p>
          <a:p xmlns:a="http://schemas.openxmlformats.org/drawingml/2006/main">
            <a:r>
              <a:t>SCRIPT:</a:t>
            </a:r>
          </a:p>
          <a:p xmlns:a="http://schemas.openxmlformats.org/drawingml/2006/main">
            <a:r>
              <a:t>What you just saw is the citizen journey. Filing creates a documented complaint. The public map gives it visibility. For supported cases, a follow-up photograph helps show whether the physical problem changed. If it remains unresolved, the citizen has an organised record to support further escalation.</a:t>
            </a:r>
          </a:p>
          <a:p xmlns:a="http://schemas.openxmlformats.org/drawingml/2006/main">
            <a:r>
              <a:t/>
            </a:r>
          </a:p>
          <a:p xmlns:a="http://schemas.openxmlformats.org/drawingml/2006/main">
            <a:r>
              <a:t>SOURCE: useComplaintFlow.ts, complaint screens, server complaint and verification handlers. Follow-up photo verification applies only to supported cases. These records do not prove official acknowledgement or legal liability. This is a user-flow architecture diagram, deliberately without the technology stack.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4:00–4:40 for future scope, 4:40–5:00 for closing.</a:t>
            </a:r>
          </a:p>
          <a:p xmlns:a="http://schemas.openxmlformats.org/drawingml/2006/main">
            <a:r>
              <a:t/>
            </a:r>
          </a:p>
          <a:p xmlns:a="http://schemas.openxmlformats.org/drawingml/2006/main">
            <a:r>
              <a:t>FUTURE SCOPE SCRIPT:</a:t>
            </a:r>
          </a:p>
          <a:p xmlns:a="http://schemas.openxmlformats.org/drawingml/2006/main">
            <a:r>
              <a:t>Today, follow-up still depends on the citizen. Our next step is optional email access that matches replies to complaints and suggests status updates. With consented and labelled data, we want specialised models that better recognise local civic issues. Analytics can reveal recurring hotspots and resolution patterns. Verified ward officer information on the map can make responsibility clearer.</a:t>
            </a:r>
          </a:p>
          <a:p xmlns:a="http://schemas.openxmlformats.org/drawingml/2006/main">
            <a:r>
              <a:t/>
            </a:r>
          </a:p>
          <a:p xmlns:a="http://schemas.openxmlformats.org/drawingml/2006/main">
            <a:r>
              <a:t>CLOSING SCRIPT:</a:t>
            </a:r>
          </a:p>
          <a:p xmlns:a="http://schemas.openxmlformats.org/drawingml/2006/main">
            <a:r>
              <a:t>Our goal is to make reporting fast, evidence useful and accountability visible. Pune Fast Complaint gives citizens a practical way to turn a local concern into a documented request for action. Thank you.</a:t>
            </a:r>
          </a:p>
          <a:p xmlns:a="http://schemas.openxmlformats.org/drawingml/2006/main">
            <a:r>
              <a:t/>
            </a:r>
          </a:p>
          <a:p xmlns:a="http://schemas.openxmlformats.org/drawingml/2006/main">
            <a:r>
              <a:t>SOURCE: Roadmap proposed by the project team. All four items are future scope. These are not claims of existing email integration, custom model training, advanced analytics or verified ward officer mapping. Training would require consent, privacy protections and reliable labels. Performance improvement is an objective, not a demonstrated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80bc33e7b1b4ff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080b311ebc34e5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a25f53eb9004c3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3b387f7ac6342d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756b40666dd4c4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9166f243d3f4ec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6D6564-158B-4584-9C5E-F3FC5274EDB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CDD4693-24C1-44D1-93B3-94FB92B12E0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61D9B0E-852D-435B-97CA-5088E37081F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16EA64-6E57-4E4D-9C34-9D2F2C0FB0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83A48FF-7EE9-4542-8F64-0BCD59FB29A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72B2DFE-8C4E-4163-961B-10953ACBDCC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3DBC81D-28C0-435E-9209-FFA560D5A7D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7153A15-CA90-4E71-81FF-1D94AAF626A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EEDC28-3343-4A7F-AD1D-F13FBE2E66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F2A172E-085D-4A69-8BBD-92FCFFBE22D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2a375610cb495d" /><Relationship Type="http://schemas.openxmlformats.org/officeDocument/2006/relationships/slideLayout" Target="/ppt/slideLayouts/slideLayout1.xml" Id="Rb93f4d5da3884d22" /><Relationship Type="http://schemas.openxmlformats.org/officeDocument/2006/relationships/slideLayout" Target="/ppt/slideLayouts/slideLayout2.xml" Id="R043796945c234a5d" /><Relationship Type="http://schemas.openxmlformats.org/officeDocument/2006/relationships/slideLayout" Target="/ppt/slideLayouts/slideLayout3.xml" Id="R0403814f827f4698" /><Relationship Type="http://schemas.openxmlformats.org/officeDocument/2006/relationships/slideLayout" Target="/ppt/slideLayouts/slideLayout4.xml" Id="R419f886d411342ff" /><Relationship Type="http://schemas.openxmlformats.org/officeDocument/2006/relationships/slideLayout" Target="/ppt/slideLayouts/slideLayout5.xml" Id="R36aef603897043a0" /><Relationship Type="http://schemas.openxmlformats.org/officeDocument/2006/relationships/slideLayout" Target="/ppt/slideLayouts/slideLayout6.xml" Id="R3acf40224b6145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93f4d5da3884d22"/>
    <p:sldLayoutId xmlns:r="http://schemas.openxmlformats.org/officeDocument/2006/relationships" id="2147483650" r:id="R043796945c234a5d"/>
    <p:sldLayoutId xmlns:r="http://schemas.openxmlformats.org/officeDocument/2006/relationships" id="2147483651" r:id="R0403814f827f4698"/>
    <p:sldLayoutId xmlns:r="http://schemas.openxmlformats.org/officeDocument/2006/relationships" id="2147483652" r:id="R419f886d411342ff"/>
    <p:sldLayoutId xmlns:r="http://schemas.openxmlformats.org/officeDocument/2006/relationships" id="2147483653" r:id="R36aef603897043a0"/>
    <p:sldLayoutId xmlns:r="http://schemas.openxmlformats.org/officeDocument/2006/relationships" id="2147483654" r:id="R3acf40224b6145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14665ac86744880" /><Relationship Type="http://schemas.openxmlformats.org/officeDocument/2006/relationships/image" Target="/ppt/media/image.png" Id="Rbfae9288971a467d" /><Relationship Type="http://schemas.openxmlformats.org/officeDocument/2006/relationships/notesSlide" Target="/ppt/notesSlides/notesSlide1.xml" Id="R30cb5367dab04eb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87697bd7b4b42e4" /><Relationship Type="http://schemas.openxmlformats.org/officeDocument/2006/relationships/notesSlide" Target="/ppt/notesSlides/notesSlide2.xml" Id="Ra803dde90ad442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47cc160b95645c1" /><Relationship Type="http://schemas.openxmlformats.org/officeDocument/2006/relationships/notesSlide" Target="/ppt/notesSlides/notesSlide3.xml" Id="R89ff6729e9ae4d0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55ed9e1e5fd40e1" /><Relationship Type="http://schemas.openxmlformats.org/officeDocument/2006/relationships/notesSlide" Target="/ppt/notesSlides/notesSlide4.xml" Id="Rbd31c205791c4fd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1">
            <a:extLst xmlns:a="http://schemas.openxmlformats.org/drawingml/2006/main">
              <a:ext uri="{FF2B5EF4-FFF2-40B4-BE49-F238E27FC236}">
                <a16:creationId xmlns:a16="http://schemas.microsoft.com/office/drawing/2014/main" id="{D4E628D8-D145-4553-80D0-BC60B3410F3D}"/>
              </a:ext>
            </a:extLst>
          </p:cNvPr>
          <p:cNvSpPr>
            <a:spLocks xmlns:a="http://schemas.openxmlformats.org/drawingml/2006/main" noGrp="1"/>
          </p:cNvSpPr>
          <p:nvPr/>
        </p:nvSpPr>
        <p:spPr>
          <a:xfrm xmlns:a="http://schemas.openxmlformats.org/drawingml/2006/main">
            <a:off x="609600" y="41910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29784B"/>
                </a:solidFill>
                <a:latin typeface="Arial"/>
                <a:ea typeface="Arial"/>
                <a:cs typeface="Arial"/>
              </a:defRPr>
            </a:defPPr>
          </a:lstStyle>
          <a:p xmlns:a="http://schemas.openxmlformats.org/drawingml/2006/main">
            <a:pPr algn="l">
              <a:defRPr sz="1275" b="1">
                <a:solidFill>
                  <a:srgbClr val="29784B"/>
                </a:solidFill>
                <a:latin typeface="Arial"/>
                <a:ea typeface="Arial"/>
                <a:cs typeface="Arial"/>
              </a:defRPr>
            </a:pPr>
            <a:r>
              <a:rPr sz="1275" b="1">
                <a:solidFill>
                  <a:srgbClr val="29784B"/>
                </a:solidFill>
                <a:latin typeface="Arial"/>
                <a:ea typeface="Arial"/>
                <a:cs typeface="Arial"/>
              </a:rPr>
              <a:t>CITIZEN EMPOWERMENT &amp; ACCOUNTABILITY</a:t>
            </a:r>
          </a:p>
        </p:txBody>
      </p:sp>
      <p:sp>
        <p:nvSpPr>
          <p:cNvPr id="2" name="text-2">
            <a:extLst xmlns:a="http://schemas.openxmlformats.org/drawingml/2006/main">
              <a:ext uri="{FF2B5EF4-FFF2-40B4-BE49-F238E27FC236}">
                <a16:creationId xmlns:a16="http://schemas.microsoft.com/office/drawing/2014/main" id="{AA355A11-606F-4E72-9C63-82DBAED13B69}"/>
              </a:ext>
            </a:extLst>
          </p:cNvPr>
          <p:cNvSpPr>
            <a:spLocks xmlns:a="http://schemas.openxmlformats.org/drawingml/2006/main" noGrp="1"/>
          </p:cNvSpPr>
          <p:nvPr/>
        </p:nvSpPr>
        <p:spPr>
          <a:xfrm xmlns:a="http://schemas.openxmlformats.org/drawingml/2006/main">
            <a:off x="609600" y="1323975"/>
            <a:ext cx="76200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83C2F"/>
                </a:solidFill>
                <a:latin typeface="Arial"/>
                <a:ea typeface="Arial"/>
                <a:cs typeface="Arial"/>
              </a:defRPr>
            </a:defPPr>
          </a:lstStyle>
          <a:p xmlns:a="http://schemas.openxmlformats.org/drawingml/2006/main">
            <a:pPr algn="l">
              <a:defRPr sz="5700" b="1">
                <a:solidFill>
                  <a:srgbClr val="183C2F"/>
                </a:solidFill>
                <a:latin typeface="Arial"/>
                <a:ea typeface="Arial"/>
                <a:cs typeface="Arial"/>
              </a:defRPr>
            </a:pPr>
            <a:r>
              <a:rPr sz="5700" b="1">
                <a:solidFill>
                  <a:srgbClr val="183C2F"/>
                </a:solidFill>
                <a:latin typeface="Arial"/>
                <a:ea typeface="Arial"/>
                <a:cs typeface="Arial"/>
              </a:rPr>
              <a:t>Pune Fast</a:t>
            </a:r>
          </a:p>
          <a:p xmlns:a="http://schemas.openxmlformats.org/drawingml/2006/main">
            <a:pPr algn="l">
              <a:defRPr sz="5700" b="1">
                <a:solidFill>
                  <a:srgbClr val="183C2F"/>
                </a:solidFill>
                <a:latin typeface="Arial"/>
                <a:ea typeface="Arial"/>
                <a:cs typeface="Arial"/>
              </a:defRPr>
            </a:pPr>
            <a:r>
              <a:rPr sz="5700" b="1">
                <a:solidFill>
                  <a:srgbClr val="183C2F"/>
                </a:solidFill>
                <a:latin typeface="Arial"/>
                <a:ea typeface="Arial"/>
                <a:cs typeface="Arial"/>
              </a:rPr>
              <a:t>Complaint</a:t>
            </a:r>
          </a:p>
        </p:txBody>
      </p:sp>
      <p:sp>
        <p:nvSpPr>
          <p:cNvPr id="3" name="text-3">
            <a:extLst xmlns:a="http://schemas.openxmlformats.org/drawingml/2006/main">
              <a:ext uri="{FF2B5EF4-FFF2-40B4-BE49-F238E27FC236}">
                <a16:creationId xmlns:a16="http://schemas.microsoft.com/office/drawing/2014/main" id="{9E2D5A6B-29E5-42B9-BFEC-A4426E458E6D}"/>
              </a:ext>
            </a:extLst>
          </p:cNvPr>
          <p:cNvSpPr>
            <a:spLocks xmlns:a="http://schemas.openxmlformats.org/drawingml/2006/main" noGrp="1"/>
          </p:cNvSpPr>
          <p:nvPr/>
        </p:nvSpPr>
        <p:spPr>
          <a:xfrm xmlns:a="http://schemas.openxmlformats.org/drawingml/2006/main">
            <a:off x="638175" y="3476625"/>
            <a:ext cx="8382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784B"/>
                </a:solidFill>
                <a:latin typeface="Arial"/>
                <a:ea typeface="Arial"/>
                <a:cs typeface="Arial"/>
              </a:defRPr>
            </a:defPPr>
          </a:lstStyle>
          <a:p xmlns:a="http://schemas.openxmlformats.org/drawingml/2006/main">
            <a:pPr algn="l">
              <a:defRPr sz="2700" b="1">
                <a:solidFill>
                  <a:srgbClr val="29784B"/>
                </a:solidFill>
                <a:latin typeface="Arial"/>
                <a:ea typeface="Arial"/>
                <a:cs typeface="Arial"/>
              </a:defRPr>
            </a:pPr>
            <a:r>
              <a:rPr sz="2700" b="1">
                <a:solidFill>
                  <a:srgbClr val="29784B"/>
                </a:solidFill>
                <a:latin typeface="Arial"/>
                <a:ea typeface="Arial"/>
                <a:cs typeface="Arial"/>
              </a:rPr>
              <a:t>Fast filing. Clear evidence.</a:t>
            </a:r>
          </a:p>
          <a:p xmlns:a="http://schemas.openxmlformats.org/drawingml/2006/main">
            <a:pPr algn="l">
              <a:defRPr sz="2700" b="1">
                <a:solidFill>
                  <a:srgbClr val="29784B"/>
                </a:solidFill>
                <a:latin typeface="Arial"/>
                <a:ea typeface="Arial"/>
                <a:cs typeface="Arial"/>
              </a:defRPr>
            </a:pPr>
            <a:r>
              <a:rPr sz="2700" b="1">
                <a:solidFill>
                  <a:srgbClr val="29784B"/>
                </a:solidFill>
                <a:latin typeface="Arial"/>
                <a:ea typeface="Arial"/>
                <a:cs typeface="Arial"/>
              </a:rPr>
              <a:t>Public accountability.</a:t>
            </a:r>
          </a:p>
        </p:txBody>
      </p:sp>
      <p:sp>
        <p:nvSpPr>
          <p:cNvPr id="4" name="text-4">
            <a:extLst xmlns:a="http://schemas.openxmlformats.org/drawingml/2006/main">
              <a:ext uri="{FF2B5EF4-FFF2-40B4-BE49-F238E27FC236}">
                <a16:creationId xmlns:a16="http://schemas.microsoft.com/office/drawing/2014/main" id="{6EADB179-6C78-4C5E-8475-F3311B4C8A1D}"/>
              </a:ext>
            </a:extLst>
          </p:cNvPr>
          <p:cNvSpPr>
            <a:spLocks xmlns:a="http://schemas.openxmlformats.org/drawingml/2006/main" noGrp="1"/>
          </p:cNvSpPr>
          <p:nvPr/>
        </p:nvSpPr>
        <p:spPr>
          <a:xfrm xmlns:a="http://schemas.openxmlformats.org/drawingml/2006/main">
            <a:off x="638175" y="4991100"/>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4655C"/>
                </a:solidFill>
                <a:latin typeface="Arial"/>
                <a:ea typeface="Arial"/>
                <a:cs typeface="Arial"/>
              </a:defRPr>
            </a:defPPr>
          </a:lstStyle>
          <a:p xmlns:a="http://schemas.openxmlformats.org/drawingml/2006/main">
            <a:pPr algn="l">
              <a:defRPr sz="2025" b="0">
                <a:solidFill>
                  <a:srgbClr val="54655C"/>
                </a:solidFill>
                <a:latin typeface="Arial"/>
                <a:ea typeface="Arial"/>
                <a:cs typeface="Arial"/>
              </a:defRPr>
            </a:pPr>
            <a:r>
              <a:rPr sz="2025" b="0">
                <a:solidFill>
                  <a:srgbClr val="54655C"/>
                </a:solidFill>
                <a:latin typeface="Arial"/>
                <a:ea typeface="Arial"/>
                <a:cs typeface="Arial"/>
              </a:rPr>
              <a:t>Civic problems are easy to notice.</a:t>
            </a:r>
          </a:p>
          <a:p xmlns:a="http://schemas.openxmlformats.org/drawingml/2006/main">
            <a:pPr algn="l">
              <a:defRPr sz="2025" b="0">
                <a:solidFill>
                  <a:srgbClr val="54655C"/>
                </a:solidFill>
                <a:latin typeface="Arial"/>
                <a:ea typeface="Arial"/>
                <a:cs typeface="Arial"/>
              </a:defRPr>
            </a:pPr>
            <a:r>
              <a:rPr sz="2025" b="0">
                <a:solidFill>
                  <a:srgbClr val="54655C"/>
                </a:solidFill>
                <a:latin typeface="Arial"/>
                <a:ea typeface="Arial"/>
                <a:cs typeface="Arial"/>
              </a:rPr>
              <a:t>Reporting and pursuing action take much more effort.</a:t>
            </a:r>
          </a:p>
        </p:txBody>
      </p:sp>
      <p:pic>
        <p:nvPicPr>
          <p:cNvPr id="5" name="">
            <a:extLst xmlns:a="http://schemas.openxmlformats.org/drawingml/2006/main">
              <a:ext uri="{FF2B5EF4-FFF2-40B4-BE49-F238E27FC236}">
                <a16:creationId xmlns:a16="http://schemas.microsoft.com/office/drawing/2014/main" id="{90FE88B8-BCB0-47F5-8ED8-7A08FEC37437}"/>
              </a:ext>
            </a:extLst>
          </p:cNvPr>
          <p:cNvPicPr>
            <a:picLocks xmlns:a="http://schemas.openxmlformats.org/drawingml/2006/main" noChangeAspect="1"/>
          </p:cNvPicPr>
          <p:nvPr/>
        </p:nvPicPr>
        <p:blipFill>
          <a:blip xmlns:r="http://schemas.openxmlformats.org/officeDocument/2006/relationships" xmlns:a="http://schemas.openxmlformats.org/drawingml/2006/main" r:embed="Rbfae9288971a467d"/>
          <a:stretch xmlns:a="http://schemas.openxmlformats.org/drawingml/2006/main"/>
        </p:blipFill>
        <p:spPr>
          <a:xfrm xmlns:a="http://schemas.openxmlformats.org/drawingml/2006/main">
            <a:off x="8743950" y="1285875"/>
            <a:ext cx="2714625" cy="2714625"/>
          </a:xfrm>
          <a:prstGeom xmlns:a="http://schemas.openxmlformats.org/drawingml/2006/main" prst="rect">
            <a:avLst/>
          </a:prstGeom>
        </p:spPr>
      </p:pic>
      <p:sp>
        <p:nvSpPr>
          <p:cNvPr id="6" name="frame-5">
            <a:extLst xmlns:a="http://schemas.openxmlformats.org/drawingml/2006/main">
              <a:ext uri="{FF2B5EF4-FFF2-40B4-BE49-F238E27FC236}">
                <a16:creationId xmlns:a16="http://schemas.microsoft.com/office/drawing/2014/main" id="{FE224613-206A-4243-BB83-320393A3EDA1}"/>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D5DED4"/>
          </a:solidFill>
          <a:ln xmlns:a="http://schemas.openxmlformats.org/drawingml/2006/main" w="0">
            <a:noFill/>
          </a:ln>
        </p:spPr>
      </p:sp>
      <p:sp>
        <p:nvSpPr>
          <p:cNvPr id="7" name="text-6">
            <a:extLst xmlns:a="http://schemas.openxmlformats.org/drawingml/2006/main">
              <a:ext uri="{FF2B5EF4-FFF2-40B4-BE49-F238E27FC236}">
                <a16:creationId xmlns:a16="http://schemas.microsoft.com/office/drawing/2014/main" id="{4D27CC68-AB5A-4434-B133-61A8C5F82D8B}"/>
              </a:ext>
            </a:extLst>
          </p:cNvPr>
          <p:cNvSpPr>
            <a:spLocks xmlns:a="http://schemas.openxmlformats.org/drawingml/2006/main" noGrp="1"/>
          </p:cNvSpPr>
          <p:nvPr/>
        </p:nvSpPr>
        <p:spPr>
          <a:xfrm xmlns:a="http://schemas.openxmlformats.org/drawingml/2006/main">
            <a:off x="609600" y="6496050"/>
            <a:ext cx="809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4655C"/>
                </a:solidFill>
                <a:latin typeface="Arial"/>
                <a:ea typeface="Arial"/>
                <a:cs typeface="Arial"/>
              </a:defRPr>
            </a:defPPr>
          </a:lstStyle>
          <a:p xmlns:a="http://schemas.openxmlformats.org/drawingml/2006/main">
            <a:pPr algn="l">
              <a:defRPr sz="1050" b="1">
                <a:solidFill>
                  <a:srgbClr val="54655C"/>
                </a:solidFill>
                <a:latin typeface="Arial"/>
                <a:ea typeface="Arial"/>
                <a:cs typeface="Arial"/>
              </a:defRPr>
            </a:pPr>
            <a:r>
              <a:rPr sz="1050" b="1">
                <a:solidFill>
                  <a:srgbClr val="54655C"/>
                </a:solidFill>
                <a:latin typeface="Arial"/>
                <a:ea typeface="Arial"/>
                <a:cs typeface="Arial"/>
              </a:rPr>
              <a:t>PUNE FAST COMPLAINT</a:t>
            </a:r>
          </a:p>
        </p:txBody>
      </p:sp>
      <p:sp>
        <p:nvSpPr>
          <p:cNvPr id="8" name="text-7">
            <a:extLst xmlns:a="http://schemas.openxmlformats.org/drawingml/2006/main">
              <a:ext uri="{FF2B5EF4-FFF2-40B4-BE49-F238E27FC236}">
                <a16:creationId xmlns:a16="http://schemas.microsoft.com/office/drawing/2014/main" id="{52E70701-AE90-4E10-8826-2B192895ECAE}"/>
              </a:ext>
            </a:extLst>
          </p:cNvPr>
          <p:cNvSpPr>
            <a:spLocks xmlns:a="http://schemas.openxmlformats.org/drawingml/2006/main" noGrp="1"/>
          </p:cNvSpPr>
          <p:nvPr/>
        </p:nvSpPr>
        <p:spPr>
          <a:xfrm xmlns:a="http://schemas.openxmlformats.org/drawingml/2006/main">
            <a:off x="10991850" y="6467475"/>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4655C"/>
                </a:solidFill>
                <a:latin typeface="Arial"/>
                <a:ea typeface="Arial"/>
                <a:cs typeface="Arial"/>
              </a:defRPr>
            </a:defPPr>
          </a:lstStyle>
          <a:p xmlns:a="http://schemas.openxmlformats.org/drawingml/2006/main">
            <a:pPr algn="r">
              <a:defRPr sz="1275" b="0">
                <a:solidFill>
                  <a:srgbClr val="54655C"/>
                </a:solidFill>
                <a:latin typeface="Arial"/>
                <a:ea typeface="Arial"/>
                <a:cs typeface="Arial"/>
              </a:defRPr>
            </a:pPr>
            <a:r>
              <a:rPr sz="1275" b="0">
                <a:solidFill>
                  <a:srgbClr val="54655C"/>
                </a:solidFill>
                <a:latin typeface="Arial"/>
                <a:ea typeface="Arial"/>
                <a:cs typeface="Arial"/>
              </a:rPr>
              <a:t>01</a:t>
            </a:r>
          </a:p>
        </p:txBody>
      </p:sp>
    </p:spTree>
    <p:extLst>
      <p:ext uri="{BB962C8B-B14F-4D97-AF65-F5344CB8AC3E}">
        <p14:creationId xmlns:p14="http://schemas.microsoft.com/office/powerpoint/2010/main" val="1311839425"/>
      </p:ext>
    </p:extLst>
  </p:cSld>
</p:sld>
</file>

<file path=ppt/slides/slide2.xml><?xml version="1.0" encoding="utf-8"?>
<p:sld xmlns:p="http://schemas.openxmlformats.org/presentationml/2006/main">
  <p:cSld>
    <p:bg>
      <p:bgPr>
        <a:solidFill xmlns:a="http://schemas.openxmlformats.org/drawingml/2006/main">
          <a:srgbClr val="F5F8F3"/>
        </a:solidFill>
      </p:bgPr>
    </p:bg>
    <p:spTree>
      <p:nvGrpSpPr>
        <p:cNvPr id="1" name=""/>
        <p:cNvGrpSpPr/>
        <p:nvPr/>
      </p:nvGrpSpPr>
      <p:grpSpPr>
        <a:xfrm xmlns:a="http://schemas.openxmlformats.org/drawingml/2006/main"/>
      </p:grpSpPr>
      <p:sp>
        <p:nvSpPr>
          <p:cNvPr id="19" name="text-8">
            <a:extLst xmlns:a="http://schemas.openxmlformats.org/drawingml/2006/main">
              <a:ext uri="{FF2B5EF4-FFF2-40B4-BE49-F238E27FC236}">
                <a16:creationId xmlns:a16="http://schemas.microsoft.com/office/drawing/2014/main" id="{4FE2817B-16EE-41DA-8A81-8F4C58B5C4FE}"/>
              </a:ext>
            </a:extLst>
          </p:cNvPr>
          <p:cNvSpPr>
            <a:spLocks xmlns:a="http://schemas.openxmlformats.org/drawingml/2006/main" noGrp="1"/>
          </p:cNvSpPr>
          <p:nvPr/>
        </p:nvSpPr>
        <p:spPr>
          <a:xfrm xmlns:a="http://schemas.openxmlformats.org/drawingml/2006/main">
            <a:off x="609600" y="3238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29784B"/>
                </a:solidFill>
                <a:latin typeface="Arial"/>
                <a:ea typeface="Arial"/>
                <a:cs typeface="Arial"/>
              </a:defRPr>
            </a:defPPr>
          </a:lstStyle>
          <a:p xmlns:a="http://schemas.openxmlformats.org/drawingml/2006/main">
            <a:pPr algn="l">
              <a:defRPr sz="1200" b="1">
                <a:solidFill>
                  <a:srgbClr val="29784B"/>
                </a:solidFill>
                <a:latin typeface="Arial"/>
                <a:ea typeface="Arial"/>
                <a:cs typeface="Arial"/>
              </a:defRPr>
            </a:pPr>
            <a:r>
              <a:rPr sz="1200" b="1">
                <a:solidFill>
                  <a:srgbClr val="29784B"/>
                </a:solidFill>
                <a:latin typeface="Arial"/>
                <a:ea typeface="Arial"/>
                <a:cs typeface="Arial"/>
              </a:rPr>
              <a:t>THE SOLUTION</a:t>
            </a:r>
          </a:p>
        </p:txBody>
      </p:sp>
      <p:sp>
        <p:nvSpPr>
          <p:cNvPr id="2" name="text-9">
            <a:extLst xmlns:a="http://schemas.openxmlformats.org/drawingml/2006/main">
              <a:ext uri="{FF2B5EF4-FFF2-40B4-BE49-F238E27FC236}">
                <a16:creationId xmlns:a16="http://schemas.microsoft.com/office/drawing/2014/main" id="{26739069-BC27-4967-A340-24DAD07B396E}"/>
              </a:ext>
            </a:extLst>
          </p:cNvPr>
          <p:cNvSpPr>
            <a:spLocks xmlns:a="http://schemas.openxmlformats.org/drawingml/2006/main" noGrp="1"/>
          </p:cNvSpPr>
          <p:nvPr/>
        </p:nvSpPr>
        <p:spPr>
          <a:xfrm xmlns:a="http://schemas.openxmlformats.org/drawingml/2006/main">
            <a:off x="609600" y="8191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83C2F"/>
                </a:solidFill>
                <a:latin typeface="Arial"/>
                <a:ea typeface="Arial"/>
                <a:cs typeface="Arial"/>
              </a:defRPr>
            </a:defPPr>
          </a:lstStyle>
          <a:p xmlns:a="http://schemas.openxmlformats.org/drawingml/2006/main">
            <a:pPr algn="l">
              <a:defRPr sz="3450" b="1">
                <a:solidFill>
                  <a:srgbClr val="183C2F"/>
                </a:solidFill>
                <a:latin typeface="Arial"/>
                <a:ea typeface="Arial"/>
                <a:cs typeface="Arial"/>
              </a:defRPr>
            </a:pPr>
            <a:r>
              <a:rPr sz="3450" b="1">
                <a:solidFill>
                  <a:srgbClr val="183C2F"/>
                </a:solidFill>
                <a:latin typeface="Arial"/>
                <a:ea typeface="Arial"/>
                <a:cs typeface="Arial"/>
              </a:rPr>
              <a:t>Three pillars of citizen accountability</a:t>
            </a:r>
          </a:p>
        </p:txBody>
      </p:sp>
      <p:sp>
        <p:nvSpPr>
          <p:cNvPr id="3" name="frame-10">
            <a:extLst xmlns:a="http://schemas.openxmlformats.org/drawingml/2006/main">
              <a:ext uri="{FF2B5EF4-FFF2-40B4-BE49-F238E27FC236}">
                <a16:creationId xmlns:a16="http://schemas.microsoft.com/office/drawing/2014/main" id="{2254B53F-4928-48DA-BB7F-F83D5723AC5D}"/>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D5DED4"/>
          </a:solidFill>
          <a:ln xmlns:a="http://schemas.openxmlformats.org/drawingml/2006/main" w="0">
            <a:noFill/>
          </a:ln>
        </p:spPr>
      </p:sp>
      <p:sp>
        <p:nvSpPr>
          <p:cNvPr id="4" name="text-11">
            <a:extLst xmlns:a="http://schemas.openxmlformats.org/drawingml/2006/main">
              <a:ext uri="{FF2B5EF4-FFF2-40B4-BE49-F238E27FC236}">
                <a16:creationId xmlns:a16="http://schemas.microsoft.com/office/drawing/2014/main" id="{101A280F-194C-478B-8D61-28EFA66025EA}"/>
              </a:ext>
            </a:extLst>
          </p:cNvPr>
          <p:cNvSpPr>
            <a:spLocks xmlns:a="http://schemas.openxmlformats.org/drawingml/2006/main" noGrp="1"/>
          </p:cNvSpPr>
          <p:nvPr/>
        </p:nvSpPr>
        <p:spPr>
          <a:xfrm xmlns:a="http://schemas.openxmlformats.org/drawingml/2006/main">
            <a:off x="609600" y="6496050"/>
            <a:ext cx="809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4655C"/>
                </a:solidFill>
                <a:latin typeface="Arial"/>
                <a:ea typeface="Arial"/>
                <a:cs typeface="Arial"/>
              </a:defRPr>
            </a:defPPr>
          </a:lstStyle>
          <a:p xmlns:a="http://schemas.openxmlformats.org/drawingml/2006/main">
            <a:pPr algn="l">
              <a:defRPr sz="1050" b="1">
                <a:solidFill>
                  <a:srgbClr val="54655C"/>
                </a:solidFill>
                <a:latin typeface="Arial"/>
                <a:ea typeface="Arial"/>
                <a:cs typeface="Arial"/>
              </a:defRPr>
            </a:pPr>
            <a:r>
              <a:rPr sz="1050" b="1">
                <a:solidFill>
                  <a:srgbClr val="54655C"/>
                </a:solidFill>
                <a:latin typeface="Arial"/>
                <a:ea typeface="Arial"/>
                <a:cs typeface="Arial"/>
              </a:rPr>
              <a:t>PUNE FAST COMPLAINT</a:t>
            </a:r>
          </a:p>
        </p:txBody>
      </p:sp>
      <p:sp>
        <p:nvSpPr>
          <p:cNvPr id="5" name="text-12">
            <a:extLst xmlns:a="http://schemas.openxmlformats.org/drawingml/2006/main">
              <a:ext uri="{FF2B5EF4-FFF2-40B4-BE49-F238E27FC236}">
                <a16:creationId xmlns:a16="http://schemas.microsoft.com/office/drawing/2014/main" id="{EE6B1DC6-0B61-4515-AC7C-3F79766AF570}"/>
              </a:ext>
            </a:extLst>
          </p:cNvPr>
          <p:cNvSpPr>
            <a:spLocks xmlns:a="http://schemas.openxmlformats.org/drawingml/2006/main" noGrp="1"/>
          </p:cNvSpPr>
          <p:nvPr/>
        </p:nvSpPr>
        <p:spPr>
          <a:xfrm xmlns:a="http://schemas.openxmlformats.org/drawingml/2006/main">
            <a:off x="10991850" y="6467475"/>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4655C"/>
                </a:solidFill>
                <a:latin typeface="Arial"/>
                <a:ea typeface="Arial"/>
                <a:cs typeface="Arial"/>
              </a:defRPr>
            </a:defPPr>
          </a:lstStyle>
          <a:p xmlns:a="http://schemas.openxmlformats.org/drawingml/2006/main">
            <a:pPr algn="r">
              <a:defRPr sz="1275" b="0">
                <a:solidFill>
                  <a:srgbClr val="54655C"/>
                </a:solidFill>
                <a:latin typeface="Arial"/>
                <a:ea typeface="Arial"/>
                <a:cs typeface="Arial"/>
              </a:defRPr>
            </a:pPr>
            <a:r>
              <a:rPr sz="1275" b="0">
                <a:solidFill>
                  <a:srgbClr val="54655C"/>
                </a:solidFill>
                <a:latin typeface="Arial"/>
                <a:ea typeface="Arial"/>
                <a:cs typeface="Arial"/>
              </a:rPr>
              <a:t>02</a:t>
            </a:r>
          </a:p>
        </p:txBody>
      </p:sp>
      <p:sp>
        <p:nvSpPr>
          <p:cNvPr id="6" name="text-13">
            <a:extLst xmlns:a="http://schemas.openxmlformats.org/drawingml/2006/main">
              <a:ext uri="{FF2B5EF4-FFF2-40B4-BE49-F238E27FC236}">
                <a16:creationId xmlns:a16="http://schemas.microsoft.com/office/drawing/2014/main" id="{8BDEA1F3-AC95-4FF6-845C-1C2075382D90}"/>
              </a:ext>
            </a:extLst>
          </p:cNvPr>
          <p:cNvSpPr>
            <a:spLocks xmlns:a="http://schemas.openxmlformats.org/drawingml/2006/main" noGrp="1"/>
          </p:cNvSpPr>
          <p:nvPr/>
        </p:nvSpPr>
        <p:spPr>
          <a:xfrm xmlns:a="http://schemas.openxmlformats.org/drawingml/2006/main">
            <a:off x="609600" y="1981200"/>
            <a:ext cx="319087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29784B"/>
                </a:solidFill>
                <a:latin typeface="Arial"/>
                <a:ea typeface="Arial"/>
                <a:cs typeface="Arial"/>
              </a:defRPr>
            </a:defPPr>
          </a:lstStyle>
          <a:p xmlns:a="http://schemas.openxmlformats.org/drawingml/2006/main">
            <a:pPr algn="l">
              <a:defRPr sz="5250" b="1">
                <a:solidFill>
                  <a:srgbClr val="29784B"/>
                </a:solidFill>
                <a:latin typeface="Arial"/>
                <a:ea typeface="Arial"/>
                <a:cs typeface="Arial"/>
              </a:defRPr>
            </a:pPr>
            <a:r>
              <a:rPr sz="5250" b="1">
                <a:solidFill>
                  <a:srgbClr val="29784B"/>
                </a:solidFill>
                <a:latin typeface="Arial"/>
                <a:ea typeface="Arial"/>
                <a:cs typeface="Arial"/>
              </a:rPr>
              <a:t>01</a:t>
            </a:r>
          </a:p>
        </p:txBody>
      </p:sp>
      <p:sp>
        <p:nvSpPr>
          <p:cNvPr id="7" name="text-14">
            <a:extLst xmlns:a="http://schemas.openxmlformats.org/drawingml/2006/main">
              <a:ext uri="{FF2B5EF4-FFF2-40B4-BE49-F238E27FC236}">
                <a16:creationId xmlns:a16="http://schemas.microsoft.com/office/drawing/2014/main" id="{CF056103-732D-4051-BE2D-5A3DD942A847}"/>
              </a:ext>
            </a:extLst>
          </p:cNvPr>
          <p:cNvSpPr>
            <a:spLocks xmlns:a="http://schemas.openxmlformats.org/drawingml/2006/main" noGrp="1"/>
          </p:cNvSpPr>
          <p:nvPr/>
        </p:nvSpPr>
        <p:spPr>
          <a:xfrm xmlns:a="http://schemas.openxmlformats.org/drawingml/2006/main">
            <a:off x="609600" y="3028950"/>
            <a:ext cx="323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83C2F"/>
                </a:solidFill>
                <a:latin typeface="Arial"/>
                <a:ea typeface="Arial"/>
                <a:cs typeface="Arial"/>
              </a:defRPr>
            </a:defPPr>
          </a:lstStyle>
          <a:p xmlns:a="http://schemas.openxmlformats.org/drawingml/2006/main">
            <a:pPr algn="l">
              <a:defRPr sz="2325" b="1">
                <a:solidFill>
                  <a:srgbClr val="183C2F"/>
                </a:solidFill>
                <a:latin typeface="Arial"/>
                <a:ea typeface="Arial"/>
                <a:cs typeface="Arial"/>
              </a:defRPr>
            </a:pPr>
            <a:r>
              <a:rPr sz="2325" b="1">
                <a:solidFill>
                  <a:srgbClr val="183C2F"/>
                </a:solidFill>
                <a:latin typeface="Arial"/>
                <a:ea typeface="Arial"/>
                <a:cs typeface="Arial"/>
              </a:rPr>
              <a:t>Fast complaints</a:t>
            </a:r>
          </a:p>
        </p:txBody>
      </p:sp>
      <p:sp>
        <p:nvSpPr>
          <p:cNvPr id="8" name="text-15">
            <a:extLst xmlns:a="http://schemas.openxmlformats.org/drawingml/2006/main">
              <a:ext uri="{FF2B5EF4-FFF2-40B4-BE49-F238E27FC236}">
                <a16:creationId xmlns:a16="http://schemas.microsoft.com/office/drawing/2014/main" id="{F4A7E19A-474B-4669-9995-FF5347212A69}"/>
              </a:ext>
            </a:extLst>
          </p:cNvPr>
          <p:cNvSpPr>
            <a:spLocks xmlns:a="http://schemas.openxmlformats.org/drawingml/2006/main" noGrp="1"/>
          </p:cNvSpPr>
          <p:nvPr/>
        </p:nvSpPr>
        <p:spPr>
          <a:xfrm xmlns:a="http://schemas.openxmlformats.org/drawingml/2006/main">
            <a:off x="609600" y="3962400"/>
            <a:ext cx="323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4655C"/>
                </a:solidFill>
                <a:latin typeface="Arial"/>
                <a:ea typeface="Arial"/>
                <a:cs typeface="Arial"/>
              </a:defRPr>
            </a:defPPr>
          </a:lstStyle>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Guided capture and</a:t>
            </a:r>
          </a:p>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AI-assisted drafts reduce</a:t>
            </a:r>
          </a:p>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forms and manual typing.</a:t>
            </a:r>
          </a:p>
        </p:txBody>
      </p:sp>
      <p:sp>
        <p:nvSpPr>
          <p:cNvPr id="9" name="text-16">
            <a:extLst xmlns:a="http://schemas.openxmlformats.org/drawingml/2006/main">
              <a:ext uri="{FF2B5EF4-FFF2-40B4-BE49-F238E27FC236}">
                <a16:creationId xmlns:a16="http://schemas.microsoft.com/office/drawing/2014/main" id="{9443C472-CAD5-4741-A02A-8E8C67435FBE}"/>
              </a:ext>
            </a:extLst>
          </p:cNvPr>
          <p:cNvSpPr>
            <a:spLocks xmlns:a="http://schemas.openxmlformats.org/drawingml/2006/main" noGrp="1"/>
          </p:cNvSpPr>
          <p:nvPr/>
        </p:nvSpPr>
        <p:spPr>
          <a:xfrm xmlns:a="http://schemas.openxmlformats.org/drawingml/2006/main">
            <a:off x="609600" y="5572125"/>
            <a:ext cx="3257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9784B"/>
                </a:solidFill>
                <a:latin typeface="Arial"/>
                <a:ea typeface="Arial"/>
                <a:cs typeface="Arial"/>
              </a:defRPr>
            </a:defPPr>
          </a:lstStyle>
          <a:p xmlns:a="http://schemas.openxmlformats.org/drawingml/2006/main">
            <a:pPr algn="l">
              <a:defRPr sz="1500" b="1">
                <a:solidFill>
                  <a:srgbClr val="29784B"/>
                </a:solidFill>
                <a:latin typeface="Arial"/>
                <a:ea typeface="Arial"/>
                <a:cs typeface="Arial"/>
              </a:defRPr>
            </a:pPr>
            <a:r>
              <a:rPr sz="1500" b="1">
                <a:solidFill>
                  <a:srgbClr val="29784B"/>
                </a:solidFill>
                <a:latin typeface="Arial"/>
                <a:ea typeface="Arial"/>
                <a:cs typeface="Arial"/>
              </a:rPr>
              <a:t>Design target: under 60 seconds</a:t>
            </a:r>
          </a:p>
        </p:txBody>
      </p:sp>
      <p:sp>
        <p:nvSpPr>
          <p:cNvPr id="10" name="text-17">
            <a:extLst xmlns:a="http://schemas.openxmlformats.org/drawingml/2006/main">
              <a:ext uri="{FF2B5EF4-FFF2-40B4-BE49-F238E27FC236}">
                <a16:creationId xmlns:a16="http://schemas.microsoft.com/office/drawing/2014/main" id="{587F104C-716B-4384-9F0D-28D52B07676D}"/>
              </a:ext>
            </a:extLst>
          </p:cNvPr>
          <p:cNvSpPr>
            <a:spLocks xmlns:a="http://schemas.openxmlformats.org/drawingml/2006/main" noGrp="1"/>
          </p:cNvSpPr>
          <p:nvPr/>
        </p:nvSpPr>
        <p:spPr>
          <a:xfrm xmlns:a="http://schemas.openxmlformats.org/drawingml/2006/main">
            <a:off x="4381500" y="1981200"/>
            <a:ext cx="319087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29784B"/>
                </a:solidFill>
                <a:latin typeface="Arial"/>
                <a:ea typeface="Arial"/>
                <a:cs typeface="Arial"/>
              </a:defRPr>
            </a:defPPr>
          </a:lstStyle>
          <a:p xmlns:a="http://schemas.openxmlformats.org/drawingml/2006/main">
            <a:pPr algn="l">
              <a:defRPr sz="5250" b="1">
                <a:solidFill>
                  <a:srgbClr val="29784B"/>
                </a:solidFill>
                <a:latin typeface="Arial"/>
                <a:ea typeface="Arial"/>
                <a:cs typeface="Arial"/>
              </a:defRPr>
            </a:pPr>
            <a:r>
              <a:rPr sz="5250" b="1">
                <a:solidFill>
                  <a:srgbClr val="29784B"/>
                </a:solidFill>
                <a:latin typeface="Arial"/>
                <a:ea typeface="Arial"/>
                <a:cs typeface="Arial"/>
              </a:rPr>
              <a:t>02</a:t>
            </a:r>
          </a:p>
        </p:txBody>
      </p:sp>
      <p:sp>
        <p:nvSpPr>
          <p:cNvPr id="11" name="text-18">
            <a:extLst xmlns:a="http://schemas.openxmlformats.org/drawingml/2006/main">
              <a:ext uri="{FF2B5EF4-FFF2-40B4-BE49-F238E27FC236}">
                <a16:creationId xmlns:a16="http://schemas.microsoft.com/office/drawing/2014/main" id="{3026A244-DDE4-451F-8195-EB2AB1872615}"/>
              </a:ext>
            </a:extLst>
          </p:cNvPr>
          <p:cNvSpPr>
            <a:spLocks xmlns:a="http://schemas.openxmlformats.org/drawingml/2006/main" noGrp="1"/>
          </p:cNvSpPr>
          <p:nvPr/>
        </p:nvSpPr>
        <p:spPr>
          <a:xfrm xmlns:a="http://schemas.openxmlformats.org/drawingml/2006/main">
            <a:off x="4381500" y="3028950"/>
            <a:ext cx="323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83C2F"/>
                </a:solidFill>
                <a:latin typeface="Arial"/>
                <a:ea typeface="Arial"/>
                <a:cs typeface="Arial"/>
              </a:defRPr>
            </a:defPPr>
          </a:lstStyle>
          <a:p xmlns:a="http://schemas.openxmlformats.org/drawingml/2006/main">
            <a:pPr algn="l">
              <a:defRPr sz="2325" b="1">
                <a:solidFill>
                  <a:srgbClr val="183C2F"/>
                </a:solidFill>
                <a:latin typeface="Arial"/>
                <a:ea typeface="Arial"/>
                <a:cs typeface="Arial"/>
              </a:defRPr>
            </a:pPr>
            <a:r>
              <a:rPr sz="2325" b="1">
                <a:solidFill>
                  <a:srgbClr val="183C2F"/>
                </a:solidFill>
                <a:latin typeface="Arial"/>
                <a:ea typeface="Arial"/>
                <a:cs typeface="Arial"/>
              </a:rPr>
              <a:t>Evidence collection</a:t>
            </a:r>
          </a:p>
        </p:txBody>
      </p:sp>
      <p:sp>
        <p:nvSpPr>
          <p:cNvPr id="12" name="text-19">
            <a:extLst xmlns:a="http://schemas.openxmlformats.org/drawingml/2006/main">
              <a:ext uri="{FF2B5EF4-FFF2-40B4-BE49-F238E27FC236}">
                <a16:creationId xmlns:a16="http://schemas.microsoft.com/office/drawing/2014/main" id="{5CF871AD-FDA9-404C-9C61-B6B8094FFA7D}"/>
              </a:ext>
            </a:extLst>
          </p:cNvPr>
          <p:cNvSpPr>
            <a:spLocks xmlns:a="http://schemas.openxmlformats.org/drawingml/2006/main" noGrp="1"/>
          </p:cNvSpPr>
          <p:nvPr/>
        </p:nvSpPr>
        <p:spPr>
          <a:xfrm xmlns:a="http://schemas.openxmlformats.org/drawingml/2006/main">
            <a:off x="4381500" y="3962400"/>
            <a:ext cx="323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4655C"/>
                </a:solidFill>
                <a:latin typeface="Arial"/>
                <a:ea typeface="Arial"/>
                <a:cs typeface="Arial"/>
              </a:defRPr>
            </a:defPPr>
          </a:lstStyle>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Photos, recordings, location</a:t>
            </a:r>
          </a:p>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and time build a record for</a:t>
            </a:r>
          </a:p>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escalation and potential</a:t>
            </a:r>
          </a:p>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court proceedings.</a:t>
            </a:r>
          </a:p>
        </p:txBody>
      </p:sp>
      <p:sp>
        <p:nvSpPr>
          <p:cNvPr id="13" name="text-20">
            <a:extLst xmlns:a="http://schemas.openxmlformats.org/drawingml/2006/main">
              <a:ext uri="{FF2B5EF4-FFF2-40B4-BE49-F238E27FC236}">
                <a16:creationId xmlns:a16="http://schemas.microsoft.com/office/drawing/2014/main" id="{D05AD19D-740E-4376-A63E-8B5D7F7D2ED4}"/>
              </a:ext>
            </a:extLst>
          </p:cNvPr>
          <p:cNvSpPr>
            <a:spLocks xmlns:a="http://schemas.openxmlformats.org/drawingml/2006/main" noGrp="1"/>
          </p:cNvSpPr>
          <p:nvPr/>
        </p:nvSpPr>
        <p:spPr>
          <a:xfrm xmlns:a="http://schemas.openxmlformats.org/drawingml/2006/main">
            <a:off x="4381500" y="5572125"/>
            <a:ext cx="3257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9784B"/>
                </a:solidFill>
                <a:latin typeface="Arial"/>
                <a:ea typeface="Arial"/>
                <a:cs typeface="Arial"/>
              </a:defRPr>
            </a:defPPr>
          </a:lstStyle>
          <a:p xmlns:a="http://schemas.openxmlformats.org/drawingml/2006/main">
            <a:pPr algn="l">
              <a:defRPr sz="1500" b="1">
                <a:solidFill>
                  <a:srgbClr val="29784B"/>
                </a:solidFill>
                <a:latin typeface="Arial"/>
                <a:ea typeface="Arial"/>
                <a:cs typeface="Arial"/>
              </a:defRPr>
            </a:pPr>
            <a:r>
              <a:rPr sz="1500" b="1">
                <a:solidFill>
                  <a:srgbClr val="29784B"/>
                </a:solidFill>
                <a:latin typeface="Arial"/>
                <a:ea typeface="Arial"/>
                <a:cs typeface="Arial"/>
              </a:rPr>
              <a:t>A valuable asset for escalation</a:t>
            </a:r>
          </a:p>
        </p:txBody>
      </p:sp>
      <p:sp>
        <p:nvSpPr>
          <p:cNvPr id="14" name="text-21">
            <a:extLst xmlns:a="http://schemas.openxmlformats.org/drawingml/2006/main">
              <a:ext uri="{FF2B5EF4-FFF2-40B4-BE49-F238E27FC236}">
                <a16:creationId xmlns:a16="http://schemas.microsoft.com/office/drawing/2014/main" id="{E69E4389-EB8F-4C6A-B524-EC8234B2C385}"/>
              </a:ext>
            </a:extLst>
          </p:cNvPr>
          <p:cNvSpPr>
            <a:spLocks xmlns:a="http://schemas.openxmlformats.org/drawingml/2006/main" noGrp="1"/>
          </p:cNvSpPr>
          <p:nvPr/>
        </p:nvSpPr>
        <p:spPr>
          <a:xfrm xmlns:a="http://schemas.openxmlformats.org/drawingml/2006/main">
            <a:off x="8153400" y="1981200"/>
            <a:ext cx="319087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29784B"/>
                </a:solidFill>
                <a:latin typeface="Arial"/>
                <a:ea typeface="Arial"/>
                <a:cs typeface="Arial"/>
              </a:defRPr>
            </a:defPPr>
          </a:lstStyle>
          <a:p xmlns:a="http://schemas.openxmlformats.org/drawingml/2006/main">
            <a:pPr algn="l">
              <a:defRPr sz="5250" b="1">
                <a:solidFill>
                  <a:srgbClr val="29784B"/>
                </a:solidFill>
                <a:latin typeface="Arial"/>
                <a:ea typeface="Arial"/>
                <a:cs typeface="Arial"/>
              </a:defRPr>
            </a:pPr>
            <a:r>
              <a:rPr sz="5250" b="1">
                <a:solidFill>
                  <a:srgbClr val="29784B"/>
                </a:solidFill>
                <a:latin typeface="Arial"/>
                <a:ea typeface="Arial"/>
                <a:cs typeface="Arial"/>
              </a:rPr>
              <a:t>03</a:t>
            </a:r>
          </a:p>
        </p:txBody>
      </p:sp>
      <p:sp>
        <p:nvSpPr>
          <p:cNvPr id="15" name="text-22">
            <a:extLst xmlns:a="http://schemas.openxmlformats.org/drawingml/2006/main">
              <a:ext uri="{FF2B5EF4-FFF2-40B4-BE49-F238E27FC236}">
                <a16:creationId xmlns:a16="http://schemas.microsoft.com/office/drawing/2014/main" id="{54E96D92-78A9-407E-B3DA-0DEBFDA1A97B}"/>
              </a:ext>
            </a:extLst>
          </p:cNvPr>
          <p:cNvSpPr>
            <a:spLocks xmlns:a="http://schemas.openxmlformats.org/drawingml/2006/main" noGrp="1"/>
          </p:cNvSpPr>
          <p:nvPr/>
        </p:nvSpPr>
        <p:spPr>
          <a:xfrm xmlns:a="http://schemas.openxmlformats.org/drawingml/2006/main">
            <a:off x="8153400" y="3028950"/>
            <a:ext cx="323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83C2F"/>
                </a:solidFill>
                <a:latin typeface="Arial"/>
                <a:ea typeface="Arial"/>
                <a:cs typeface="Arial"/>
              </a:defRPr>
            </a:defPPr>
          </a:lstStyle>
          <a:p xmlns:a="http://schemas.openxmlformats.org/drawingml/2006/main">
            <a:pPr algn="l">
              <a:defRPr sz="2325" b="1">
                <a:solidFill>
                  <a:srgbClr val="183C2F"/>
                </a:solidFill>
                <a:latin typeface="Arial"/>
                <a:ea typeface="Arial"/>
                <a:cs typeface="Arial"/>
              </a:defRPr>
            </a:pPr>
            <a:r>
              <a:rPr sz="2325" b="1">
                <a:solidFill>
                  <a:srgbClr val="183C2F"/>
                </a:solidFill>
                <a:latin typeface="Arial"/>
                <a:ea typeface="Arial"/>
                <a:cs typeface="Arial"/>
              </a:rPr>
              <a:t>Public accountability</a:t>
            </a:r>
          </a:p>
        </p:txBody>
      </p:sp>
      <p:sp>
        <p:nvSpPr>
          <p:cNvPr id="16" name="text-23">
            <a:extLst xmlns:a="http://schemas.openxmlformats.org/drawingml/2006/main">
              <a:ext uri="{FF2B5EF4-FFF2-40B4-BE49-F238E27FC236}">
                <a16:creationId xmlns:a16="http://schemas.microsoft.com/office/drawing/2014/main" id="{343272D1-AFED-4F08-BB3C-18E2B4A562B7}"/>
              </a:ext>
            </a:extLst>
          </p:cNvPr>
          <p:cNvSpPr>
            <a:spLocks xmlns:a="http://schemas.openxmlformats.org/drawingml/2006/main" noGrp="1"/>
          </p:cNvSpPr>
          <p:nvPr/>
        </p:nvSpPr>
        <p:spPr>
          <a:xfrm xmlns:a="http://schemas.openxmlformats.org/drawingml/2006/main">
            <a:off x="8153400" y="3962400"/>
            <a:ext cx="323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4655C"/>
                </a:solidFill>
                <a:latin typeface="Arial"/>
                <a:ea typeface="Arial"/>
                <a:cs typeface="Arial"/>
              </a:defRPr>
            </a:defPPr>
          </a:lstStyle>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A shared map makes</a:t>
            </a:r>
          </a:p>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reported concerns visible.</a:t>
            </a:r>
          </a:p>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Follow-up evidence helps</a:t>
            </a:r>
          </a:p>
          <a:p xmlns:a="http://schemas.openxmlformats.org/drawingml/2006/main">
            <a:pPr algn="l">
              <a:defRPr sz="1875" b="0">
                <a:solidFill>
                  <a:srgbClr val="54655C"/>
                </a:solidFill>
                <a:latin typeface="Arial"/>
                <a:ea typeface="Arial"/>
                <a:cs typeface="Arial"/>
              </a:defRPr>
            </a:pPr>
            <a:r>
              <a:rPr sz="1875" b="0">
                <a:solidFill>
                  <a:srgbClr val="54655C"/>
                </a:solidFill>
                <a:latin typeface="Arial"/>
                <a:ea typeface="Arial"/>
                <a:cs typeface="Arial"/>
              </a:rPr>
              <a:t>document physical change.</a:t>
            </a:r>
          </a:p>
        </p:txBody>
      </p:sp>
      <p:sp>
        <p:nvSpPr>
          <p:cNvPr id="17" name="text-24">
            <a:extLst xmlns:a="http://schemas.openxmlformats.org/drawingml/2006/main">
              <a:ext uri="{FF2B5EF4-FFF2-40B4-BE49-F238E27FC236}">
                <a16:creationId xmlns:a16="http://schemas.microsoft.com/office/drawing/2014/main" id="{66F80F37-A348-4AAF-B2B7-832728CCA73A}"/>
              </a:ext>
            </a:extLst>
          </p:cNvPr>
          <p:cNvSpPr>
            <a:spLocks xmlns:a="http://schemas.openxmlformats.org/drawingml/2006/main" noGrp="1"/>
          </p:cNvSpPr>
          <p:nvPr/>
        </p:nvSpPr>
        <p:spPr>
          <a:xfrm xmlns:a="http://schemas.openxmlformats.org/drawingml/2006/main">
            <a:off x="8153400" y="5572125"/>
            <a:ext cx="3257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9784B"/>
                </a:solidFill>
                <a:latin typeface="Arial"/>
                <a:ea typeface="Arial"/>
                <a:cs typeface="Arial"/>
              </a:defRPr>
            </a:defPPr>
          </a:lstStyle>
          <a:p xmlns:a="http://schemas.openxmlformats.org/drawingml/2006/main">
            <a:pPr algn="l">
              <a:defRPr sz="1500" b="1">
                <a:solidFill>
                  <a:srgbClr val="29784B"/>
                </a:solidFill>
                <a:latin typeface="Arial"/>
                <a:ea typeface="Arial"/>
                <a:cs typeface="Arial"/>
              </a:defRPr>
            </a:pPr>
            <a:r>
              <a:rPr sz="1500" b="1">
                <a:solidFill>
                  <a:srgbClr val="29784B"/>
                </a:solidFill>
                <a:latin typeface="Arial"/>
                <a:ea typeface="Arial"/>
                <a:cs typeface="Arial"/>
              </a:rPr>
              <a:t>Visible concerns and follow-up</a:t>
            </a:r>
          </a:p>
        </p:txBody>
      </p:sp>
      <p:sp>
        <p:nvSpPr>
          <p:cNvPr id="18" name="text-25">
            <a:extLst xmlns:a="http://schemas.openxmlformats.org/drawingml/2006/main">
              <a:ext uri="{FF2B5EF4-FFF2-40B4-BE49-F238E27FC236}">
                <a16:creationId xmlns:a16="http://schemas.microsoft.com/office/drawing/2014/main" id="{C37EA7BA-1F0A-4F4B-9BD1-786012367DC3}"/>
              </a:ext>
            </a:extLst>
          </p:cNvPr>
          <p:cNvSpPr>
            <a:spLocks xmlns:a="http://schemas.openxmlformats.org/drawingml/2006/main" noGrp="1"/>
          </p:cNvSpPr>
          <p:nvPr/>
        </p:nvSpPr>
        <p:spPr>
          <a:xfrm xmlns:a="http://schemas.openxmlformats.org/drawingml/2006/main">
            <a:off x="609600" y="6029325"/>
            <a:ext cx="1085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54655C"/>
                </a:solidFill>
                <a:latin typeface="Arial"/>
                <a:ea typeface="Arial"/>
                <a:cs typeface="Arial"/>
              </a:defRPr>
            </a:defPPr>
          </a:lstStyle>
          <a:p xmlns:a="http://schemas.openxmlformats.org/drawingml/2006/main">
            <a:pPr algn="l">
              <a:defRPr sz="1200" b="0">
                <a:solidFill>
                  <a:srgbClr val="54655C"/>
                </a:solidFill>
                <a:latin typeface="Arial"/>
                <a:ea typeface="Arial"/>
                <a:cs typeface="Arial"/>
              </a:defRPr>
            </a:pPr>
            <a:r>
              <a:rPr sz="1200" b="0">
                <a:solidFill>
                  <a:srgbClr val="54655C"/>
                </a:solidFill>
                <a:latin typeface="Arial"/>
                <a:ea typeface="Arial"/>
                <a:cs typeface="Arial"/>
              </a:rPr>
              <a:t>Court acceptance depends on applicable evidentiary requirements.</a:t>
            </a:r>
          </a:p>
        </p:txBody>
      </p:sp>
    </p:spTree>
    <p:extLst>
      <p:ext uri="{BB962C8B-B14F-4D97-AF65-F5344CB8AC3E}">
        <p14:creationId xmlns:p14="http://schemas.microsoft.com/office/powerpoint/2010/main" val="1800666159"/>
      </p:ext>
    </p:extLst>
  </p:cSld>
</p:sld>
</file>

<file path=ppt/slides/slide3.xml><?xml version="1.0" encoding="utf-8"?>
<p:sld xmlns:p="http://schemas.openxmlformats.org/presentationml/2006/main">
  <p:cSld>
    <p:bg>
      <p:bgPr>
        <a:solidFill xmlns:a="http://schemas.openxmlformats.org/drawingml/2006/main">
          <a:srgbClr val="F5F8F3"/>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6CD2D1E1-00CF-4E44-B706-CA0524A724C4}"/>
              </a:ext>
            </a:extLst>
          </p:cNvPr>
          <p:cNvCxnSpPr>
            <a:stCxn xmlns:a="http://schemas.openxmlformats.org/drawingml/2006/main" id="9" idx="3"/>
            <a:endCxn xmlns:a="http://schemas.openxmlformats.org/drawingml/2006/main" id="12" idx="1"/>
          </p:cNvCxnSpPr>
          <p:nvPr/>
        </p:nvCxnSpPr>
        <p:spPr>
          <a:xfrm xmlns:a="http://schemas.openxmlformats.org/drawingml/2006/main">
            <a:off x="7620000" y="3614738"/>
            <a:ext cx="533400" cy="0"/>
          </a:xfrm>
          <a:prstGeom xmlns:a="http://schemas.openxmlformats.org/drawingml/2006/main" prst="straightConnector1">
            <a:avLst/>
          </a:prstGeom>
          <a:ln xmlns:a="http://schemas.openxmlformats.org/drawingml/2006/main" w="28575">
            <a:solidFill>
              <a:srgbClr val="29784B"/>
            </a:solidFill>
            <a:tailEnd type="triangle" w="med" len="med"/>
          </a:ln>
        </p:spPr>
      </p:cxnSp>
      <p:cxnSp>
        <p:nvCxnSpPr>
          <p:cNvPr id="15" name="">
            <a:extLst xmlns:a="http://schemas.openxmlformats.org/drawingml/2006/main">
              <a:ext uri="{FF2B5EF4-FFF2-40B4-BE49-F238E27FC236}">
                <a16:creationId xmlns:a16="http://schemas.microsoft.com/office/drawing/2014/main" id="{D24D0859-954B-45EF-9217-829288F2E69B}"/>
              </a:ext>
            </a:extLst>
          </p:cNvPr>
          <p:cNvCxnSpPr>
            <a:stCxn xmlns:a="http://schemas.openxmlformats.org/drawingml/2006/main" id="6" idx="3"/>
            <a:endCxn xmlns:a="http://schemas.openxmlformats.org/drawingml/2006/main" id="9" idx="1"/>
          </p:cNvCxnSpPr>
          <p:nvPr/>
        </p:nvCxnSpPr>
        <p:spPr>
          <a:xfrm xmlns:a="http://schemas.openxmlformats.org/drawingml/2006/main">
            <a:off x="3848100" y="3614738"/>
            <a:ext cx="533400" cy="0"/>
          </a:xfrm>
          <a:prstGeom xmlns:a="http://schemas.openxmlformats.org/drawingml/2006/main" prst="straightConnector1">
            <a:avLst/>
          </a:prstGeom>
          <a:ln xmlns:a="http://schemas.openxmlformats.org/drawingml/2006/main" w="28575">
            <a:solidFill>
              <a:srgbClr val="29784B"/>
            </a:solidFill>
            <a:tailEnd type="triangle" w="med" len="med"/>
          </a:ln>
        </p:spPr>
      </p:cxnSp>
      <p:sp>
        <p:nvSpPr>
          <p:cNvPr id="18" name="text-26">
            <a:extLst xmlns:a="http://schemas.openxmlformats.org/drawingml/2006/main">
              <a:ext uri="{FF2B5EF4-FFF2-40B4-BE49-F238E27FC236}">
                <a16:creationId xmlns:a16="http://schemas.microsoft.com/office/drawing/2014/main" id="{DD44CE71-69FE-41E0-B88A-E7361B12BE56}"/>
              </a:ext>
            </a:extLst>
          </p:cNvPr>
          <p:cNvSpPr>
            <a:spLocks xmlns:a="http://schemas.openxmlformats.org/drawingml/2006/main" noGrp="1"/>
          </p:cNvSpPr>
          <p:nvPr/>
        </p:nvSpPr>
        <p:spPr>
          <a:xfrm xmlns:a="http://schemas.openxmlformats.org/drawingml/2006/main">
            <a:off x="609600" y="3238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29784B"/>
                </a:solidFill>
                <a:latin typeface="Arial"/>
                <a:ea typeface="Arial"/>
                <a:cs typeface="Arial"/>
              </a:defRPr>
            </a:defPPr>
          </a:lstStyle>
          <a:p xmlns:a="http://schemas.openxmlformats.org/drawingml/2006/main">
            <a:pPr algn="l">
              <a:defRPr sz="1200" b="1">
                <a:solidFill>
                  <a:srgbClr val="29784B"/>
                </a:solidFill>
                <a:latin typeface="Arial"/>
                <a:ea typeface="Arial"/>
                <a:cs typeface="Arial"/>
              </a:defRPr>
            </a:pPr>
            <a:r>
              <a:rPr sz="1200" b="1">
                <a:solidFill>
                  <a:srgbClr val="29784B"/>
                </a:solidFill>
                <a:latin typeface="Arial"/>
                <a:ea typeface="Arial"/>
                <a:cs typeface="Arial"/>
              </a:rPr>
              <a:t>HOW THE APP WORKS</a:t>
            </a:r>
          </a:p>
        </p:txBody>
      </p:sp>
      <p:sp>
        <p:nvSpPr>
          <p:cNvPr id="2" name="text-27">
            <a:extLst xmlns:a="http://schemas.openxmlformats.org/drawingml/2006/main">
              <a:ext uri="{FF2B5EF4-FFF2-40B4-BE49-F238E27FC236}">
                <a16:creationId xmlns:a16="http://schemas.microsoft.com/office/drawing/2014/main" id="{8B86660E-C257-4D92-90A1-1FBDB638D9B1}"/>
              </a:ext>
            </a:extLst>
          </p:cNvPr>
          <p:cNvSpPr>
            <a:spLocks xmlns:a="http://schemas.openxmlformats.org/drawingml/2006/main" noGrp="1"/>
          </p:cNvSpPr>
          <p:nvPr/>
        </p:nvSpPr>
        <p:spPr>
          <a:xfrm xmlns:a="http://schemas.openxmlformats.org/drawingml/2006/main">
            <a:off x="609600" y="8191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83C2F"/>
                </a:solidFill>
                <a:latin typeface="Arial"/>
                <a:ea typeface="Arial"/>
                <a:cs typeface="Arial"/>
              </a:defRPr>
            </a:defPPr>
          </a:lstStyle>
          <a:p xmlns:a="http://schemas.openxmlformats.org/drawingml/2006/main">
            <a:pPr algn="l">
              <a:defRPr sz="3450" b="1">
                <a:solidFill>
                  <a:srgbClr val="183C2F"/>
                </a:solidFill>
                <a:latin typeface="Arial"/>
                <a:ea typeface="Arial"/>
                <a:cs typeface="Arial"/>
              </a:defRPr>
            </a:pPr>
            <a:r>
              <a:rPr sz="3450" b="1">
                <a:solidFill>
                  <a:srgbClr val="183C2F"/>
                </a:solidFill>
                <a:latin typeface="Arial"/>
                <a:ea typeface="Arial"/>
                <a:cs typeface="Arial"/>
              </a:rPr>
              <a:t>The complaint and accountability journey</a:t>
            </a:r>
          </a:p>
        </p:txBody>
      </p:sp>
      <p:sp>
        <p:nvSpPr>
          <p:cNvPr id="3" name="frame-28">
            <a:extLst xmlns:a="http://schemas.openxmlformats.org/drawingml/2006/main">
              <a:ext uri="{FF2B5EF4-FFF2-40B4-BE49-F238E27FC236}">
                <a16:creationId xmlns:a16="http://schemas.microsoft.com/office/drawing/2014/main" id="{DAEFF060-705C-4264-8DD7-E42D49A7B8D2}"/>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D5DED4"/>
          </a:solidFill>
          <a:ln xmlns:a="http://schemas.openxmlformats.org/drawingml/2006/main" w="0">
            <a:noFill/>
          </a:ln>
        </p:spPr>
      </p:sp>
      <p:sp>
        <p:nvSpPr>
          <p:cNvPr id="4" name="text-29">
            <a:extLst xmlns:a="http://schemas.openxmlformats.org/drawingml/2006/main">
              <a:ext uri="{FF2B5EF4-FFF2-40B4-BE49-F238E27FC236}">
                <a16:creationId xmlns:a16="http://schemas.microsoft.com/office/drawing/2014/main" id="{E5BAAF86-11EC-453F-8188-152BA1BECC86}"/>
              </a:ext>
            </a:extLst>
          </p:cNvPr>
          <p:cNvSpPr>
            <a:spLocks xmlns:a="http://schemas.openxmlformats.org/drawingml/2006/main" noGrp="1"/>
          </p:cNvSpPr>
          <p:nvPr/>
        </p:nvSpPr>
        <p:spPr>
          <a:xfrm xmlns:a="http://schemas.openxmlformats.org/drawingml/2006/main">
            <a:off x="609600" y="6496050"/>
            <a:ext cx="809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4655C"/>
                </a:solidFill>
                <a:latin typeface="Arial"/>
                <a:ea typeface="Arial"/>
                <a:cs typeface="Arial"/>
              </a:defRPr>
            </a:defPPr>
          </a:lstStyle>
          <a:p xmlns:a="http://schemas.openxmlformats.org/drawingml/2006/main">
            <a:pPr algn="l">
              <a:defRPr sz="1050" b="1">
                <a:solidFill>
                  <a:srgbClr val="54655C"/>
                </a:solidFill>
                <a:latin typeface="Arial"/>
                <a:ea typeface="Arial"/>
                <a:cs typeface="Arial"/>
              </a:defRPr>
            </a:pPr>
            <a:r>
              <a:rPr sz="1050" b="1">
                <a:solidFill>
                  <a:srgbClr val="54655C"/>
                </a:solidFill>
                <a:latin typeface="Arial"/>
                <a:ea typeface="Arial"/>
                <a:cs typeface="Arial"/>
              </a:rPr>
              <a:t>PUNE FAST COMPLAINT</a:t>
            </a:r>
          </a:p>
        </p:txBody>
      </p:sp>
      <p:sp>
        <p:nvSpPr>
          <p:cNvPr id="5" name="text-30">
            <a:extLst xmlns:a="http://schemas.openxmlformats.org/drawingml/2006/main">
              <a:ext uri="{FF2B5EF4-FFF2-40B4-BE49-F238E27FC236}">
                <a16:creationId xmlns:a16="http://schemas.microsoft.com/office/drawing/2014/main" id="{74C91043-B368-42A3-92C5-7F1D1B040917}"/>
              </a:ext>
            </a:extLst>
          </p:cNvPr>
          <p:cNvSpPr>
            <a:spLocks xmlns:a="http://schemas.openxmlformats.org/drawingml/2006/main" noGrp="1"/>
          </p:cNvSpPr>
          <p:nvPr/>
        </p:nvSpPr>
        <p:spPr>
          <a:xfrm xmlns:a="http://schemas.openxmlformats.org/drawingml/2006/main">
            <a:off x="10991850" y="6467475"/>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4655C"/>
                </a:solidFill>
                <a:latin typeface="Arial"/>
                <a:ea typeface="Arial"/>
                <a:cs typeface="Arial"/>
              </a:defRPr>
            </a:defPPr>
          </a:lstStyle>
          <a:p xmlns:a="http://schemas.openxmlformats.org/drawingml/2006/main">
            <a:pPr algn="r">
              <a:defRPr sz="1275" b="0">
                <a:solidFill>
                  <a:srgbClr val="54655C"/>
                </a:solidFill>
                <a:latin typeface="Arial"/>
                <a:ea typeface="Arial"/>
                <a:cs typeface="Arial"/>
              </a:defRPr>
            </a:pPr>
            <a:r>
              <a:rPr sz="1275" b="0">
                <a:solidFill>
                  <a:srgbClr val="54655C"/>
                </a:solidFill>
                <a:latin typeface="Arial"/>
                <a:ea typeface="Arial"/>
                <a:cs typeface="Arial"/>
              </a:rPr>
              <a:t>03</a:t>
            </a:r>
          </a:p>
        </p:txBody>
      </p:sp>
      <p:sp>
        <p:nvSpPr>
          <p:cNvPr id="6" name="frame-31">
            <a:extLst xmlns:a="http://schemas.openxmlformats.org/drawingml/2006/main">
              <a:ext uri="{FF2B5EF4-FFF2-40B4-BE49-F238E27FC236}">
                <a16:creationId xmlns:a16="http://schemas.microsoft.com/office/drawing/2014/main" id="{8E4EFDE1-9F3F-472E-840B-206B386E47BA}"/>
              </a:ext>
            </a:extLst>
          </p:cNvPr>
          <p:cNvSpPr>
            <a:spLocks xmlns:a="http://schemas.openxmlformats.org/drawingml/2006/main" noGrp="1"/>
          </p:cNvSpPr>
          <p:nvPr/>
        </p:nvSpPr>
        <p:spPr>
          <a:xfrm xmlns:a="http://schemas.openxmlformats.org/drawingml/2006/main">
            <a:off x="609600" y="2238375"/>
            <a:ext cx="3238500" cy="2752725"/>
          </a:xfrm>
          <a:prstGeom xmlns:a="http://schemas.openxmlformats.org/drawingml/2006/main" prst="rect">
            <a:avLst/>
          </a:prstGeom>
          <a:solidFill xmlns:a="http://schemas.openxmlformats.org/drawingml/2006/main">
            <a:srgbClr val="FFFFFF"/>
          </a:solidFill>
          <a:ln xmlns:a="http://schemas.openxmlformats.org/drawingml/2006/main" w="14288">
            <a:solidFill>
              <a:srgbClr val="D5DED4"/>
            </a:solidFill>
          </a:ln>
        </p:spPr>
      </p:sp>
      <p:sp>
        <p:nvSpPr>
          <p:cNvPr id="7" name="text-32">
            <a:extLst xmlns:a="http://schemas.openxmlformats.org/drawingml/2006/main">
              <a:ext uri="{FF2B5EF4-FFF2-40B4-BE49-F238E27FC236}">
                <a16:creationId xmlns:a16="http://schemas.microsoft.com/office/drawing/2014/main" id="{0C503F84-96FC-4969-A22F-D5470C5DC979}"/>
              </a:ext>
            </a:extLst>
          </p:cNvPr>
          <p:cNvSpPr>
            <a:spLocks xmlns:a="http://schemas.openxmlformats.org/drawingml/2006/main" noGrp="1"/>
          </p:cNvSpPr>
          <p:nvPr/>
        </p:nvSpPr>
        <p:spPr>
          <a:xfrm xmlns:a="http://schemas.openxmlformats.org/drawingml/2006/main">
            <a:off x="819150" y="2486025"/>
            <a:ext cx="2819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9784B"/>
                </a:solidFill>
                <a:latin typeface="Arial"/>
                <a:ea typeface="Arial"/>
                <a:cs typeface="Arial"/>
              </a:defRPr>
            </a:defPPr>
          </a:lstStyle>
          <a:p xmlns:a="http://schemas.openxmlformats.org/drawingml/2006/main">
            <a:pPr algn="l">
              <a:defRPr sz="2250" b="1">
                <a:solidFill>
                  <a:srgbClr val="29784B"/>
                </a:solidFill>
                <a:latin typeface="Arial"/>
                <a:ea typeface="Arial"/>
                <a:cs typeface="Arial"/>
              </a:defRPr>
            </a:pPr>
            <a:r>
              <a:rPr sz="2250" b="1">
                <a:solidFill>
                  <a:srgbClr val="29784B"/>
                </a:solidFill>
                <a:latin typeface="Arial"/>
                <a:ea typeface="Arial"/>
                <a:cs typeface="Arial"/>
              </a:rPr>
              <a:t>Report</a:t>
            </a:r>
          </a:p>
        </p:txBody>
      </p:sp>
      <p:sp>
        <p:nvSpPr>
          <p:cNvPr id="8" name="text-33">
            <a:extLst xmlns:a="http://schemas.openxmlformats.org/drawingml/2006/main">
              <a:ext uri="{FF2B5EF4-FFF2-40B4-BE49-F238E27FC236}">
                <a16:creationId xmlns:a16="http://schemas.microsoft.com/office/drawing/2014/main" id="{B452F016-3E1C-425B-995A-EDC44BE6ABCD}"/>
              </a:ext>
            </a:extLst>
          </p:cNvPr>
          <p:cNvSpPr>
            <a:spLocks xmlns:a="http://schemas.openxmlformats.org/drawingml/2006/main" noGrp="1"/>
          </p:cNvSpPr>
          <p:nvPr/>
        </p:nvSpPr>
        <p:spPr>
          <a:xfrm xmlns:a="http://schemas.openxmlformats.org/drawingml/2006/main">
            <a:off x="819150" y="3171825"/>
            <a:ext cx="28194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83C2F"/>
                </a:solidFill>
                <a:latin typeface="Arial"/>
                <a:ea typeface="Arial"/>
                <a:cs typeface="Arial"/>
              </a:defRPr>
            </a:defPPr>
          </a:lstStyle>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Select a concern</a:t>
            </a:r>
          </a:p>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Capture evidence</a:t>
            </a:r>
          </a:p>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AI prepares a draft</a:t>
            </a:r>
          </a:p>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Review and send</a:t>
            </a:r>
          </a:p>
        </p:txBody>
      </p:sp>
      <p:sp>
        <p:nvSpPr>
          <p:cNvPr id="9" name="frame-34">
            <a:extLst xmlns:a="http://schemas.openxmlformats.org/drawingml/2006/main">
              <a:ext uri="{FF2B5EF4-FFF2-40B4-BE49-F238E27FC236}">
                <a16:creationId xmlns:a16="http://schemas.microsoft.com/office/drawing/2014/main" id="{7584EAD9-A562-4B42-9588-8EEC5B3574F5}"/>
              </a:ext>
            </a:extLst>
          </p:cNvPr>
          <p:cNvSpPr>
            <a:spLocks xmlns:a="http://schemas.openxmlformats.org/drawingml/2006/main" noGrp="1"/>
          </p:cNvSpPr>
          <p:nvPr/>
        </p:nvSpPr>
        <p:spPr>
          <a:xfrm xmlns:a="http://schemas.openxmlformats.org/drawingml/2006/main">
            <a:off x="4381500" y="2238375"/>
            <a:ext cx="3238500" cy="2752725"/>
          </a:xfrm>
          <a:prstGeom xmlns:a="http://schemas.openxmlformats.org/drawingml/2006/main" prst="rect">
            <a:avLst/>
          </a:prstGeom>
          <a:solidFill xmlns:a="http://schemas.openxmlformats.org/drawingml/2006/main">
            <a:srgbClr val="FFFFFF"/>
          </a:solidFill>
          <a:ln xmlns:a="http://schemas.openxmlformats.org/drawingml/2006/main" w="14288">
            <a:solidFill>
              <a:srgbClr val="D5DED4"/>
            </a:solidFill>
          </a:ln>
        </p:spPr>
      </p:sp>
      <p:sp>
        <p:nvSpPr>
          <p:cNvPr id="10" name="text-35">
            <a:extLst xmlns:a="http://schemas.openxmlformats.org/drawingml/2006/main">
              <a:ext uri="{FF2B5EF4-FFF2-40B4-BE49-F238E27FC236}">
                <a16:creationId xmlns:a16="http://schemas.microsoft.com/office/drawing/2014/main" id="{640F6B1B-07AF-469C-B19F-2D5FCEFAE23F}"/>
              </a:ext>
            </a:extLst>
          </p:cNvPr>
          <p:cNvSpPr>
            <a:spLocks xmlns:a="http://schemas.openxmlformats.org/drawingml/2006/main" noGrp="1"/>
          </p:cNvSpPr>
          <p:nvPr/>
        </p:nvSpPr>
        <p:spPr>
          <a:xfrm xmlns:a="http://schemas.openxmlformats.org/drawingml/2006/main">
            <a:off x="4591050" y="2486025"/>
            <a:ext cx="2819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9784B"/>
                </a:solidFill>
                <a:latin typeface="Arial"/>
                <a:ea typeface="Arial"/>
                <a:cs typeface="Arial"/>
              </a:defRPr>
            </a:defPPr>
          </a:lstStyle>
          <a:p xmlns:a="http://schemas.openxmlformats.org/drawingml/2006/main">
            <a:pPr algn="l">
              <a:defRPr sz="2250" b="1">
                <a:solidFill>
                  <a:srgbClr val="29784B"/>
                </a:solidFill>
                <a:latin typeface="Arial"/>
                <a:ea typeface="Arial"/>
                <a:cs typeface="Arial"/>
              </a:defRPr>
            </a:pPr>
            <a:r>
              <a:rPr sz="2250" b="1">
                <a:solidFill>
                  <a:srgbClr val="29784B"/>
                </a:solidFill>
                <a:latin typeface="Arial"/>
                <a:ea typeface="Arial"/>
                <a:cs typeface="Arial"/>
              </a:rPr>
              <a:t>Make visible</a:t>
            </a:r>
          </a:p>
        </p:txBody>
      </p:sp>
      <p:sp>
        <p:nvSpPr>
          <p:cNvPr id="11" name="text-36">
            <a:extLst xmlns:a="http://schemas.openxmlformats.org/drawingml/2006/main">
              <a:ext uri="{FF2B5EF4-FFF2-40B4-BE49-F238E27FC236}">
                <a16:creationId xmlns:a16="http://schemas.microsoft.com/office/drawing/2014/main" id="{A7F4F7FA-63A3-4636-B9F9-A93D567C5582}"/>
              </a:ext>
            </a:extLst>
          </p:cNvPr>
          <p:cNvSpPr>
            <a:spLocks xmlns:a="http://schemas.openxmlformats.org/drawingml/2006/main" noGrp="1"/>
          </p:cNvSpPr>
          <p:nvPr/>
        </p:nvSpPr>
        <p:spPr>
          <a:xfrm xmlns:a="http://schemas.openxmlformats.org/drawingml/2006/main">
            <a:off x="4591050" y="3171825"/>
            <a:ext cx="28194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83C2F"/>
                </a:solidFill>
                <a:latin typeface="Arial"/>
                <a:ea typeface="Arial"/>
                <a:cs typeface="Arial"/>
              </a:defRPr>
            </a:defPPr>
          </a:lstStyle>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Save the report</a:t>
            </a:r>
          </a:p>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Open its map location</a:t>
            </a:r>
          </a:p>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See nearby concerns</a:t>
            </a:r>
          </a:p>
        </p:txBody>
      </p:sp>
      <p:sp>
        <p:nvSpPr>
          <p:cNvPr id="12" name="frame-37">
            <a:extLst xmlns:a="http://schemas.openxmlformats.org/drawingml/2006/main">
              <a:ext uri="{FF2B5EF4-FFF2-40B4-BE49-F238E27FC236}">
                <a16:creationId xmlns:a16="http://schemas.microsoft.com/office/drawing/2014/main" id="{DE5671EE-31B4-4C03-8B75-78AA97DCE048}"/>
              </a:ext>
            </a:extLst>
          </p:cNvPr>
          <p:cNvSpPr>
            <a:spLocks xmlns:a="http://schemas.openxmlformats.org/drawingml/2006/main" noGrp="1"/>
          </p:cNvSpPr>
          <p:nvPr/>
        </p:nvSpPr>
        <p:spPr>
          <a:xfrm xmlns:a="http://schemas.openxmlformats.org/drawingml/2006/main">
            <a:off x="8153400" y="2238375"/>
            <a:ext cx="3238500" cy="2752725"/>
          </a:xfrm>
          <a:prstGeom xmlns:a="http://schemas.openxmlformats.org/drawingml/2006/main" prst="rect">
            <a:avLst/>
          </a:prstGeom>
          <a:solidFill xmlns:a="http://schemas.openxmlformats.org/drawingml/2006/main">
            <a:srgbClr val="FFFFFF"/>
          </a:solidFill>
          <a:ln xmlns:a="http://schemas.openxmlformats.org/drawingml/2006/main" w="14288">
            <a:solidFill>
              <a:srgbClr val="D5DED4"/>
            </a:solidFill>
          </a:ln>
        </p:spPr>
      </p:sp>
      <p:sp>
        <p:nvSpPr>
          <p:cNvPr id="13" name="text-38">
            <a:extLst xmlns:a="http://schemas.openxmlformats.org/drawingml/2006/main">
              <a:ext uri="{FF2B5EF4-FFF2-40B4-BE49-F238E27FC236}">
                <a16:creationId xmlns:a16="http://schemas.microsoft.com/office/drawing/2014/main" id="{FFE86EE5-1A35-4D14-AF75-AFBA507116FC}"/>
              </a:ext>
            </a:extLst>
          </p:cNvPr>
          <p:cNvSpPr>
            <a:spLocks xmlns:a="http://schemas.openxmlformats.org/drawingml/2006/main" noGrp="1"/>
          </p:cNvSpPr>
          <p:nvPr/>
        </p:nvSpPr>
        <p:spPr>
          <a:xfrm xmlns:a="http://schemas.openxmlformats.org/drawingml/2006/main">
            <a:off x="8362950" y="2486025"/>
            <a:ext cx="2819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9784B"/>
                </a:solidFill>
                <a:latin typeface="Arial"/>
                <a:ea typeface="Arial"/>
                <a:cs typeface="Arial"/>
              </a:defRPr>
            </a:defPPr>
          </a:lstStyle>
          <a:p xmlns:a="http://schemas.openxmlformats.org/drawingml/2006/main">
            <a:pPr algn="l">
              <a:defRPr sz="2250" b="1">
                <a:solidFill>
                  <a:srgbClr val="29784B"/>
                </a:solidFill>
                <a:latin typeface="Arial"/>
                <a:ea typeface="Arial"/>
                <a:cs typeface="Arial"/>
              </a:defRPr>
            </a:pPr>
            <a:r>
              <a:rPr sz="2250" b="1">
                <a:solidFill>
                  <a:srgbClr val="29784B"/>
                </a:solidFill>
                <a:latin typeface="Arial"/>
                <a:ea typeface="Arial"/>
                <a:cs typeface="Arial"/>
              </a:rPr>
              <a:t>Follow up</a:t>
            </a:r>
          </a:p>
        </p:txBody>
      </p:sp>
      <p:sp>
        <p:nvSpPr>
          <p:cNvPr id="14" name="text-39">
            <a:extLst xmlns:a="http://schemas.openxmlformats.org/drawingml/2006/main">
              <a:ext uri="{FF2B5EF4-FFF2-40B4-BE49-F238E27FC236}">
                <a16:creationId xmlns:a16="http://schemas.microsoft.com/office/drawing/2014/main" id="{55B6AE7A-B6B4-41DF-B27B-C21BEB43E5AC}"/>
              </a:ext>
            </a:extLst>
          </p:cNvPr>
          <p:cNvSpPr>
            <a:spLocks xmlns:a="http://schemas.openxmlformats.org/drawingml/2006/main" noGrp="1"/>
          </p:cNvSpPr>
          <p:nvPr/>
        </p:nvSpPr>
        <p:spPr>
          <a:xfrm xmlns:a="http://schemas.openxmlformats.org/drawingml/2006/main">
            <a:off x="8362950" y="3171825"/>
            <a:ext cx="28194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83C2F"/>
                </a:solidFill>
                <a:latin typeface="Arial"/>
                <a:ea typeface="Arial"/>
                <a:cs typeface="Arial"/>
              </a:defRPr>
            </a:defPPr>
          </a:lstStyle>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Add a follow-up photo</a:t>
            </a:r>
          </a:p>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for supported cases</a:t>
            </a:r>
          </a:p>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Document change</a:t>
            </a:r>
          </a:p>
          <a:p xmlns:a="http://schemas.openxmlformats.org/drawingml/2006/main">
            <a:pPr algn="l">
              <a:defRPr sz="1875" b="0">
                <a:solidFill>
                  <a:srgbClr val="183C2F"/>
                </a:solidFill>
                <a:latin typeface="Arial"/>
                <a:ea typeface="Arial"/>
                <a:cs typeface="Arial"/>
              </a:defRPr>
            </a:pPr>
            <a:r>
              <a:rPr sz="1875" b="0">
                <a:solidFill>
                  <a:srgbClr val="183C2F"/>
                </a:solidFill>
                <a:latin typeface="Arial"/>
                <a:ea typeface="Arial"/>
                <a:cs typeface="Arial"/>
              </a:rPr>
              <a:t>Escalate if unresolved</a:t>
            </a:r>
          </a:p>
        </p:txBody>
      </p:sp>
      <p:sp>
        <p:nvSpPr>
          <p:cNvPr id="17" name="text-40">
            <a:extLst xmlns:a="http://schemas.openxmlformats.org/drawingml/2006/main">
              <a:ext uri="{FF2B5EF4-FFF2-40B4-BE49-F238E27FC236}">
                <a16:creationId xmlns:a16="http://schemas.microsoft.com/office/drawing/2014/main" id="{C5AB7524-1AC2-4514-B2AD-6F5C8DBED887}"/>
              </a:ext>
            </a:extLst>
          </p:cNvPr>
          <p:cNvSpPr>
            <a:spLocks xmlns:a="http://schemas.openxmlformats.org/drawingml/2006/main" noGrp="1"/>
          </p:cNvSpPr>
          <p:nvPr/>
        </p:nvSpPr>
        <p:spPr>
          <a:xfrm xmlns:a="http://schemas.openxmlformats.org/drawingml/2006/main">
            <a:off x="609600" y="5543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9784B"/>
                </a:solidFill>
                <a:latin typeface="Arial"/>
                <a:ea typeface="Arial"/>
                <a:cs typeface="Arial"/>
              </a:defRPr>
            </a:defPPr>
          </a:lstStyle>
          <a:p xmlns:a="http://schemas.openxmlformats.org/drawingml/2006/main">
            <a:pPr algn="l">
              <a:defRPr sz="2250" b="1">
                <a:solidFill>
                  <a:srgbClr val="29784B"/>
                </a:solidFill>
                <a:latin typeface="Arial"/>
                <a:ea typeface="Arial"/>
                <a:cs typeface="Arial"/>
              </a:defRPr>
            </a:pPr>
            <a:r>
              <a:rPr sz="2250" b="1">
                <a:solidFill>
                  <a:srgbClr val="29784B"/>
                </a:solidFill>
                <a:latin typeface="Arial"/>
                <a:ea typeface="Arial"/>
                <a:cs typeface="Arial"/>
              </a:rPr>
              <a:t>Each step adds context to the citizen’s evidence record</a:t>
            </a:r>
          </a:p>
        </p:txBody>
      </p:sp>
    </p:spTree>
    <p:extLst>
      <p:ext uri="{BB962C8B-B14F-4D97-AF65-F5344CB8AC3E}">
        <p14:creationId xmlns:p14="http://schemas.microsoft.com/office/powerpoint/2010/main" val="330893677"/>
      </p:ext>
    </p:extLst>
  </p:cSld>
</p:sld>
</file>

<file path=ppt/slides/slide4.xml><?xml version="1.0" encoding="utf-8"?>
<p:sld xmlns:p="http://schemas.openxmlformats.org/presentationml/2006/main">
  <p:cSld>
    <p:bg>
      <p:bgPr>
        <a:solidFill xmlns:a="http://schemas.openxmlformats.org/drawingml/2006/main">
          <a:srgbClr val="F5F8F3"/>
        </a:solidFill>
      </p:bgPr>
    </p:bg>
    <p:spTree>
      <p:nvGrpSpPr>
        <p:cNvPr id="1" name=""/>
        <p:cNvGrpSpPr/>
        <p:nvPr/>
      </p:nvGrpSpPr>
      <p:grpSpPr>
        <a:xfrm xmlns:a="http://schemas.openxmlformats.org/drawingml/2006/main"/>
      </p:grpSpPr>
      <p:sp>
        <p:nvSpPr>
          <p:cNvPr id="15" name="text-41">
            <a:extLst xmlns:a="http://schemas.openxmlformats.org/drawingml/2006/main">
              <a:ext uri="{FF2B5EF4-FFF2-40B4-BE49-F238E27FC236}">
                <a16:creationId xmlns:a16="http://schemas.microsoft.com/office/drawing/2014/main" id="{F9FAE52A-DB10-4794-99BC-85AB99900F18}"/>
              </a:ext>
            </a:extLst>
          </p:cNvPr>
          <p:cNvSpPr>
            <a:spLocks xmlns:a="http://schemas.openxmlformats.org/drawingml/2006/main" noGrp="1"/>
          </p:cNvSpPr>
          <p:nvPr/>
        </p:nvSpPr>
        <p:spPr>
          <a:xfrm xmlns:a="http://schemas.openxmlformats.org/drawingml/2006/main">
            <a:off x="609600" y="3238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29784B"/>
                </a:solidFill>
                <a:latin typeface="Arial"/>
                <a:ea typeface="Arial"/>
                <a:cs typeface="Arial"/>
              </a:defRPr>
            </a:defPPr>
          </a:lstStyle>
          <a:p xmlns:a="http://schemas.openxmlformats.org/drawingml/2006/main">
            <a:pPr algn="l">
              <a:defRPr sz="1200" b="1">
                <a:solidFill>
                  <a:srgbClr val="29784B"/>
                </a:solidFill>
                <a:latin typeface="Arial"/>
                <a:ea typeface="Arial"/>
                <a:cs typeface="Arial"/>
              </a:defRPr>
            </a:pPr>
            <a:r>
              <a:rPr sz="1200" b="1">
                <a:solidFill>
                  <a:srgbClr val="29784B"/>
                </a:solidFill>
                <a:latin typeface="Arial"/>
                <a:ea typeface="Arial"/>
                <a:cs typeface="Arial"/>
              </a:rPr>
              <a:t>BUILDING STRONGER ACCOUNTABILITY</a:t>
            </a:r>
          </a:p>
        </p:txBody>
      </p:sp>
      <p:sp>
        <p:nvSpPr>
          <p:cNvPr id="2" name="text-42">
            <a:extLst xmlns:a="http://schemas.openxmlformats.org/drawingml/2006/main">
              <a:ext uri="{FF2B5EF4-FFF2-40B4-BE49-F238E27FC236}">
                <a16:creationId xmlns:a16="http://schemas.microsoft.com/office/drawing/2014/main" id="{ED68E68F-0B1F-4EDF-9178-76777C1E1330}"/>
              </a:ext>
            </a:extLst>
          </p:cNvPr>
          <p:cNvSpPr>
            <a:spLocks xmlns:a="http://schemas.openxmlformats.org/drawingml/2006/main" noGrp="1"/>
          </p:cNvSpPr>
          <p:nvPr/>
        </p:nvSpPr>
        <p:spPr>
          <a:xfrm xmlns:a="http://schemas.openxmlformats.org/drawingml/2006/main">
            <a:off x="609600" y="8191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83C2F"/>
                </a:solidFill>
                <a:latin typeface="Arial"/>
                <a:ea typeface="Arial"/>
                <a:cs typeface="Arial"/>
              </a:defRPr>
            </a:defPPr>
          </a:lstStyle>
          <a:p xmlns:a="http://schemas.openxmlformats.org/drawingml/2006/main">
            <a:pPr algn="l">
              <a:defRPr sz="3450" b="1">
                <a:solidFill>
                  <a:srgbClr val="183C2F"/>
                </a:solidFill>
                <a:latin typeface="Arial"/>
                <a:ea typeface="Arial"/>
                <a:cs typeface="Arial"/>
              </a:defRPr>
            </a:pPr>
            <a:r>
              <a:rPr sz="3450" b="1">
                <a:solidFill>
                  <a:srgbClr val="183C2F"/>
                </a:solidFill>
                <a:latin typeface="Arial"/>
                <a:ea typeface="Arial"/>
                <a:cs typeface="Arial"/>
              </a:rPr>
              <a:t>Future scope</a:t>
            </a:r>
          </a:p>
        </p:txBody>
      </p:sp>
      <p:sp>
        <p:nvSpPr>
          <p:cNvPr id="3" name="frame-43">
            <a:extLst xmlns:a="http://schemas.openxmlformats.org/drawingml/2006/main">
              <a:ext uri="{FF2B5EF4-FFF2-40B4-BE49-F238E27FC236}">
                <a16:creationId xmlns:a16="http://schemas.microsoft.com/office/drawing/2014/main" id="{20CFCB82-FD69-4FCC-AE31-BAF84BCA34F7}"/>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D5DED4"/>
          </a:solidFill>
          <a:ln xmlns:a="http://schemas.openxmlformats.org/drawingml/2006/main" w="0">
            <a:noFill/>
          </a:ln>
        </p:spPr>
      </p:sp>
      <p:sp>
        <p:nvSpPr>
          <p:cNvPr id="4" name="text-44">
            <a:extLst xmlns:a="http://schemas.openxmlformats.org/drawingml/2006/main">
              <a:ext uri="{FF2B5EF4-FFF2-40B4-BE49-F238E27FC236}">
                <a16:creationId xmlns:a16="http://schemas.microsoft.com/office/drawing/2014/main" id="{E826F0C3-8A00-4D91-B7AE-05257BFD929E}"/>
              </a:ext>
            </a:extLst>
          </p:cNvPr>
          <p:cNvSpPr>
            <a:spLocks xmlns:a="http://schemas.openxmlformats.org/drawingml/2006/main" noGrp="1"/>
          </p:cNvSpPr>
          <p:nvPr/>
        </p:nvSpPr>
        <p:spPr>
          <a:xfrm xmlns:a="http://schemas.openxmlformats.org/drawingml/2006/main">
            <a:off x="609600" y="6496050"/>
            <a:ext cx="809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4655C"/>
                </a:solidFill>
                <a:latin typeface="Arial"/>
                <a:ea typeface="Arial"/>
                <a:cs typeface="Arial"/>
              </a:defRPr>
            </a:defPPr>
          </a:lstStyle>
          <a:p xmlns:a="http://schemas.openxmlformats.org/drawingml/2006/main">
            <a:pPr algn="l">
              <a:defRPr sz="1050" b="1">
                <a:solidFill>
                  <a:srgbClr val="54655C"/>
                </a:solidFill>
                <a:latin typeface="Arial"/>
                <a:ea typeface="Arial"/>
                <a:cs typeface="Arial"/>
              </a:defRPr>
            </a:pPr>
            <a:r>
              <a:rPr sz="1050" b="1">
                <a:solidFill>
                  <a:srgbClr val="54655C"/>
                </a:solidFill>
                <a:latin typeface="Arial"/>
                <a:ea typeface="Arial"/>
                <a:cs typeface="Arial"/>
              </a:rPr>
              <a:t>PUNE FAST COMPLAINT</a:t>
            </a:r>
          </a:p>
        </p:txBody>
      </p:sp>
      <p:sp>
        <p:nvSpPr>
          <p:cNvPr id="5" name="text-45">
            <a:extLst xmlns:a="http://schemas.openxmlformats.org/drawingml/2006/main">
              <a:ext uri="{FF2B5EF4-FFF2-40B4-BE49-F238E27FC236}">
                <a16:creationId xmlns:a16="http://schemas.microsoft.com/office/drawing/2014/main" id="{32E8EF5E-4EBA-4312-A80E-A9457B0E2371}"/>
              </a:ext>
            </a:extLst>
          </p:cNvPr>
          <p:cNvSpPr>
            <a:spLocks xmlns:a="http://schemas.openxmlformats.org/drawingml/2006/main" noGrp="1"/>
          </p:cNvSpPr>
          <p:nvPr/>
        </p:nvSpPr>
        <p:spPr>
          <a:xfrm xmlns:a="http://schemas.openxmlformats.org/drawingml/2006/main">
            <a:off x="10991850" y="6467475"/>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4655C"/>
                </a:solidFill>
                <a:latin typeface="Arial"/>
                <a:ea typeface="Arial"/>
                <a:cs typeface="Arial"/>
              </a:defRPr>
            </a:defPPr>
          </a:lstStyle>
          <a:p xmlns:a="http://schemas.openxmlformats.org/drawingml/2006/main">
            <a:pPr algn="r">
              <a:defRPr sz="1275" b="0">
                <a:solidFill>
                  <a:srgbClr val="54655C"/>
                </a:solidFill>
                <a:latin typeface="Arial"/>
                <a:ea typeface="Arial"/>
                <a:cs typeface="Arial"/>
              </a:defRPr>
            </a:pPr>
            <a:r>
              <a:rPr sz="1275" b="0">
                <a:solidFill>
                  <a:srgbClr val="54655C"/>
                </a:solidFill>
                <a:latin typeface="Arial"/>
                <a:ea typeface="Arial"/>
                <a:cs typeface="Arial"/>
              </a:rPr>
              <a:t>04</a:t>
            </a:r>
          </a:p>
        </p:txBody>
      </p:sp>
      <p:sp>
        <p:nvSpPr>
          <p:cNvPr id="6" name="text-46">
            <a:extLst xmlns:a="http://schemas.openxmlformats.org/drawingml/2006/main">
              <a:ext uri="{FF2B5EF4-FFF2-40B4-BE49-F238E27FC236}">
                <a16:creationId xmlns:a16="http://schemas.microsoft.com/office/drawing/2014/main" id="{F81962B4-2CE1-45E2-BF77-D8F52FA765A4}"/>
              </a:ext>
            </a:extLst>
          </p:cNvPr>
          <p:cNvSpPr>
            <a:spLocks xmlns:a="http://schemas.openxmlformats.org/drawingml/2006/main" noGrp="1"/>
          </p:cNvSpPr>
          <p:nvPr/>
        </p:nvSpPr>
        <p:spPr>
          <a:xfrm xmlns:a="http://schemas.openxmlformats.org/drawingml/2006/main">
            <a:off x="609600" y="1924050"/>
            <a:ext cx="3743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9784B"/>
                </a:solidFill>
                <a:latin typeface="Arial"/>
                <a:ea typeface="Arial"/>
                <a:cs typeface="Arial"/>
              </a:defRPr>
            </a:defPPr>
          </a:lstStyle>
          <a:p xmlns:a="http://schemas.openxmlformats.org/drawingml/2006/main">
            <a:pPr algn="l">
              <a:defRPr sz="2025" b="1">
                <a:solidFill>
                  <a:srgbClr val="29784B"/>
                </a:solidFill>
                <a:latin typeface="Arial"/>
                <a:ea typeface="Arial"/>
                <a:cs typeface="Arial"/>
              </a:defRPr>
            </a:pPr>
            <a:r>
              <a:rPr sz="2025" b="1">
                <a:solidFill>
                  <a:srgbClr val="29784B"/>
                </a:solidFill>
                <a:latin typeface="Arial"/>
                <a:ea typeface="Arial"/>
                <a:cs typeface="Arial"/>
              </a:rPr>
              <a:t>Email status tracking</a:t>
            </a:r>
          </a:p>
        </p:txBody>
      </p:sp>
      <p:sp>
        <p:nvSpPr>
          <p:cNvPr id="7" name="text-47">
            <a:extLst xmlns:a="http://schemas.openxmlformats.org/drawingml/2006/main">
              <a:ext uri="{FF2B5EF4-FFF2-40B4-BE49-F238E27FC236}">
                <a16:creationId xmlns:a16="http://schemas.microsoft.com/office/drawing/2014/main" id="{1A18A388-308E-4627-B887-71136E844388}"/>
              </a:ext>
            </a:extLst>
          </p:cNvPr>
          <p:cNvSpPr>
            <a:spLocks xmlns:a="http://schemas.openxmlformats.org/drawingml/2006/main" noGrp="1"/>
          </p:cNvSpPr>
          <p:nvPr/>
        </p:nvSpPr>
        <p:spPr>
          <a:xfrm xmlns:a="http://schemas.openxmlformats.org/drawingml/2006/main">
            <a:off x="4829175" y="1924050"/>
            <a:ext cx="66770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4655C"/>
                </a:solidFill>
                <a:latin typeface="Arial"/>
                <a:ea typeface="Arial"/>
                <a:cs typeface="Arial"/>
              </a:defRPr>
            </a:defPPr>
          </a:lstStyle>
          <a:p xmlns:a="http://schemas.openxmlformats.org/drawingml/2006/main">
            <a:pPr algn="l">
              <a:defRPr sz="1800" b="0">
                <a:solidFill>
                  <a:srgbClr val="54655C"/>
                </a:solidFill>
                <a:latin typeface="Arial"/>
                <a:ea typeface="Arial"/>
                <a:cs typeface="Arial"/>
              </a:defRPr>
            </a:pPr>
            <a:r>
              <a:rPr sz="1800" b="0">
                <a:solidFill>
                  <a:srgbClr val="54655C"/>
                </a:solidFill>
                <a:latin typeface="Arial"/>
                <a:ea typeface="Arial"/>
                <a:cs typeface="Arial"/>
              </a:rPr>
              <a:t>With permission, match complaint replies</a:t>
            </a:r>
          </a:p>
          <a:p xmlns:a="http://schemas.openxmlformats.org/drawingml/2006/main">
            <a:pPr algn="l">
              <a:defRPr sz="1800" b="0">
                <a:solidFill>
                  <a:srgbClr val="54655C"/>
                </a:solidFill>
                <a:latin typeface="Arial"/>
                <a:ea typeface="Arial"/>
                <a:cs typeface="Arial"/>
              </a:defRPr>
            </a:pPr>
            <a:r>
              <a:rPr sz="1800" b="0">
                <a:solidFill>
                  <a:srgbClr val="54655C"/>
                </a:solidFill>
                <a:latin typeface="Arial"/>
                <a:ea typeface="Arial"/>
                <a:cs typeface="Arial"/>
              </a:rPr>
              <a:t>and suggest status updates.</a:t>
            </a:r>
          </a:p>
        </p:txBody>
      </p:sp>
      <p:sp>
        <p:nvSpPr>
          <p:cNvPr id="8" name="text-48">
            <a:extLst xmlns:a="http://schemas.openxmlformats.org/drawingml/2006/main">
              <a:ext uri="{FF2B5EF4-FFF2-40B4-BE49-F238E27FC236}">
                <a16:creationId xmlns:a16="http://schemas.microsoft.com/office/drawing/2014/main" id="{BB0B0179-1AF5-415D-89C4-C376BB831CCC}"/>
              </a:ext>
            </a:extLst>
          </p:cNvPr>
          <p:cNvSpPr>
            <a:spLocks xmlns:a="http://schemas.openxmlformats.org/drawingml/2006/main" noGrp="1"/>
          </p:cNvSpPr>
          <p:nvPr/>
        </p:nvSpPr>
        <p:spPr>
          <a:xfrm xmlns:a="http://schemas.openxmlformats.org/drawingml/2006/main">
            <a:off x="609600" y="2819400"/>
            <a:ext cx="3743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9784B"/>
                </a:solidFill>
                <a:latin typeface="Arial"/>
                <a:ea typeface="Arial"/>
                <a:cs typeface="Arial"/>
              </a:defRPr>
            </a:defPPr>
          </a:lstStyle>
          <a:p xmlns:a="http://schemas.openxmlformats.org/drawingml/2006/main">
            <a:pPr algn="l">
              <a:defRPr sz="2025" b="1">
                <a:solidFill>
                  <a:srgbClr val="29784B"/>
                </a:solidFill>
                <a:latin typeface="Arial"/>
                <a:ea typeface="Arial"/>
                <a:cs typeface="Arial"/>
              </a:defRPr>
            </a:pPr>
            <a:r>
              <a:rPr sz="2025" b="1">
                <a:solidFill>
                  <a:srgbClr val="29784B"/>
                </a:solidFill>
                <a:latin typeface="Arial"/>
                <a:ea typeface="Arial"/>
                <a:cs typeface="Arial"/>
              </a:rPr>
              <a:t>Specialised ML models</a:t>
            </a:r>
          </a:p>
        </p:txBody>
      </p:sp>
      <p:sp>
        <p:nvSpPr>
          <p:cNvPr id="9" name="text-49">
            <a:extLst xmlns:a="http://schemas.openxmlformats.org/drawingml/2006/main">
              <a:ext uri="{FF2B5EF4-FFF2-40B4-BE49-F238E27FC236}">
                <a16:creationId xmlns:a16="http://schemas.microsoft.com/office/drawing/2014/main" id="{AC0B982C-193D-4260-8D39-BC77AC858E39}"/>
              </a:ext>
            </a:extLst>
          </p:cNvPr>
          <p:cNvSpPr>
            <a:spLocks xmlns:a="http://schemas.openxmlformats.org/drawingml/2006/main" noGrp="1"/>
          </p:cNvSpPr>
          <p:nvPr/>
        </p:nvSpPr>
        <p:spPr>
          <a:xfrm xmlns:a="http://schemas.openxmlformats.org/drawingml/2006/main">
            <a:off x="4829175" y="2819400"/>
            <a:ext cx="66770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4655C"/>
                </a:solidFill>
                <a:latin typeface="Arial"/>
                <a:ea typeface="Arial"/>
                <a:cs typeface="Arial"/>
              </a:defRPr>
            </a:defPPr>
          </a:lstStyle>
          <a:p xmlns:a="http://schemas.openxmlformats.org/drawingml/2006/main">
            <a:pPr algn="l">
              <a:defRPr sz="1800" b="0">
                <a:solidFill>
                  <a:srgbClr val="54655C"/>
                </a:solidFill>
                <a:latin typeface="Arial"/>
                <a:ea typeface="Arial"/>
                <a:cs typeface="Arial"/>
              </a:defRPr>
            </a:pPr>
            <a:r>
              <a:rPr sz="1800" b="0">
                <a:solidFill>
                  <a:srgbClr val="54655C"/>
                </a:solidFill>
                <a:latin typeface="Arial"/>
                <a:ea typeface="Arial"/>
                <a:cs typeface="Arial"/>
              </a:rPr>
              <a:t>Train on consented, reviewed and labelled evidence</a:t>
            </a:r>
          </a:p>
          <a:p xmlns:a="http://schemas.openxmlformats.org/drawingml/2006/main">
            <a:pPr algn="l">
              <a:defRPr sz="1800" b="0">
                <a:solidFill>
                  <a:srgbClr val="54655C"/>
                </a:solidFill>
                <a:latin typeface="Arial"/>
                <a:ea typeface="Arial"/>
                <a:cs typeface="Arial"/>
              </a:defRPr>
            </a:pPr>
            <a:r>
              <a:rPr sz="1800" b="0">
                <a:solidFill>
                  <a:srgbClr val="54655C"/>
                </a:solidFill>
                <a:latin typeface="Arial"/>
                <a:ea typeface="Arial"/>
                <a:cs typeface="Arial"/>
              </a:rPr>
              <a:t>to improve accuracy for local civic issues.</a:t>
            </a:r>
          </a:p>
        </p:txBody>
      </p:sp>
      <p:sp>
        <p:nvSpPr>
          <p:cNvPr id="10" name="text-50">
            <a:extLst xmlns:a="http://schemas.openxmlformats.org/drawingml/2006/main">
              <a:ext uri="{FF2B5EF4-FFF2-40B4-BE49-F238E27FC236}">
                <a16:creationId xmlns:a16="http://schemas.microsoft.com/office/drawing/2014/main" id="{5EBB1F27-29E1-4F29-9CF8-5F983AED72E8}"/>
              </a:ext>
            </a:extLst>
          </p:cNvPr>
          <p:cNvSpPr>
            <a:spLocks xmlns:a="http://schemas.openxmlformats.org/drawingml/2006/main" noGrp="1"/>
          </p:cNvSpPr>
          <p:nvPr/>
        </p:nvSpPr>
        <p:spPr>
          <a:xfrm xmlns:a="http://schemas.openxmlformats.org/drawingml/2006/main">
            <a:off x="609600" y="3714750"/>
            <a:ext cx="3743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9784B"/>
                </a:solidFill>
                <a:latin typeface="Arial"/>
                <a:ea typeface="Arial"/>
                <a:cs typeface="Arial"/>
              </a:defRPr>
            </a:defPPr>
          </a:lstStyle>
          <a:p xmlns:a="http://schemas.openxmlformats.org/drawingml/2006/main">
            <a:pPr algn="l">
              <a:defRPr sz="2025" b="1">
                <a:solidFill>
                  <a:srgbClr val="29784B"/>
                </a:solidFill>
                <a:latin typeface="Arial"/>
                <a:ea typeface="Arial"/>
                <a:cs typeface="Arial"/>
              </a:defRPr>
            </a:pPr>
            <a:r>
              <a:rPr sz="2025" b="1">
                <a:solidFill>
                  <a:srgbClr val="29784B"/>
                </a:solidFill>
                <a:latin typeface="Arial"/>
                <a:ea typeface="Arial"/>
                <a:cs typeface="Arial"/>
              </a:rPr>
              <a:t>Patterns and analytics</a:t>
            </a:r>
          </a:p>
        </p:txBody>
      </p:sp>
      <p:sp>
        <p:nvSpPr>
          <p:cNvPr id="11" name="text-51">
            <a:extLst xmlns:a="http://schemas.openxmlformats.org/drawingml/2006/main">
              <a:ext uri="{FF2B5EF4-FFF2-40B4-BE49-F238E27FC236}">
                <a16:creationId xmlns:a16="http://schemas.microsoft.com/office/drawing/2014/main" id="{712ACFD3-2DD6-4739-88DC-544E4824F809}"/>
              </a:ext>
            </a:extLst>
          </p:cNvPr>
          <p:cNvSpPr>
            <a:spLocks xmlns:a="http://schemas.openxmlformats.org/drawingml/2006/main" noGrp="1"/>
          </p:cNvSpPr>
          <p:nvPr/>
        </p:nvSpPr>
        <p:spPr>
          <a:xfrm xmlns:a="http://schemas.openxmlformats.org/drawingml/2006/main">
            <a:off x="4829175" y="3714750"/>
            <a:ext cx="66770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4655C"/>
                </a:solidFill>
                <a:latin typeface="Arial"/>
                <a:ea typeface="Arial"/>
                <a:cs typeface="Arial"/>
              </a:defRPr>
            </a:defPPr>
          </a:lstStyle>
          <a:p xmlns:a="http://schemas.openxmlformats.org/drawingml/2006/main">
            <a:pPr algn="l">
              <a:defRPr sz="1800" b="0">
                <a:solidFill>
                  <a:srgbClr val="54655C"/>
                </a:solidFill>
                <a:latin typeface="Arial"/>
                <a:ea typeface="Arial"/>
                <a:cs typeface="Arial"/>
              </a:defRPr>
            </a:pPr>
            <a:r>
              <a:rPr sz="1800" b="0">
                <a:solidFill>
                  <a:srgbClr val="54655C"/>
                </a:solidFill>
                <a:latin typeface="Arial"/>
                <a:ea typeface="Arial"/>
                <a:cs typeface="Arial"/>
              </a:rPr>
              <a:t>Find recurring hotspots, repeated complaints</a:t>
            </a:r>
          </a:p>
          <a:p xmlns:a="http://schemas.openxmlformats.org/drawingml/2006/main">
            <a:pPr algn="l">
              <a:defRPr sz="1800" b="0">
                <a:solidFill>
                  <a:srgbClr val="54655C"/>
                </a:solidFill>
                <a:latin typeface="Arial"/>
                <a:ea typeface="Arial"/>
                <a:cs typeface="Arial"/>
              </a:defRPr>
            </a:pPr>
            <a:r>
              <a:rPr sz="1800" b="0">
                <a:solidFill>
                  <a:srgbClr val="54655C"/>
                </a:solidFill>
                <a:latin typeface="Arial"/>
                <a:ea typeface="Arial"/>
                <a:cs typeface="Arial"/>
              </a:rPr>
              <a:t>and resolution trends.</a:t>
            </a:r>
          </a:p>
        </p:txBody>
      </p:sp>
      <p:sp>
        <p:nvSpPr>
          <p:cNvPr id="12" name="text-52">
            <a:extLst xmlns:a="http://schemas.openxmlformats.org/drawingml/2006/main">
              <a:ext uri="{FF2B5EF4-FFF2-40B4-BE49-F238E27FC236}">
                <a16:creationId xmlns:a16="http://schemas.microsoft.com/office/drawing/2014/main" id="{7A7A24F7-1207-4A3E-B681-8810771DA9AF}"/>
              </a:ext>
            </a:extLst>
          </p:cNvPr>
          <p:cNvSpPr>
            <a:spLocks xmlns:a="http://schemas.openxmlformats.org/drawingml/2006/main" noGrp="1"/>
          </p:cNvSpPr>
          <p:nvPr/>
        </p:nvSpPr>
        <p:spPr>
          <a:xfrm xmlns:a="http://schemas.openxmlformats.org/drawingml/2006/main">
            <a:off x="609600" y="4610100"/>
            <a:ext cx="3743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9784B"/>
                </a:solidFill>
                <a:latin typeface="Arial"/>
                <a:ea typeface="Arial"/>
                <a:cs typeface="Arial"/>
              </a:defRPr>
            </a:defPPr>
          </a:lstStyle>
          <a:p xmlns:a="http://schemas.openxmlformats.org/drawingml/2006/main">
            <a:pPr algn="l">
              <a:defRPr sz="2025" b="1">
                <a:solidFill>
                  <a:srgbClr val="29784B"/>
                </a:solidFill>
                <a:latin typeface="Arial"/>
                <a:ea typeface="Arial"/>
                <a:cs typeface="Arial"/>
              </a:defRPr>
            </a:pPr>
            <a:r>
              <a:rPr sz="2025" b="1">
                <a:solidFill>
                  <a:srgbClr val="29784B"/>
                </a:solidFill>
                <a:latin typeface="Arial"/>
                <a:ea typeface="Arial"/>
                <a:cs typeface="Arial"/>
              </a:rPr>
              <a:t>Ward officer visibility</a:t>
            </a:r>
          </a:p>
        </p:txBody>
      </p:sp>
      <p:sp>
        <p:nvSpPr>
          <p:cNvPr id="13" name="text-53">
            <a:extLst xmlns:a="http://schemas.openxmlformats.org/drawingml/2006/main">
              <a:ext uri="{FF2B5EF4-FFF2-40B4-BE49-F238E27FC236}">
                <a16:creationId xmlns:a16="http://schemas.microsoft.com/office/drawing/2014/main" id="{2995FFFE-FC0F-4825-9241-5C8A3EDB9DA5}"/>
              </a:ext>
            </a:extLst>
          </p:cNvPr>
          <p:cNvSpPr>
            <a:spLocks xmlns:a="http://schemas.openxmlformats.org/drawingml/2006/main" noGrp="1"/>
          </p:cNvSpPr>
          <p:nvPr/>
        </p:nvSpPr>
        <p:spPr>
          <a:xfrm xmlns:a="http://schemas.openxmlformats.org/drawingml/2006/main">
            <a:off x="4829175" y="4610100"/>
            <a:ext cx="66770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4655C"/>
                </a:solidFill>
                <a:latin typeface="Arial"/>
                <a:ea typeface="Arial"/>
                <a:cs typeface="Arial"/>
              </a:defRPr>
            </a:defPPr>
          </a:lstStyle>
          <a:p xmlns:a="http://schemas.openxmlformats.org/drawingml/2006/main">
            <a:pPr algn="l">
              <a:defRPr sz="1800" b="0">
                <a:solidFill>
                  <a:srgbClr val="54655C"/>
                </a:solidFill>
                <a:latin typeface="Arial"/>
                <a:ea typeface="Arial"/>
                <a:cs typeface="Arial"/>
              </a:defRPr>
            </a:pPr>
            <a:r>
              <a:rPr sz="1800" b="0">
                <a:solidFill>
                  <a:srgbClr val="54655C"/>
                </a:solidFill>
                <a:latin typeface="Arial"/>
                <a:ea typeface="Arial"/>
                <a:cs typeface="Arial"/>
              </a:rPr>
              <a:t>Link verified ward boundaries and officer contacts</a:t>
            </a:r>
          </a:p>
          <a:p xmlns:a="http://schemas.openxmlformats.org/drawingml/2006/main">
            <a:pPr algn="l">
              <a:defRPr sz="1800" b="0">
                <a:solidFill>
                  <a:srgbClr val="54655C"/>
                </a:solidFill>
                <a:latin typeface="Arial"/>
                <a:ea typeface="Arial"/>
                <a:cs typeface="Arial"/>
              </a:defRPr>
            </a:pPr>
            <a:r>
              <a:rPr sz="1800" b="0">
                <a:solidFill>
                  <a:srgbClr val="54655C"/>
                </a:solidFill>
                <a:latin typeface="Arial"/>
                <a:ea typeface="Arial"/>
                <a:cs typeface="Arial"/>
              </a:rPr>
              <a:t>to complaints on the public map.</a:t>
            </a:r>
          </a:p>
        </p:txBody>
      </p:sp>
      <p:sp>
        <p:nvSpPr>
          <p:cNvPr id="14" name="text-54">
            <a:extLst xmlns:a="http://schemas.openxmlformats.org/drawingml/2006/main">
              <a:ext uri="{FF2B5EF4-FFF2-40B4-BE49-F238E27FC236}">
                <a16:creationId xmlns:a16="http://schemas.microsoft.com/office/drawing/2014/main" id="{3E053DB0-B604-4865-876A-EE393EFA94AC}"/>
              </a:ext>
            </a:extLst>
          </p:cNvPr>
          <p:cNvSpPr>
            <a:spLocks xmlns:a="http://schemas.openxmlformats.org/drawingml/2006/main" noGrp="1"/>
          </p:cNvSpPr>
          <p:nvPr/>
        </p:nvSpPr>
        <p:spPr>
          <a:xfrm xmlns:a="http://schemas.openxmlformats.org/drawingml/2006/main">
            <a:off x="609600" y="56197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83C2F"/>
                </a:solidFill>
                <a:latin typeface="Arial"/>
                <a:ea typeface="Arial"/>
                <a:cs typeface="Arial"/>
              </a:defRPr>
            </a:defPPr>
          </a:lstStyle>
          <a:p xmlns:a="http://schemas.openxmlformats.org/drawingml/2006/main">
            <a:pPr algn="l">
              <a:defRPr sz="2175" b="1">
                <a:solidFill>
                  <a:srgbClr val="183C2F"/>
                </a:solidFill>
                <a:latin typeface="Arial"/>
                <a:ea typeface="Arial"/>
                <a:cs typeface="Arial"/>
              </a:defRPr>
            </a:pPr>
            <a:r>
              <a:rPr sz="2175" b="1">
                <a:solidFill>
                  <a:srgbClr val="183C2F"/>
                </a:solidFill>
                <a:latin typeface="Arial"/>
                <a:ea typeface="Arial"/>
                <a:cs typeface="Arial"/>
              </a:rPr>
              <a:t>Fast complaints. Evidence citizens can use.</a:t>
            </a:r>
          </a:p>
          <a:p xmlns:a="http://schemas.openxmlformats.org/drawingml/2006/main">
            <a:pPr algn="l">
              <a:defRPr sz="2175" b="1">
                <a:solidFill>
                  <a:srgbClr val="183C2F"/>
                </a:solidFill>
                <a:latin typeface="Arial"/>
                <a:ea typeface="Arial"/>
                <a:cs typeface="Arial"/>
              </a:defRPr>
            </a:pPr>
            <a:r>
              <a:rPr sz="2175" b="1">
                <a:solidFill>
                  <a:srgbClr val="183C2F"/>
                </a:solidFill>
                <a:latin typeface="Arial"/>
                <a:ea typeface="Arial"/>
                <a:cs typeface="Arial"/>
              </a:rPr>
              <a:t>Accountability everyone can see.</a:t>
            </a:r>
          </a:p>
        </p:txBody>
      </p:sp>
    </p:spTree>
    <p:extLst>
      <p:ext uri="{BB962C8B-B14F-4D97-AF65-F5344CB8AC3E}">
        <p14:creationId xmlns:p14="http://schemas.microsoft.com/office/powerpoint/2010/main" val="14181745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2026-10-11T09:29:51.2310000Z</dcterms:created>
  <dcterms:modified xsi:type="dcterms:W3CDTF">2026-10-11T09:29:51.2310000Z</dcterms:modified>
</coreProperties>
</file>