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93dafa71304d19" /><Relationship Type="http://schemas.openxmlformats.org/officeDocument/2006/relationships/extended-properties" Target="/docProps/app.xml" Id="R1312252f7831422d" /><Relationship Type="http://schemas.openxmlformats.org/officeDocument/2006/relationships/officeDocument" Target="/ppt/presentation.xml" Id="R7d29c60dffaf4e50" /></Relationships>
</file>

<file path=ppt/presentation.xml><?xml version="1.0" encoding="utf-8"?>
<p:presentation xmlns:p="http://schemas.openxmlformats.org/presentationml/2006/main">
  <p:sldMasterIdLst>
    <p:sldMasterId xmlns:r="http://schemas.openxmlformats.org/officeDocument/2006/relationships" id="2147483648" r:id="R95e08288d75a44eb"/>
  </p:sldMasterIdLst>
  <p:notesMasterIdLst>
    <p:notesMasterId xmlns:r="http://schemas.openxmlformats.org/officeDocument/2006/relationships" r:id="R68b80a0d55f34aec"/>
  </p:notesMasterIdLst>
  <p:sldIdLst>
    <p:sldId xmlns:r="http://schemas.openxmlformats.org/officeDocument/2006/relationships" id="256" r:id="Ree96f979823944f2"/>
    <p:sldId xmlns:r="http://schemas.openxmlformats.org/officeDocument/2006/relationships" id="257" r:id="R6c4db01d31884130"/>
    <p:sldId xmlns:r="http://schemas.openxmlformats.org/officeDocument/2006/relationships" id="258" r:id="Ra40e951adfc544cf"/>
    <p:sldId xmlns:r="http://schemas.openxmlformats.org/officeDocument/2006/relationships" id="259" r:id="R5f07dcae43f34656"/>
    <p:sldId xmlns:r="http://schemas.openxmlformats.org/officeDocument/2006/relationships" id="260" r:id="Ree72d30579204be9"/>
    <p:sldId xmlns:r="http://schemas.openxmlformats.org/officeDocument/2006/relationships" id="261" r:id="R44f11e1c3ab14224"/>
    <p:sldId xmlns:r="http://schemas.openxmlformats.org/officeDocument/2006/relationships" id="262" r:id="R2577c0ca6097477a"/>
    <p:sldId xmlns:r="http://schemas.openxmlformats.org/officeDocument/2006/relationships" id="263" r:id="R6c8e68f8d6d947e1"/>
    <p:sldId xmlns:r="http://schemas.openxmlformats.org/officeDocument/2006/relationships" id="264" r:id="Ra0da6e75e25441ec"/>
    <p:sldId xmlns:r="http://schemas.openxmlformats.org/officeDocument/2006/relationships" id="265" r:id="R325ad9f6547a4af6"/>
    <p:sldId xmlns:r="http://schemas.openxmlformats.org/officeDocument/2006/relationships" id="266" r:id="Rf9f2f1a9e0484a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66862094934f43" /><Relationship Type="http://schemas.openxmlformats.org/officeDocument/2006/relationships/slideMaster" Target="/ppt/slideMasters/slideMaster1.xml" Id="R95e08288d75a44eb" /><Relationship Type="http://schemas.openxmlformats.org/officeDocument/2006/relationships/notesMaster" Target="/ppt/notesMasters/notesMaster1.xml" Id="R68b80a0d55f34aec" /><Relationship Type="http://schemas.openxmlformats.org/officeDocument/2006/relationships/presProps" Target="/ppt/presProps.xml" Id="R1cf85c36a80c4f94" /><Relationship Type="http://schemas.openxmlformats.org/officeDocument/2006/relationships/tableStyles" Target="/ppt/tableStyles.xml" Id="R0f43106cdecd4687" /><Relationship Type="http://schemas.openxmlformats.org/officeDocument/2006/relationships/slide" Target="/ppt/slides/slide1.xml" Id="Ree96f979823944f2" /><Relationship Type="http://schemas.openxmlformats.org/officeDocument/2006/relationships/slide" Target="/ppt/slides/slide2.xml" Id="R6c4db01d31884130" /><Relationship Type="http://schemas.openxmlformats.org/officeDocument/2006/relationships/slide" Target="/ppt/slides/slide3.xml" Id="Ra40e951adfc544cf" /><Relationship Type="http://schemas.openxmlformats.org/officeDocument/2006/relationships/slide" Target="/ppt/slides/slide4.xml" Id="R5f07dcae43f34656" /><Relationship Type="http://schemas.openxmlformats.org/officeDocument/2006/relationships/slide" Target="/ppt/slides/slide5.xml" Id="Ree72d30579204be9" /><Relationship Type="http://schemas.openxmlformats.org/officeDocument/2006/relationships/slide" Target="/ppt/slides/slide6.xml" Id="R44f11e1c3ab14224" /><Relationship Type="http://schemas.openxmlformats.org/officeDocument/2006/relationships/slide" Target="/ppt/slides/slide7.xml" Id="R2577c0ca6097477a" /><Relationship Type="http://schemas.openxmlformats.org/officeDocument/2006/relationships/slide" Target="/ppt/slides/slide8.xml" Id="R6c8e68f8d6d947e1" /><Relationship Type="http://schemas.openxmlformats.org/officeDocument/2006/relationships/slide" Target="/ppt/slides/slide9.xml" Id="Ra0da6e75e25441ec" /><Relationship Type="http://schemas.openxmlformats.org/officeDocument/2006/relationships/slide" Target="/ppt/slides/slide10.xml" Id="R325ad9f6547a4af6" /><Relationship Type="http://schemas.openxmlformats.org/officeDocument/2006/relationships/slide" Target="/ppt/slides/slide11.xml" Id="Rf9f2f1a9e0484a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3ebc59cd8841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72c1627d364add" /><Relationship Type="http://schemas.openxmlformats.org/officeDocument/2006/relationships/notesMaster" Target="/ppt/notesMasters/notesMaster1.xml" Id="R932acd45600245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70075426904622" /><Relationship Type="http://schemas.openxmlformats.org/officeDocument/2006/relationships/notesMaster" Target="/ppt/notesMasters/notesMaster1.xml" Id="Rc55858fd58044d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010ec0b86547e2" /><Relationship Type="http://schemas.openxmlformats.org/officeDocument/2006/relationships/notesMaster" Target="/ppt/notesMasters/notesMaster1.xml" Id="Rbfa3c5cfd66a45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9f46bd102c4c38" /><Relationship Type="http://schemas.openxmlformats.org/officeDocument/2006/relationships/notesMaster" Target="/ppt/notesMasters/notesMaster1.xml" Id="R7666207ea44241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573d1a121043fa" /><Relationship Type="http://schemas.openxmlformats.org/officeDocument/2006/relationships/notesMaster" Target="/ppt/notesMasters/notesMaster1.xml" Id="R16e6bc2cb98246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e84a6ae4434009" /><Relationship Type="http://schemas.openxmlformats.org/officeDocument/2006/relationships/notesMaster" Target="/ppt/notesMasters/notesMaster1.xml" Id="R9aead356fce546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518dfbd19340f7" /><Relationship Type="http://schemas.openxmlformats.org/officeDocument/2006/relationships/notesMaster" Target="/ppt/notesMasters/notesMaster1.xml" Id="R6ac1f9a1fc1844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68c10ce1ac46b2" /><Relationship Type="http://schemas.openxmlformats.org/officeDocument/2006/relationships/notesMaster" Target="/ppt/notesMasters/notesMaster1.xml" Id="R31e555d3345349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83b5ef54a947ec" /><Relationship Type="http://schemas.openxmlformats.org/officeDocument/2006/relationships/notesMaster" Target="/ppt/notesMasters/notesMaster1.xml" Id="Ra5d197fb728f40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bf819ea7b6410d" /><Relationship Type="http://schemas.openxmlformats.org/officeDocument/2006/relationships/notesMaster" Target="/ppt/notesMasters/notesMaster1.xml" Id="R8fcd84cc1c4e45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65b4ae19e6405a" /><Relationship Type="http://schemas.openxmlformats.org/officeDocument/2006/relationships/notesMaster" Target="/ppt/notesMasters/notesMaster1.xml" Id="R7daa283908414f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submission for judge review before final selection. The three pillars are fast complaints, evidence collection, and the public dashboard with accountability. Brand asset: mobile/assets/images/civic-logo.png. No adoption or measured speed claims are made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supplied by the project team. This deck makes no quantified claim about complaint volumes or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connects reporting speed to documentation and public visibility. Accountability means providing a basis for follow-up and escalation. It does not guarantee an authority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mobile/src/hooks/useComplaintFlow.ts, mobile/src/hooks/useComplaintDraft.ts and complaint screens. Under 60 seconds is a design target, not a benchmark. Email and WhatsApp handoff do not prove delivery or official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mobile/src/data/civic.ts, mobile/src/hooks/useEvidenceCapture.ts and server/src/lib/complaints.ts. Trees require overall first and close-up second. Potholes require close-up first and wider context second. Other road/waste concerns support photo evidence. Phone noise estimates are indicative, not certified legal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server/src/lib/ai.ts, server/src/lib/complaints.ts, server/src/lib/fast-notice.ts if present and mobile/src/hooks/useComplaintDraft.ts. Cloud providers return validated structured observations. The backend owns authority routing and category templates. Additional issue scans operate within supported categories of the selected visual domain. The example on this slide describes a workflow, not a fabricated real complaint.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server/src/components/MapDashboard.tsx, MapComponent.tsx, mobile PublicMapScreen.tsx and verification flow. The map uses Leaflet and OpenStreetMap tiles. It runs in an embedded WebView. Complaint records and AI verification are not proof of official acknowledgement.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mobile/package.json, server/package.json, mobile/src/hooks/useComplaintFlow.ts, useLocalAI.ts, server/src/lib/ai.ts, repository.ts, config.ts and API route handlers. Node 24 uses node:sqlite. Media resides in server-managed files. Cloud vision goes through backend to OpenRouter/Gemini. Local Qwen3.5 is an optional native path that requires compatible installed model files and Android build. This is the current laptop-hosted prototype architecture, not a deployed production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coverage follows repository implementation at ac3aa88. This is a source review of feature coverage, not a claim that each device path was retested for this presentation. No user adoption, field deployment, measured response or speed statistics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walkthrough using the implemented pothole flow. It is not an account of a field result. The close-up and context photo requirement exists in mobile and server validation. Return from email composer does not confirm successful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items are planned, not implemented guarantees. The product collects documentation that may support escalation and legal proceedings. Court admissibility depends on applicable requirements. Future integrity work includes retaining originals, hashes, traceable changes and reviewed export procedures. Production work includes authentication, privacy controls, authority directory verification and durable hosting.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03208fa02345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8568a0f7b640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724038ccc541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1babac29454b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a3fb2be4db43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370f13f8f44a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CC8207-6F20-4989-9880-48C8B0840F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47C02D-110A-4D90-AC7A-E236F5C90E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9F7433-BA25-4106-B08F-ABE52AAC44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8686B4-1DBD-47DB-A2F5-1EB07B1938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203A8A0-0850-48F7-9612-796055E3C9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39A6FB-7FF2-4370-8823-224A8594A0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0496EE-F273-4095-BCF4-F165ED6B8A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781F2E-9ABA-459C-BA41-BB9DD5A03A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C2996E-7B86-438C-ADC9-944FF5737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E4D27D-CE7A-49DE-A5BD-94ECBFA14B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066737823d4a18" /><Relationship Type="http://schemas.openxmlformats.org/officeDocument/2006/relationships/slideLayout" Target="/ppt/slideLayouts/slideLayout1.xml" Id="Re69915e772c1434b" /><Relationship Type="http://schemas.openxmlformats.org/officeDocument/2006/relationships/slideLayout" Target="/ppt/slideLayouts/slideLayout2.xml" Id="R53b986ba05d84519" /><Relationship Type="http://schemas.openxmlformats.org/officeDocument/2006/relationships/slideLayout" Target="/ppt/slideLayouts/slideLayout3.xml" Id="R0c5fb95e887f46b0" /><Relationship Type="http://schemas.openxmlformats.org/officeDocument/2006/relationships/slideLayout" Target="/ppt/slideLayouts/slideLayout4.xml" Id="Rf8d2f5f9aa6f45cf" /><Relationship Type="http://schemas.openxmlformats.org/officeDocument/2006/relationships/slideLayout" Target="/ppt/slideLayouts/slideLayout5.xml" Id="R14b38749858d4ca2" /><Relationship Type="http://schemas.openxmlformats.org/officeDocument/2006/relationships/slideLayout" Target="/ppt/slideLayouts/slideLayout6.xml" Id="Rd342889f654d44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9915e772c1434b"/>
    <p:sldLayoutId xmlns:r="http://schemas.openxmlformats.org/officeDocument/2006/relationships" id="2147483650" r:id="R53b986ba05d84519"/>
    <p:sldLayoutId xmlns:r="http://schemas.openxmlformats.org/officeDocument/2006/relationships" id="2147483651" r:id="R0c5fb95e887f46b0"/>
    <p:sldLayoutId xmlns:r="http://schemas.openxmlformats.org/officeDocument/2006/relationships" id="2147483652" r:id="Rf8d2f5f9aa6f45cf"/>
    <p:sldLayoutId xmlns:r="http://schemas.openxmlformats.org/officeDocument/2006/relationships" id="2147483653" r:id="R14b38749858d4ca2"/>
    <p:sldLayoutId xmlns:r="http://schemas.openxmlformats.org/officeDocument/2006/relationships" id="2147483654" r:id="Rd342889f654d44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e991512e644c66" /><Relationship Type="http://schemas.openxmlformats.org/officeDocument/2006/relationships/image" Target="/ppt/media/image.png" Id="R9ae0a3a0114c4faa" /><Relationship Type="http://schemas.openxmlformats.org/officeDocument/2006/relationships/notesSlide" Target="/ppt/notesSlides/notesSlide1.xml" Id="Rb7eaa50ea9764a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7de10161ac4dda" /><Relationship Type="http://schemas.openxmlformats.org/officeDocument/2006/relationships/notesSlide" Target="/ppt/notesSlides/notesSlide2.xml" Id="R5e02b8a16b3a40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1b996aed654db8" /><Relationship Type="http://schemas.openxmlformats.org/officeDocument/2006/relationships/notesSlide" Target="/ppt/notesSlides/notesSlide3.xml" Id="R789eddca9c8740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c566a3c4bb411b" /><Relationship Type="http://schemas.openxmlformats.org/officeDocument/2006/relationships/notesSlide" Target="/ppt/notesSlides/notesSlide4.xml" Id="Rbdd3e6686a8940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d67ca53c6d482a" /><Relationship Type="http://schemas.openxmlformats.org/officeDocument/2006/relationships/notesSlide" Target="/ppt/notesSlides/notesSlide5.xml" Id="R8b6baca91d2849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7f14960543445e" /><Relationship Type="http://schemas.openxmlformats.org/officeDocument/2006/relationships/notesSlide" Target="/ppt/notesSlides/notesSlide6.xml" Id="Rfc64abc071564c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a52749ece54b4a" /><Relationship Type="http://schemas.openxmlformats.org/officeDocument/2006/relationships/notesSlide" Target="/ppt/notesSlides/notesSlide7.xml" Id="R488034aa751843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081482b75444ef" /><Relationship Type="http://schemas.openxmlformats.org/officeDocument/2006/relationships/notesSlide" Target="/ppt/notesSlides/notesSlide8.xml" Id="R83578cde50a74f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65f5a9175746eb" /><Relationship Type="http://schemas.openxmlformats.org/officeDocument/2006/relationships/notesSlide" Target="/ppt/notesSlides/notesSlide9.xml" Id="R8d1d7ee213fd48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4b1d32d0634b7d" /><Relationship Type="http://schemas.openxmlformats.org/officeDocument/2006/relationships/notesSlide" Target="/ppt/notesSlides/notesSlide10.xml" Id="R1e8ae2f79f644d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930b0737d054bb0" /><Relationship Type="http://schemas.openxmlformats.org/officeDocument/2006/relationships/notesSlide" Target="/ppt/notesSlides/notesSlide11.xml" Id="Rb022fc1036e94ab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1368F7FD-5FAF-4E09-A0F5-9799009AA981}"/>
              </a:ext>
            </a:extLst>
          </p:cNvPr>
          <p:cNvSpPr>
            <a:spLocks xmlns:a="http://schemas.openxmlformats.org/drawingml/2006/main" noGrp="1"/>
          </p:cNvSpPr>
          <p:nvPr/>
        </p:nvSpPr>
        <p:spPr>
          <a:xfrm xmlns:a="http://schemas.openxmlformats.org/drawingml/2006/main">
            <a:off x="609600" y="5143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29784B"/>
                </a:solidFill>
                <a:latin typeface="Arial"/>
                <a:ea typeface="Arial"/>
                <a:cs typeface="Arial"/>
              </a:defRPr>
            </a:defPPr>
          </a:lstStyle>
          <a:p xmlns:a="http://schemas.openxmlformats.org/drawingml/2006/main">
            <a:pPr algn="l">
              <a:defRPr sz="1275" b="1">
                <a:solidFill>
                  <a:srgbClr val="29784B"/>
                </a:solidFill>
                <a:latin typeface="Arial"/>
                <a:ea typeface="Arial"/>
                <a:cs typeface="Arial"/>
              </a:defRPr>
            </a:pPr>
            <a:r>
              <a:rPr sz="1275" b="1">
                <a:solidFill>
                  <a:srgbClr val="29784B"/>
                </a:solidFill>
                <a:latin typeface="Arial"/>
                <a:ea typeface="Arial"/>
                <a:cs typeface="Arial"/>
              </a:rPr>
              <a:t>HACKATHON SELECTION REVIEW</a:t>
            </a:r>
          </a:p>
        </p:txBody>
      </p:sp>
      <p:sp>
        <p:nvSpPr>
          <p:cNvPr id="2" name="text-2">
            <a:extLst xmlns:a="http://schemas.openxmlformats.org/drawingml/2006/main">
              <a:ext uri="{FF2B5EF4-FFF2-40B4-BE49-F238E27FC236}">
                <a16:creationId xmlns:a16="http://schemas.microsoft.com/office/drawing/2014/main" id="{BA7264AF-A783-4BA3-A42B-D67FDBEA38D7}"/>
              </a:ext>
            </a:extLst>
          </p:cNvPr>
          <p:cNvSpPr>
            <a:spLocks xmlns:a="http://schemas.openxmlformats.org/drawingml/2006/main" noGrp="1"/>
          </p:cNvSpPr>
          <p:nvPr/>
        </p:nvSpPr>
        <p:spPr>
          <a:xfrm xmlns:a="http://schemas.openxmlformats.org/drawingml/2006/main">
            <a:off x="609600" y="1562100"/>
            <a:ext cx="70008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83C2F"/>
                </a:solidFill>
                <a:latin typeface="Arial"/>
                <a:ea typeface="Arial"/>
                <a:cs typeface="Arial"/>
              </a:defRPr>
            </a:defPPr>
          </a:lstStyle>
          <a:p xmlns:a="http://schemas.openxmlformats.org/drawingml/2006/main">
            <a:pPr algn="l">
              <a:defRPr sz="5700" b="1">
                <a:solidFill>
                  <a:srgbClr val="183C2F"/>
                </a:solidFill>
                <a:latin typeface="Arial"/>
                <a:ea typeface="Arial"/>
                <a:cs typeface="Arial"/>
              </a:defRPr>
            </a:pPr>
            <a:r>
              <a:rPr sz="5700" b="1">
                <a:solidFill>
                  <a:srgbClr val="183C2F"/>
                </a:solidFill>
                <a:latin typeface="Arial"/>
                <a:ea typeface="Arial"/>
                <a:cs typeface="Arial"/>
              </a:rPr>
              <a:t>Pune Fast</a:t>
            </a:r>
          </a:p>
          <a:p xmlns:a="http://schemas.openxmlformats.org/drawingml/2006/main">
            <a:pPr algn="l">
              <a:defRPr sz="5700" b="1">
                <a:solidFill>
                  <a:srgbClr val="183C2F"/>
                </a:solidFill>
                <a:latin typeface="Arial"/>
                <a:ea typeface="Arial"/>
                <a:cs typeface="Arial"/>
              </a:defRPr>
            </a:pPr>
            <a:r>
              <a:rPr sz="5700" b="1">
                <a:solidFill>
                  <a:srgbClr val="183C2F"/>
                </a:solidFill>
                <a:latin typeface="Arial"/>
                <a:ea typeface="Arial"/>
                <a:cs typeface="Arial"/>
              </a:rPr>
              <a:t>Complaint</a:t>
            </a:r>
          </a:p>
        </p:txBody>
      </p:sp>
      <p:sp>
        <p:nvSpPr>
          <p:cNvPr id="3" name="text-3">
            <a:extLst xmlns:a="http://schemas.openxmlformats.org/drawingml/2006/main">
              <a:ext uri="{FF2B5EF4-FFF2-40B4-BE49-F238E27FC236}">
                <a16:creationId xmlns:a16="http://schemas.microsoft.com/office/drawing/2014/main" id="{23352363-8B90-4F35-B243-43C474A5469F}"/>
              </a:ext>
            </a:extLst>
          </p:cNvPr>
          <p:cNvSpPr>
            <a:spLocks xmlns:a="http://schemas.openxmlformats.org/drawingml/2006/main" noGrp="1"/>
          </p:cNvSpPr>
          <p:nvPr/>
        </p:nvSpPr>
        <p:spPr>
          <a:xfrm xmlns:a="http://schemas.openxmlformats.org/drawingml/2006/main">
            <a:off x="638175" y="3695700"/>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29784B"/>
                </a:solidFill>
                <a:latin typeface="Arial"/>
                <a:ea typeface="Arial"/>
                <a:cs typeface="Arial"/>
              </a:defRPr>
            </a:defPPr>
          </a:lstStyle>
          <a:p xmlns:a="http://schemas.openxmlformats.org/drawingml/2006/main">
            <a:pPr algn="l">
              <a:defRPr sz="2625" b="1">
                <a:solidFill>
                  <a:srgbClr val="29784B"/>
                </a:solidFill>
                <a:latin typeface="Arial"/>
                <a:ea typeface="Arial"/>
                <a:cs typeface="Arial"/>
              </a:defRPr>
            </a:pPr>
            <a:r>
              <a:rPr sz="2625" b="1">
                <a:solidFill>
                  <a:srgbClr val="29784B"/>
                </a:solidFill>
                <a:latin typeface="Arial"/>
                <a:ea typeface="Arial"/>
                <a:cs typeface="Arial"/>
              </a:rPr>
              <a:t>Fast filing. Clear evidence.</a:t>
            </a:r>
          </a:p>
          <a:p xmlns:a="http://schemas.openxmlformats.org/drawingml/2006/main">
            <a:pPr algn="l">
              <a:defRPr sz="2625" b="1">
                <a:solidFill>
                  <a:srgbClr val="29784B"/>
                </a:solidFill>
                <a:latin typeface="Arial"/>
                <a:ea typeface="Arial"/>
                <a:cs typeface="Arial"/>
              </a:defRPr>
            </a:pPr>
            <a:r>
              <a:rPr sz="2625" b="1">
                <a:solidFill>
                  <a:srgbClr val="29784B"/>
                </a:solidFill>
                <a:latin typeface="Arial"/>
                <a:ea typeface="Arial"/>
                <a:cs typeface="Arial"/>
              </a:rPr>
              <a:t>Public accountability.</a:t>
            </a:r>
          </a:p>
        </p:txBody>
      </p:sp>
      <p:sp>
        <p:nvSpPr>
          <p:cNvPr id="4" name="text-4">
            <a:extLst xmlns:a="http://schemas.openxmlformats.org/drawingml/2006/main">
              <a:ext uri="{FF2B5EF4-FFF2-40B4-BE49-F238E27FC236}">
                <a16:creationId xmlns:a16="http://schemas.microsoft.com/office/drawing/2014/main" id="{FA3E5CEB-F109-46BB-BEA3-340C9C787228}"/>
              </a:ext>
            </a:extLst>
          </p:cNvPr>
          <p:cNvSpPr>
            <a:spLocks xmlns:a="http://schemas.openxmlformats.org/drawingml/2006/main" noGrp="1"/>
          </p:cNvSpPr>
          <p:nvPr/>
        </p:nvSpPr>
        <p:spPr>
          <a:xfrm xmlns:a="http://schemas.openxmlformats.org/drawingml/2006/main">
            <a:off x="638175" y="5095875"/>
            <a:ext cx="728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4655C"/>
                </a:solidFill>
                <a:latin typeface="Arial"/>
                <a:ea typeface="Arial"/>
                <a:cs typeface="Arial"/>
              </a:defRPr>
            </a:defPPr>
          </a:lstStyle>
          <a:p xmlns:a="http://schemas.openxmlformats.org/drawingml/2006/main">
            <a:pPr algn="l">
              <a:defRPr sz="1950" b="0">
                <a:solidFill>
                  <a:srgbClr val="54655C"/>
                </a:solidFill>
                <a:latin typeface="Arial"/>
                <a:ea typeface="Arial"/>
                <a:cs typeface="Arial"/>
              </a:defRPr>
            </a:pPr>
            <a:r>
              <a:rPr sz="1950" b="0">
                <a:solidFill>
                  <a:srgbClr val="54655C"/>
                </a:solidFill>
                <a:latin typeface="Arial"/>
                <a:ea typeface="Arial"/>
                <a:cs typeface="Arial"/>
              </a:rPr>
              <a:t>An AI-powered civic platform for citizens</a:t>
            </a:r>
          </a:p>
        </p:txBody>
      </p:sp>
      <p:pic>
        <p:nvPicPr>
          <p:cNvPr id="5" name="">
            <a:extLst xmlns:a="http://schemas.openxmlformats.org/drawingml/2006/main">
              <a:ext uri="{FF2B5EF4-FFF2-40B4-BE49-F238E27FC236}">
                <a16:creationId xmlns:a16="http://schemas.microsoft.com/office/drawing/2014/main" id="{A8BC2E42-E36F-4134-880C-B0FF7DDDB96F}"/>
              </a:ext>
            </a:extLst>
          </p:cNvPr>
          <p:cNvPicPr>
            <a:picLocks xmlns:a="http://schemas.openxmlformats.org/drawingml/2006/main" noChangeAspect="1"/>
          </p:cNvPicPr>
          <p:nvPr/>
        </p:nvPicPr>
        <p:blipFill>
          <a:blip xmlns:r="http://schemas.openxmlformats.org/officeDocument/2006/relationships" xmlns:a="http://schemas.openxmlformats.org/drawingml/2006/main" r:embed="R9ae0a3a0114c4faa"/>
          <a:stretch xmlns:a="http://schemas.openxmlformats.org/drawingml/2006/main"/>
        </p:blipFill>
        <p:spPr>
          <a:xfrm xmlns:a="http://schemas.openxmlformats.org/drawingml/2006/main">
            <a:off x="8096250" y="1619250"/>
            <a:ext cx="3238500" cy="323850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F607AB7D-DBCC-4FDC-A22F-C83052950631}"/>
              </a:ext>
            </a:extLst>
          </p:cNvPr>
          <p:cNvSpPr>
            <a:spLocks xmlns:a="http://schemas.openxmlformats.org/drawingml/2006/main" noGrp="1"/>
          </p:cNvSpPr>
          <p:nvPr/>
        </p:nvSpPr>
        <p:spPr>
          <a:xfrm xmlns:a="http://schemas.openxmlformats.org/drawingml/2006/main">
            <a:off x="638175" y="6191250"/>
            <a:ext cx="647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54655C"/>
                </a:solidFill>
                <a:latin typeface="Arial"/>
                <a:ea typeface="Arial"/>
                <a:cs typeface="Arial"/>
              </a:defRPr>
            </a:defPPr>
          </a:lstStyle>
          <a:p xmlns:a="http://schemas.openxmlformats.org/drawingml/2006/main">
            <a:pPr algn="l">
              <a:defRPr sz="1200" b="1">
                <a:solidFill>
                  <a:srgbClr val="54655C"/>
                </a:solidFill>
                <a:latin typeface="Arial"/>
                <a:ea typeface="Arial"/>
                <a:cs typeface="Arial"/>
              </a:defRPr>
            </a:pPr>
            <a:r>
              <a:rPr sz="1200" b="1">
                <a:solidFill>
                  <a:srgbClr val="54655C"/>
                </a:solidFill>
                <a:latin typeface="Arial"/>
                <a:ea typeface="Arial"/>
                <a:cs typeface="Arial"/>
              </a:rPr>
              <a:t>ANDROID PROTOTYPE</a:t>
            </a:r>
          </a:p>
        </p:txBody>
      </p:sp>
    </p:spTree>
    <p:extLst>
      <p:ext uri="{BB962C8B-B14F-4D97-AF65-F5344CB8AC3E}">
        <p14:creationId xmlns:p14="http://schemas.microsoft.com/office/powerpoint/2010/main" val="228666955"/>
      </p:ext>
    </p:extLst>
  </p:cSld>
</p:sld>
</file>

<file path=ppt/slides/slide2.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5" name="text-6">
            <a:extLst xmlns:a="http://schemas.openxmlformats.org/drawingml/2006/main">
              <a:ext uri="{FF2B5EF4-FFF2-40B4-BE49-F238E27FC236}">
                <a16:creationId xmlns:a16="http://schemas.microsoft.com/office/drawing/2014/main" id="{838C7B6C-B609-4693-A967-69FD8E6E4BCC}"/>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PROBLEM</a:t>
            </a:r>
          </a:p>
        </p:txBody>
      </p:sp>
      <p:sp>
        <p:nvSpPr>
          <p:cNvPr id="2" name="text-7">
            <a:extLst xmlns:a="http://schemas.openxmlformats.org/drawingml/2006/main">
              <a:ext uri="{FF2B5EF4-FFF2-40B4-BE49-F238E27FC236}">
                <a16:creationId xmlns:a16="http://schemas.microsoft.com/office/drawing/2014/main" id="{9B2E256D-F829-48DB-BC01-90DB7720CB45}"/>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The civic reporting gap</a:t>
            </a:r>
          </a:p>
        </p:txBody>
      </p:sp>
      <p:sp>
        <p:nvSpPr>
          <p:cNvPr id="3" name="frame-8">
            <a:extLst xmlns:a="http://schemas.openxmlformats.org/drawingml/2006/main">
              <a:ext uri="{FF2B5EF4-FFF2-40B4-BE49-F238E27FC236}">
                <a16:creationId xmlns:a16="http://schemas.microsoft.com/office/drawing/2014/main" id="{091678F7-09C1-47D3-94CC-6DC495170F1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9">
            <a:extLst xmlns:a="http://schemas.openxmlformats.org/drawingml/2006/main">
              <a:ext uri="{FF2B5EF4-FFF2-40B4-BE49-F238E27FC236}">
                <a16:creationId xmlns:a16="http://schemas.microsoft.com/office/drawing/2014/main" id="{7D09381E-D427-4A2E-90A1-0E1442CC69F3}"/>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10">
            <a:extLst xmlns:a="http://schemas.openxmlformats.org/drawingml/2006/main">
              <a:ext uri="{FF2B5EF4-FFF2-40B4-BE49-F238E27FC236}">
                <a16:creationId xmlns:a16="http://schemas.microsoft.com/office/drawing/2014/main" id="{57122A9B-E98D-4282-A0B7-906766A504B4}"/>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02</a:t>
            </a:r>
          </a:p>
        </p:txBody>
      </p:sp>
      <p:sp>
        <p:nvSpPr>
          <p:cNvPr id="6" name="text-11">
            <a:extLst xmlns:a="http://schemas.openxmlformats.org/drawingml/2006/main">
              <a:ext uri="{FF2B5EF4-FFF2-40B4-BE49-F238E27FC236}">
                <a16:creationId xmlns:a16="http://schemas.microsoft.com/office/drawing/2014/main" id="{D5561BAC-FEC0-43D1-A8F1-809F0C504952}"/>
              </a:ext>
            </a:extLst>
          </p:cNvPr>
          <p:cNvSpPr>
            <a:spLocks xmlns:a="http://schemas.openxmlformats.org/drawingml/2006/main" noGrp="1"/>
          </p:cNvSpPr>
          <p:nvPr/>
        </p:nvSpPr>
        <p:spPr>
          <a:xfrm xmlns:a="http://schemas.openxmlformats.org/drawingml/2006/main">
            <a:off x="609600" y="210502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9784B"/>
                </a:solidFill>
                <a:latin typeface="Arial"/>
                <a:ea typeface="Arial"/>
                <a:cs typeface="Arial"/>
              </a:defRPr>
            </a:defPPr>
          </a:lstStyle>
          <a:p xmlns:a="http://schemas.openxmlformats.org/drawingml/2006/main">
            <a:pPr algn="l">
              <a:defRPr sz="2850" b="1">
                <a:solidFill>
                  <a:srgbClr val="29784B"/>
                </a:solidFill>
                <a:latin typeface="Arial"/>
                <a:ea typeface="Arial"/>
                <a:cs typeface="Arial"/>
              </a:defRPr>
            </a:pPr>
            <a:r>
              <a:rPr sz="2850" b="1">
                <a:solidFill>
                  <a:srgbClr val="29784B"/>
                </a:solidFill>
                <a:latin typeface="Arial"/>
                <a:ea typeface="Arial"/>
                <a:cs typeface="Arial"/>
              </a:rPr>
              <a:t>01</a:t>
            </a:r>
          </a:p>
        </p:txBody>
      </p:sp>
      <p:sp>
        <p:nvSpPr>
          <p:cNvPr id="7" name="text-12">
            <a:extLst xmlns:a="http://schemas.openxmlformats.org/drawingml/2006/main">
              <a:ext uri="{FF2B5EF4-FFF2-40B4-BE49-F238E27FC236}">
                <a16:creationId xmlns:a16="http://schemas.microsoft.com/office/drawing/2014/main" id="{58B5C63E-F26C-4E79-AF88-3E0E9F078873}"/>
              </a:ext>
            </a:extLst>
          </p:cNvPr>
          <p:cNvSpPr>
            <a:spLocks xmlns:a="http://schemas.openxmlformats.org/drawingml/2006/main" noGrp="1"/>
          </p:cNvSpPr>
          <p:nvPr/>
        </p:nvSpPr>
        <p:spPr>
          <a:xfrm xmlns:a="http://schemas.openxmlformats.org/drawingml/2006/main">
            <a:off x="1438275" y="2124075"/>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3C2F"/>
                </a:solidFill>
                <a:latin typeface="Arial"/>
                <a:ea typeface="Arial"/>
                <a:cs typeface="Arial"/>
              </a:defRPr>
            </a:defPPr>
          </a:lstStyle>
          <a:p xmlns:a="http://schemas.openxmlformats.org/drawingml/2006/main">
            <a:pPr algn="l">
              <a:defRPr sz="2100" b="1">
                <a:solidFill>
                  <a:srgbClr val="183C2F"/>
                </a:solidFill>
                <a:latin typeface="Arial"/>
                <a:ea typeface="Arial"/>
                <a:cs typeface="Arial"/>
              </a:defRPr>
            </a:pPr>
            <a:r>
              <a:rPr sz="2100" b="1">
                <a:solidFill>
                  <a:srgbClr val="183C2F"/>
                </a:solidFill>
                <a:latin typeface="Arial"/>
                <a:ea typeface="Arial"/>
                <a:cs typeface="Arial"/>
              </a:rPr>
              <a:t>Too much effort</a:t>
            </a:r>
          </a:p>
        </p:txBody>
      </p:sp>
      <p:sp>
        <p:nvSpPr>
          <p:cNvPr id="8" name="text-13">
            <a:extLst xmlns:a="http://schemas.openxmlformats.org/drawingml/2006/main">
              <a:ext uri="{FF2B5EF4-FFF2-40B4-BE49-F238E27FC236}">
                <a16:creationId xmlns:a16="http://schemas.microsoft.com/office/drawing/2014/main" id="{13EEE09C-D7BD-4D35-AB56-EE40D7FB87CC}"/>
              </a:ext>
            </a:extLst>
          </p:cNvPr>
          <p:cNvSpPr>
            <a:spLocks xmlns:a="http://schemas.openxmlformats.org/drawingml/2006/main" noGrp="1"/>
          </p:cNvSpPr>
          <p:nvPr/>
        </p:nvSpPr>
        <p:spPr>
          <a:xfrm xmlns:a="http://schemas.openxmlformats.org/drawingml/2006/main">
            <a:off x="5219700" y="2124075"/>
            <a:ext cx="623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Lengthy forms, unclear contacts and formal writing discourage citizens from reporting.</a:t>
            </a:r>
          </a:p>
        </p:txBody>
      </p:sp>
      <p:sp>
        <p:nvSpPr>
          <p:cNvPr id="9" name="text-14">
            <a:extLst xmlns:a="http://schemas.openxmlformats.org/drawingml/2006/main">
              <a:ext uri="{FF2B5EF4-FFF2-40B4-BE49-F238E27FC236}">
                <a16:creationId xmlns:a16="http://schemas.microsoft.com/office/drawing/2014/main" id="{459325BD-0A16-4216-9381-73030169383D}"/>
              </a:ext>
            </a:extLst>
          </p:cNvPr>
          <p:cNvSpPr>
            <a:spLocks xmlns:a="http://schemas.openxmlformats.org/drawingml/2006/main" noGrp="1"/>
          </p:cNvSpPr>
          <p:nvPr/>
        </p:nvSpPr>
        <p:spPr>
          <a:xfrm xmlns:a="http://schemas.openxmlformats.org/drawingml/2006/main">
            <a:off x="609600" y="341947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9784B"/>
                </a:solidFill>
                <a:latin typeface="Arial"/>
                <a:ea typeface="Arial"/>
                <a:cs typeface="Arial"/>
              </a:defRPr>
            </a:defPPr>
          </a:lstStyle>
          <a:p xmlns:a="http://schemas.openxmlformats.org/drawingml/2006/main">
            <a:pPr algn="l">
              <a:defRPr sz="2850" b="1">
                <a:solidFill>
                  <a:srgbClr val="29784B"/>
                </a:solidFill>
                <a:latin typeface="Arial"/>
                <a:ea typeface="Arial"/>
                <a:cs typeface="Arial"/>
              </a:defRPr>
            </a:pPr>
            <a:r>
              <a:rPr sz="2850" b="1">
                <a:solidFill>
                  <a:srgbClr val="29784B"/>
                </a:solidFill>
                <a:latin typeface="Arial"/>
                <a:ea typeface="Arial"/>
                <a:cs typeface="Arial"/>
              </a:rPr>
              <a:t>02</a:t>
            </a:r>
          </a:p>
        </p:txBody>
      </p:sp>
      <p:sp>
        <p:nvSpPr>
          <p:cNvPr id="10" name="text-15">
            <a:extLst xmlns:a="http://schemas.openxmlformats.org/drawingml/2006/main">
              <a:ext uri="{FF2B5EF4-FFF2-40B4-BE49-F238E27FC236}">
                <a16:creationId xmlns:a16="http://schemas.microsoft.com/office/drawing/2014/main" id="{252DECCB-B528-446B-944F-5EAF1392369E}"/>
              </a:ext>
            </a:extLst>
          </p:cNvPr>
          <p:cNvSpPr>
            <a:spLocks xmlns:a="http://schemas.openxmlformats.org/drawingml/2006/main" noGrp="1"/>
          </p:cNvSpPr>
          <p:nvPr/>
        </p:nvSpPr>
        <p:spPr>
          <a:xfrm xmlns:a="http://schemas.openxmlformats.org/drawingml/2006/main">
            <a:off x="1438275" y="3438525"/>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3C2F"/>
                </a:solidFill>
                <a:latin typeface="Arial"/>
                <a:ea typeface="Arial"/>
                <a:cs typeface="Arial"/>
              </a:defRPr>
            </a:defPPr>
          </a:lstStyle>
          <a:p xmlns:a="http://schemas.openxmlformats.org/drawingml/2006/main">
            <a:pPr algn="l">
              <a:defRPr sz="2100" b="1">
                <a:solidFill>
                  <a:srgbClr val="183C2F"/>
                </a:solidFill>
                <a:latin typeface="Arial"/>
                <a:ea typeface="Arial"/>
                <a:cs typeface="Arial"/>
              </a:defRPr>
            </a:pPr>
            <a:r>
              <a:rPr sz="2100" b="1">
                <a:solidFill>
                  <a:srgbClr val="183C2F"/>
                </a:solidFill>
                <a:latin typeface="Arial"/>
                <a:ea typeface="Arial"/>
                <a:cs typeface="Arial"/>
              </a:rPr>
              <a:t>Weak documentation</a:t>
            </a:r>
          </a:p>
        </p:txBody>
      </p:sp>
      <p:sp>
        <p:nvSpPr>
          <p:cNvPr id="11" name="text-16">
            <a:extLst xmlns:a="http://schemas.openxmlformats.org/drawingml/2006/main">
              <a:ext uri="{FF2B5EF4-FFF2-40B4-BE49-F238E27FC236}">
                <a16:creationId xmlns:a16="http://schemas.microsoft.com/office/drawing/2014/main" id="{5C7F7359-2371-4F82-99F7-2B36D8D9E887}"/>
              </a:ext>
            </a:extLst>
          </p:cNvPr>
          <p:cNvSpPr>
            <a:spLocks xmlns:a="http://schemas.openxmlformats.org/drawingml/2006/main" noGrp="1"/>
          </p:cNvSpPr>
          <p:nvPr/>
        </p:nvSpPr>
        <p:spPr>
          <a:xfrm xmlns:a="http://schemas.openxmlformats.org/drawingml/2006/main">
            <a:off x="5219700" y="3438525"/>
            <a:ext cx="623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A complaint without clear evidence, location or follow-up is harder to investigate and escalate.</a:t>
            </a:r>
          </a:p>
        </p:txBody>
      </p:sp>
      <p:sp>
        <p:nvSpPr>
          <p:cNvPr id="12" name="text-17">
            <a:extLst xmlns:a="http://schemas.openxmlformats.org/drawingml/2006/main">
              <a:ext uri="{FF2B5EF4-FFF2-40B4-BE49-F238E27FC236}">
                <a16:creationId xmlns:a16="http://schemas.microsoft.com/office/drawing/2014/main" id="{57605432-F047-4B39-BEDE-D01F3382EFB0}"/>
              </a:ext>
            </a:extLst>
          </p:cNvPr>
          <p:cNvSpPr>
            <a:spLocks xmlns:a="http://schemas.openxmlformats.org/drawingml/2006/main" noGrp="1"/>
          </p:cNvSpPr>
          <p:nvPr/>
        </p:nvSpPr>
        <p:spPr>
          <a:xfrm xmlns:a="http://schemas.openxmlformats.org/drawingml/2006/main">
            <a:off x="609600" y="473392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9784B"/>
                </a:solidFill>
                <a:latin typeface="Arial"/>
                <a:ea typeface="Arial"/>
                <a:cs typeface="Arial"/>
              </a:defRPr>
            </a:defPPr>
          </a:lstStyle>
          <a:p xmlns:a="http://schemas.openxmlformats.org/drawingml/2006/main">
            <a:pPr algn="l">
              <a:defRPr sz="2850" b="1">
                <a:solidFill>
                  <a:srgbClr val="29784B"/>
                </a:solidFill>
                <a:latin typeface="Arial"/>
                <a:ea typeface="Arial"/>
                <a:cs typeface="Arial"/>
              </a:defRPr>
            </a:pPr>
            <a:r>
              <a:rPr sz="2850" b="1">
                <a:solidFill>
                  <a:srgbClr val="29784B"/>
                </a:solidFill>
                <a:latin typeface="Arial"/>
                <a:ea typeface="Arial"/>
                <a:cs typeface="Arial"/>
              </a:rPr>
              <a:t>03</a:t>
            </a:r>
          </a:p>
        </p:txBody>
      </p:sp>
      <p:sp>
        <p:nvSpPr>
          <p:cNvPr id="13" name="text-18">
            <a:extLst xmlns:a="http://schemas.openxmlformats.org/drawingml/2006/main">
              <a:ext uri="{FF2B5EF4-FFF2-40B4-BE49-F238E27FC236}">
                <a16:creationId xmlns:a16="http://schemas.microsoft.com/office/drawing/2014/main" id="{D70C118B-F015-4866-8333-13D3F2BC9BA3}"/>
              </a:ext>
            </a:extLst>
          </p:cNvPr>
          <p:cNvSpPr>
            <a:spLocks xmlns:a="http://schemas.openxmlformats.org/drawingml/2006/main" noGrp="1"/>
          </p:cNvSpPr>
          <p:nvPr/>
        </p:nvSpPr>
        <p:spPr>
          <a:xfrm xmlns:a="http://schemas.openxmlformats.org/drawingml/2006/main">
            <a:off x="1438275" y="4752975"/>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3C2F"/>
                </a:solidFill>
                <a:latin typeface="Arial"/>
                <a:ea typeface="Arial"/>
                <a:cs typeface="Arial"/>
              </a:defRPr>
            </a:defPPr>
          </a:lstStyle>
          <a:p xmlns:a="http://schemas.openxmlformats.org/drawingml/2006/main">
            <a:pPr algn="l">
              <a:defRPr sz="2100" b="1">
                <a:solidFill>
                  <a:srgbClr val="183C2F"/>
                </a:solidFill>
                <a:latin typeface="Arial"/>
                <a:ea typeface="Arial"/>
                <a:cs typeface="Arial"/>
              </a:defRPr>
            </a:pPr>
            <a:r>
              <a:rPr sz="2100" b="1">
                <a:solidFill>
                  <a:srgbClr val="183C2F"/>
                </a:solidFill>
                <a:latin typeface="Arial"/>
                <a:ea typeface="Arial"/>
                <a:cs typeface="Arial"/>
              </a:rPr>
              <a:t>Little public visibility</a:t>
            </a:r>
          </a:p>
        </p:txBody>
      </p:sp>
      <p:sp>
        <p:nvSpPr>
          <p:cNvPr id="14" name="text-19">
            <a:extLst xmlns:a="http://schemas.openxmlformats.org/drawingml/2006/main">
              <a:ext uri="{FF2B5EF4-FFF2-40B4-BE49-F238E27FC236}">
                <a16:creationId xmlns:a16="http://schemas.microsoft.com/office/drawing/2014/main" id="{47C7217F-C56C-455E-B34F-34525A7F53E6}"/>
              </a:ext>
            </a:extLst>
          </p:cNvPr>
          <p:cNvSpPr>
            <a:spLocks xmlns:a="http://schemas.openxmlformats.org/drawingml/2006/main" noGrp="1"/>
          </p:cNvSpPr>
          <p:nvPr/>
        </p:nvSpPr>
        <p:spPr>
          <a:xfrm xmlns:a="http://schemas.openxmlformats.org/drawingml/2006/main">
            <a:off x="5219700" y="4752975"/>
            <a:ext cx="623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Citizens struggle to see recurring problems and whether a reported issue has actually changed.</a:t>
            </a:r>
          </a:p>
        </p:txBody>
      </p:sp>
    </p:spTree>
    <p:extLst>
      <p:ext uri="{BB962C8B-B14F-4D97-AF65-F5344CB8AC3E}">
        <p14:creationId xmlns:p14="http://schemas.microsoft.com/office/powerpoint/2010/main" val="312590274"/>
      </p:ext>
    </p:extLst>
  </p:cSld>
</p:sld>
</file>

<file path=ppt/slides/slide3.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8" name="text-20">
            <a:extLst xmlns:a="http://schemas.openxmlformats.org/drawingml/2006/main">
              <a:ext uri="{FF2B5EF4-FFF2-40B4-BE49-F238E27FC236}">
                <a16:creationId xmlns:a16="http://schemas.microsoft.com/office/drawing/2014/main" id="{A948DD94-D333-4003-92D4-97DB908701F1}"/>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SOLUTION</a:t>
            </a:r>
          </a:p>
        </p:txBody>
      </p:sp>
      <p:sp>
        <p:nvSpPr>
          <p:cNvPr id="2" name="text-21">
            <a:extLst xmlns:a="http://schemas.openxmlformats.org/drawingml/2006/main">
              <a:ext uri="{FF2B5EF4-FFF2-40B4-BE49-F238E27FC236}">
                <a16:creationId xmlns:a16="http://schemas.microsoft.com/office/drawing/2014/main" id="{664F1548-AC11-475A-AA2D-828984B4C51D}"/>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Three pillars, one citizen journey</a:t>
            </a:r>
          </a:p>
        </p:txBody>
      </p:sp>
      <p:sp>
        <p:nvSpPr>
          <p:cNvPr id="3" name="frame-22">
            <a:extLst xmlns:a="http://schemas.openxmlformats.org/drawingml/2006/main">
              <a:ext uri="{FF2B5EF4-FFF2-40B4-BE49-F238E27FC236}">
                <a16:creationId xmlns:a16="http://schemas.microsoft.com/office/drawing/2014/main" id="{01B3E676-F83D-4413-920B-2336F7DD1D10}"/>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23">
            <a:extLst xmlns:a="http://schemas.openxmlformats.org/drawingml/2006/main">
              <a:ext uri="{FF2B5EF4-FFF2-40B4-BE49-F238E27FC236}">
                <a16:creationId xmlns:a16="http://schemas.microsoft.com/office/drawing/2014/main" id="{4C7895A2-E116-4F83-9CE4-B29E86F122D1}"/>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24">
            <a:extLst xmlns:a="http://schemas.openxmlformats.org/drawingml/2006/main">
              <a:ext uri="{FF2B5EF4-FFF2-40B4-BE49-F238E27FC236}">
                <a16:creationId xmlns:a16="http://schemas.microsoft.com/office/drawing/2014/main" id="{2CBBFA8F-C459-4E95-9394-6A26D73DCDF8}"/>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03</a:t>
            </a:r>
          </a:p>
        </p:txBody>
      </p:sp>
      <p:sp>
        <p:nvSpPr>
          <p:cNvPr id="6" name="text-25">
            <a:extLst xmlns:a="http://schemas.openxmlformats.org/drawingml/2006/main">
              <a:ext uri="{FF2B5EF4-FFF2-40B4-BE49-F238E27FC236}">
                <a16:creationId xmlns:a16="http://schemas.microsoft.com/office/drawing/2014/main" id="{F7A01B40-9088-4F1C-95E6-E4482FC4A22F}"/>
              </a:ext>
            </a:extLst>
          </p:cNvPr>
          <p:cNvSpPr>
            <a:spLocks xmlns:a="http://schemas.openxmlformats.org/drawingml/2006/main" noGrp="1"/>
          </p:cNvSpPr>
          <p:nvPr/>
        </p:nvSpPr>
        <p:spPr>
          <a:xfrm xmlns:a="http://schemas.openxmlformats.org/drawingml/2006/main">
            <a:off x="609600" y="2143125"/>
            <a:ext cx="295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9784B"/>
                </a:solidFill>
                <a:latin typeface="Arial"/>
                <a:ea typeface="Arial"/>
                <a:cs typeface="Arial"/>
              </a:defRPr>
            </a:defPPr>
          </a:lstStyle>
          <a:p xmlns:a="http://schemas.openxmlformats.org/drawingml/2006/main">
            <a:pPr algn="l">
              <a:defRPr sz="5250" b="1">
                <a:solidFill>
                  <a:srgbClr val="29784B"/>
                </a:solidFill>
                <a:latin typeface="Arial"/>
                <a:ea typeface="Arial"/>
                <a:cs typeface="Arial"/>
              </a:defRPr>
            </a:pPr>
            <a:r>
              <a:rPr sz="5250" b="1">
                <a:solidFill>
                  <a:srgbClr val="29784B"/>
                </a:solidFill>
                <a:latin typeface="Arial"/>
                <a:ea typeface="Arial"/>
                <a:cs typeface="Arial"/>
              </a:rPr>
              <a:t>01</a:t>
            </a:r>
          </a:p>
        </p:txBody>
      </p:sp>
      <p:sp>
        <p:nvSpPr>
          <p:cNvPr id="7" name="text-26">
            <a:extLst xmlns:a="http://schemas.openxmlformats.org/drawingml/2006/main">
              <a:ext uri="{FF2B5EF4-FFF2-40B4-BE49-F238E27FC236}">
                <a16:creationId xmlns:a16="http://schemas.microsoft.com/office/drawing/2014/main" id="{9C24B501-43C4-413E-B1EA-F167C6E5321E}"/>
              </a:ext>
            </a:extLst>
          </p:cNvPr>
          <p:cNvSpPr>
            <a:spLocks xmlns:a="http://schemas.openxmlformats.org/drawingml/2006/main" noGrp="1"/>
          </p:cNvSpPr>
          <p:nvPr/>
        </p:nvSpPr>
        <p:spPr>
          <a:xfrm xmlns:a="http://schemas.openxmlformats.org/drawingml/2006/main">
            <a:off x="609600" y="316230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3C2F"/>
                </a:solidFill>
                <a:latin typeface="Arial"/>
                <a:ea typeface="Arial"/>
                <a:cs typeface="Arial"/>
              </a:defRPr>
            </a:defPPr>
          </a:lstStyle>
          <a:p xmlns:a="http://schemas.openxmlformats.org/drawingml/2006/main">
            <a:pPr algn="l">
              <a:defRPr sz="2325" b="1">
                <a:solidFill>
                  <a:srgbClr val="183C2F"/>
                </a:solidFill>
                <a:latin typeface="Arial"/>
                <a:ea typeface="Arial"/>
                <a:cs typeface="Arial"/>
              </a:defRPr>
            </a:pPr>
            <a:r>
              <a:rPr sz="2325" b="1">
                <a:solidFill>
                  <a:srgbClr val="183C2F"/>
                </a:solidFill>
                <a:latin typeface="Arial"/>
                <a:ea typeface="Arial"/>
                <a:cs typeface="Arial"/>
              </a:rPr>
              <a:t>Fast complaints</a:t>
            </a:r>
          </a:p>
        </p:txBody>
      </p:sp>
      <p:sp>
        <p:nvSpPr>
          <p:cNvPr id="8" name="text-27">
            <a:extLst xmlns:a="http://schemas.openxmlformats.org/drawingml/2006/main">
              <a:ext uri="{FF2B5EF4-FFF2-40B4-BE49-F238E27FC236}">
                <a16:creationId xmlns:a16="http://schemas.microsoft.com/office/drawing/2014/main" id="{BF1F32EA-245F-4D8E-84DF-04F6684A4C48}"/>
              </a:ext>
            </a:extLst>
          </p:cNvPr>
          <p:cNvSpPr>
            <a:spLocks xmlns:a="http://schemas.openxmlformats.org/drawingml/2006/main" noGrp="1"/>
          </p:cNvSpPr>
          <p:nvPr/>
        </p:nvSpPr>
        <p:spPr>
          <a:xfrm xmlns:a="http://schemas.openxmlformats.org/drawingml/2006/main">
            <a:off x="609600" y="412432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4655C"/>
                </a:solidFill>
                <a:latin typeface="Arial"/>
                <a:ea typeface="Arial"/>
                <a:cs typeface="Arial"/>
              </a:defRPr>
            </a:defPPr>
          </a:lstStyle>
          <a:p xmlns:a="http://schemas.openxmlformats.org/drawingml/2006/main">
            <a:pPr algn="l">
              <a:defRPr sz="1950" b="0">
                <a:solidFill>
                  <a:srgbClr val="54655C"/>
                </a:solidFill>
                <a:latin typeface="Arial"/>
                <a:ea typeface="Arial"/>
                <a:cs typeface="Arial"/>
              </a:defRPr>
            </a:pPr>
            <a:r>
              <a:rPr sz="1950" b="0">
                <a:solidFill>
                  <a:srgbClr val="54655C"/>
                </a:solidFill>
                <a:latin typeface="Arial"/>
                <a:ea typeface="Arial"/>
                <a:cs typeface="Arial"/>
              </a:rPr>
              <a:t>Guided capture and an AI-assisted draft reduce typing and contact research.</a:t>
            </a:r>
          </a:p>
        </p:txBody>
      </p:sp>
      <p:sp>
        <p:nvSpPr>
          <p:cNvPr id="9" name="text-28">
            <a:extLst xmlns:a="http://schemas.openxmlformats.org/drawingml/2006/main">
              <a:ext uri="{FF2B5EF4-FFF2-40B4-BE49-F238E27FC236}">
                <a16:creationId xmlns:a16="http://schemas.microsoft.com/office/drawing/2014/main" id="{C83580A0-EF44-43FB-B5A8-2EF22D2C8146}"/>
              </a:ext>
            </a:extLst>
          </p:cNvPr>
          <p:cNvSpPr>
            <a:spLocks xmlns:a="http://schemas.openxmlformats.org/drawingml/2006/main" noGrp="1"/>
          </p:cNvSpPr>
          <p:nvPr/>
        </p:nvSpPr>
        <p:spPr>
          <a:xfrm xmlns:a="http://schemas.openxmlformats.org/drawingml/2006/main">
            <a:off x="609600" y="5610225"/>
            <a:ext cx="3162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9784B"/>
                </a:solidFill>
                <a:latin typeface="Arial"/>
                <a:ea typeface="Arial"/>
                <a:cs typeface="Arial"/>
              </a:defRPr>
            </a:defPPr>
          </a:lstStyle>
          <a:p xmlns:a="http://schemas.openxmlformats.org/drawingml/2006/main">
            <a:pPr algn="l">
              <a:defRPr sz="1575" b="1">
                <a:solidFill>
                  <a:srgbClr val="29784B"/>
                </a:solidFill>
                <a:latin typeface="Arial"/>
                <a:ea typeface="Arial"/>
                <a:cs typeface="Arial"/>
              </a:defRPr>
            </a:pPr>
            <a:r>
              <a:rPr sz="1575" b="1">
                <a:solidFill>
                  <a:srgbClr val="29784B"/>
                </a:solidFill>
                <a:latin typeface="Arial"/>
                <a:ea typeface="Arial"/>
                <a:cs typeface="Arial"/>
              </a:rPr>
              <a:t>Less friction to report</a:t>
            </a:r>
          </a:p>
        </p:txBody>
      </p:sp>
      <p:sp>
        <p:nvSpPr>
          <p:cNvPr id="10" name="text-29">
            <a:extLst xmlns:a="http://schemas.openxmlformats.org/drawingml/2006/main">
              <a:ext uri="{FF2B5EF4-FFF2-40B4-BE49-F238E27FC236}">
                <a16:creationId xmlns:a16="http://schemas.microsoft.com/office/drawing/2014/main" id="{5C7B1D73-F7AB-4784-9F66-A6406B514FC3}"/>
              </a:ext>
            </a:extLst>
          </p:cNvPr>
          <p:cNvSpPr>
            <a:spLocks xmlns:a="http://schemas.openxmlformats.org/drawingml/2006/main" noGrp="1"/>
          </p:cNvSpPr>
          <p:nvPr/>
        </p:nvSpPr>
        <p:spPr>
          <a:xfrm xmlns:a="http://schemas.openxmlformats.org/drawingml/2006/main">
            <a:off x="4381500" y="2143125"/>
            <a:ext cx="295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9784B"/>
                </a:solidFill>
                <a:latin typeface="Arial"/>
                <a:ea typeface="Arial"/>
                <a:cs typeface="Arial"/>
              </a:defRPr>
            </a:defPPr>
          </a:lstStyle>
          <a:p xmlns:a="http://schemas.openxmlformats.org/drawingml/2006/main">
            <a:pPr algn="l">
              <a:defRPr sz="5250" b="1">
                <a:solidFill>
                  <a:srgbClr val="29784B"/>
                </a:solidFill>
                <a:latin typeface="Arial"/>
                <a:ea typeface="Arial"/>
                <a:cs typeface="Arial"/>
              </a:defRPr>
            </a:pPr>
            <a:r>
              <a:rPr sz="5250" b="1">
                <a:solidFill>
                  <a:srgbClr val="29784B"/>
                </a:solidFill>
                <a:latin typeface="Arial"/>
                <a:ea typeface="Arial"/>
                <a:cs typeface="Arial"/>
              </a:rPr>
              <a:t>02</a:t>
            </a:r>
          </a:p>
        </p:txBody>
      </p:sp>
      <p:sp>
        <p:nvSpPr>
          <p:cNvPr id="11" name="text-30">
            <a:extLst xmlns:a="http://schemas.openxmlformats.org/drawingml/2006/main">
              <a:ext uri="{FF2B5EF4-FFF2-40B4-BE49-F238E27FC236}">
                <a16:creationId xmlns:a16="http://schemas.microsoft.com/office/drawing/2014/main" id="{61979A2D-EDA3-4773-A311-547BF831A9D9}"/>
              </a:ext>
            </a:extLst>
          </p:cNvPr>
          <p:cNvSpPr>
            <a:spLocks xmlns:a="http://schemas.openxmlformats.org/drawingml/2006/main" noGrp="1"/>
          </p:cNvSpPr>
          <p:nvPr/>
        </p:nvSpPr>
        <p:spPr>
          <a:xfrm xmlns:a="http://schemas.openxmlformats.org/drawingml/2006/main">
            <a:off x="4381500" y="316230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3C2F"/>
                </a:solidFill>
                <a:latin typeface="Arial"/>
                <a:ea typeface="Arial"/>
                <a:cs typeface="Arial"/>
              </a:defRPr>
            </a:defPPr>
          </a:lstStyle>
          <a:p xmlns:a="http://schemas.openxmlformats.org/drawingml/2006/main">
            <a:pPr algn="l">
              <a:defRPr sz="2325" b="1">
                <a:solidFill>
                  <a:srgbClr val="183C2F"/>
                </a:solidFill>
                <a:latin typeface="Arial"/>
                <a:ea typeface="Arial"/>
                <a:cs typeface="Arial"/>
              </a:defRPr>
            </a:pPr>
            <a:r>
              <a:rPr sz="2325" b="1">
                <a:solidFill>
                  <a:srgbClr val="183C2F"/>
                </a:solidFill>
                <a:latin typeface="Arial"/>
                <a:ea typeface="Arial"/>
                <a:cs typeface="Arial"/>
              </a:rPr>
              <a:t>Evidence collection</a:t>
            </a:r>
          </a:p>
        </p:txBody>
      </p:sp>
      <p:sp>
        <p:nvSpPr>
          <p:cNvPr id="12" name="text-31">
            <a:extLst xmlns:a="http://schemas.openxmlformats.org/drawingml/2006/main">
              <a:ext uri="{FF2B5EF4-FFF2-40B4-BE49-F238E27FC236}">
                <a16:creationId xmlns:a16="http://schemas.microsoft.com/office/drawing/2014/main" id="{1D464492-3075-4D55-A5DF-A2149B1A97AF}"/>
              </a:ext>
            </a:extLst>
          </p:cNvPr>
          <p:cNvSpPr>
            <a:spLocks xmlns:a="http://schemas.openxmlformats.org/drawingml/2006/main" noGrp="1"/>
          </p:cNvSpPr>
          <p:nvPr/>
        </p:nvSpPr>
        <p:spPr>
          <a:xfrm xmlns:a="http://schemas.openxmlformats.org/drawingml/2006/main">
            <a:off x="4381500" y="412432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4655C"/>
                </a:solidFill>
                <a:latin typeface="Arial"/>
                <a:ea typeface="Arial"/>
                <a:cs typeface="Arial"/>
              </a:defRPr>
            </a:defPPr>
          </a:lstStyle>
          <a:p xmlns:a="http://schemas.openxmlformats.org/drawingml/2006/main">
            <a:pPr algn="l">
              <a:defRPr sz="1950" b="0">
                <a:solidFill>
                  <a:srgbClr val="54655C"/>
                </a:solidFill>
                <a:latin typeface="Arial"/>
                <a:ea typeface="Arial"/>
                <a:cs typeface="Arial"/>
              </a:defRPr>
            </a:pPr>
            <a:r>
              <a:rPr sz="1950" b="0">
                <a:solidFill>
                  <a:srgbClr val="54655C"/>
                </a:solidFill>
                <a:latin typeface="Arial"/>
                <a:ea typeface="Arial"/>
                <a:cs typeface="Arial"/>
              </a:rPr>
              <a:t>Photos, location and capture time create a clearer record of the issue.</a:t>
            </a:r>
          </a:p>
        </p:txBody>
      </p:sp>
      <p:sp>
        <p:nvSpPr>
          <p:cNvPr id="13" name="text-32">
            <a:extLst xmlns:a="http://schemas.openxmlformats.org/drawingml/2006/main">
              <a:ext uri="{FF2B5EF4-FFF2-40B4-BE49-F238E27FC236}">
                <a16:creationId xmlns:a16="http://schemas.microsoft.com/office/drawing/2014/main" id="{129CEC5A-29EF-4323-A987-0E2A792A9ED6}"/>
              </a:ext>
            </a:extLst>
          </p:cNvPr>
          <p:cNvSpPr>
            <a:spLocks xmlns:a="http://schemas.openxmlformats.org/drawingml/2006/main" noGrp="1"/>
          </p:cNvSpPr>
          <p:nvPr/>
        </p:nvSpPr>
        <p:spPr>
          <a:xfrm xmlns:a="http://schemas.openxmlformats.org/drawingml/2006/main">
            <a:off x="4381500" y="5610225"/>
            <a:ext cx="3162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9784B"/>
                </a:solidFill>
                <a:latin typeface="Arial"/>
                <a:ea typeface="Arial"/>
                <a:cs typeface="Arial"/>
              </a:defRPr>
            </a:defPPr>
          </a:lstStyle>
          <a:p xmlns:a="http://schemas.openxmlformats.org/drawingml/2006/main">
            <a:pPr algn="l">
              <a:defRPr sz="1575" b="1">
                <a:solidFill>
                  <a:srgbClr val="29784B"/>
                </a:solidFill>
                <a:latin typeface="Arial"/>
                <a:ea typeface="Arial"/>
                <a:cs typeface="Arial"/>
              </a:defRPr>
            </a:pPr>
            <a:r>
              <a:rPr sz="1575" b="1">
                <a:solidFill>
                  <a:srgbClr val="29784B"/>
                </a:solidFill>
                <a:latin typeface="Arial"/>
                <a:ea typeface="Arial"/>
                <a:cs typeface="Arial"/>
              </a:rPr>
              <a:t>A stronger basis for escalation</a:t>
            </a:r>
          </a:p>
        </p:txBody>
      </p:sp>
      <p:sp>
        <p:nvSpPr>
          <p:cNvPr id="14" name="text-33">
            <a:extLst xmlns:a="http://schemas.openxmlformats.org/drawingml/2006/main">
              <a:ext uri="{FF2B5EF4-FFF2-40B4-BE49-F238E27FC236}">
                <a16:creationId xmlns:a16="http://schemas.microsoft.com/office/drawing/2014/main" id="{0BE19AED-C493-454F-98A8-114EF0F10335}"/>
              </a:ext>
            </a:extLst>
          </p:cNvPr>
          <p:cNvSpPr>
            <a:spLocks xmlns:a="http://schemas.openxmlformats.org/drawingml/2006/main" noGrp="1"/>
          </p:cNvSpPr>
          <p:nvPr/>
        </p:nvSpPr>
        <p:spPr>
          <a:xfrm xmlns:a="http://schemas.openxmlformats.org/drawingml/2006/main">
            <a:off x="8153400" y="2143125"/>
            <a:ext cx="295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9784B"/>
                </a:solidFill>
                <a:latin typeface="Arial"/>
                <a:ea typeface="Arial"/>
                <a:cs typeface="Arial"/>
              </a:defRPr>
            </a:defPPr>
          </a:lstStyle>
          <a:p xmlns:a="http://schemas.openxmlformats.org/drawingml/2006/main">
            <a:pPr algn="l">
              <a:defRPr sz="5250" b="1">
                <a:solidFill>
                  <a:srgbClr val="29784B"/>
                </a:solidFill>
                <a:latin typeface="Arial"/>
                <a:ea typeface="Arial"/>
                <a:cs typeface="Arial"/>
              </a:defRPr>
            </a:pPr>
            <a:r>
              <a:rPr sz="5250" b="1">
                <a:solidFill>
                  <a:srgbClr val="29784B"/>
                </a:solidFill>
                <a:latin typeface="Arial"/>
                <a:ea typeface="Arial"/>
                <a:cs typeface="Arial"/>
              </a:rPr>
              <a:t>03</a:t>
            </a:r>
          </a:p>
        </p:txBody>
      </p:sp>
      <p:sp>
        <p:nvSpPr>
          <p:cNvPr id="15" name="text-34">
            <a:extLst xmlns:a="http://schemas.openxmlformats.org/drawingml/2006/main">
              <a:ext uri="{FF2B5EF4-FFF2-40B4-BE49-F238E27FC236}">
                <a16:creationId xmlns:a16="http://schemas.microsoft.com/office/drawing/2014/main" id="{1D211196-20D3-4856-B0E7-46011ED3F211}"/>
              </a:ext>
            </a:extLst>
          </p:cNvPr>
          <p:cNvSpPr>
            <a:spLocks xmlns:a="http://schemas.openxmlformats.org/drawingml/2006/main" noGrp="1"/>
          </p:cNvSpPr>
          <p:nvPr/>
        </p:nvSpPr>
        <p:spPr>
          <a:xfrm xmlns:a="http://schemas.openxmlformats.org/drawingml/2006/main">
            <a:off x="8153400" y="316230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83C2F"/>
                </a:solidFill>
                <a:latin typeface="Arial"/>
                <a:ea typeface="Arial"/>
                <a:cs typeface="Arial"/>
              </a:defRPr>
            </a:defPPr>
          </a:lstStyle>
          <a:p xmlns:a="http://schemas.openxmlformats.org/drawingml/2006/main">
            <a:pPr algn="l">
              <a:defRPr sz="2325" b="1">
                <a:solidFill>
                  <a:srgbClr val="183C2F"/>
                </a:solidFill>
                <a:latin typeface="Arial"/>
                <a:ea typeface="Arial"/>
                <a:cs typeface="Arial"/>
              </a:defRPr>
            </a:pPr>
            <a:r>
              <a:rPr sz="2325" b="1">
                <a:solidFill>
                  <a:srgbClr val="183C2F"/>
                </a:solidFill>
                <a:latin typeface="Arial"/>
                <a:ea typeface="Arial"/>
                <a:cs typeface="Arial"/>
              </a:rPr>
              <a:t>Public accountability</a:t>
            </a:r>
          </a:p>
        </p:txBody>
      </p:sp>
      <p:sp>
        <p:nvSpPr>
          <p:cNvPr id="16" name="text-35">
            <a:extLst xmlns:a="http://schemas.openxmlformats.org/drawingml/2006/main">
              <a:ext uri="{FF2B5EF4-FFF2-40B4-BE49-F238E27FC236}">
                <a16:creationId xmlns:a16="http://schemas.microsoft.com/office/drawing/2014/main" id="{55A99698-78B1-42CD-978E-37D53F1029A3}"/>
              </a:ext>
            </a:extLst>
          </p:cNvPr>
          <p:cNvSpPr>
            <a:spLocks xmlns:a="http://schemas.openxmlformats.org/drawingml/2006/main" noGrp="1"/>
          </p:cNvSpPr>
          <p:nvPr/>
        </p:nvSpPr>
        <p:spPr>
          <a:xfrm xmlns:a="http://schemas.openxmlformats.org/drawingml/2006/main">
            <a:off x="8153400" y="4124325"/>
            <a:ext cx="314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4655C"/>
                </a:solidFill>
                <a:latin typeface="Arial"/>
                <a:ea typeface="Arial"/>
                <a:cs typeface="Arial"/>
              </a:defRPr>
            </a:defPPr>
          </a:lstStyle>
          <a:p xmlns:a="http://schemas.openxmlformats.org/drawingml/2006/main">
            <a:pPr algn="l">
              <a:defRPr sz="1950" b="0">
                <a:solidFill>
                  <a:srgbClr val="54655C"/>
                </a:solidFill>
                <a:latin typeface="Arial"/>
                <a:ea typeface="Arial"/>
                <a:cs typeface="Arial"/>
              </a:defRPr>
            </a:pPr>
            <a:r>
              <a:rPr sz="1950" b="0">
                <a:solidFill>
                  <a:srgbClr val="54655C"/>
                </a:solidFill>
                <a:latin typeface="Arial"/>
                <a:ea typeface="Arial"/>
                <a:cs typeface="Arial"/>
              </a:rPr>
              <a:t>The map and follow-up evidence make reported concerns visible to the community.</a:t>
            </a:r>
          </a:p>
        </p:txBody>
      </p:sp>
      <p:sp>
        <p:nvSpPr>
          <p:cNvPr id="17" name="text-36">
            <a:extLst xmlns:a="http://schemas.openxmlformats.org/drawingml/2006/main">
              <a:ext uri="{FF2B5EF4-FFF2-40B4-BE49-F238E27FC236}">
                <a16:creationId xmlns:a16="http://schemas.microsoft.com/office/drawing/2014/main" id="{8CC9672D-7E06-4E7C-A508-6EA03299F5B9}"/>
              </a:ext>
            </a:extLst>
          </p:cNvPr>
          <p:cNvSpPr>
            <a:spLocks xmlns:a="http://schemas.openxmlformats.org/drawingml/2006/main" noGrp="1"/>
          </p:cNvSpPr>
          <p:nvPr/>
        </p:nvSpPr>
        <p:spPr>
          <a:xfrm xmlns:a="http://schemas.openxmlformats.org/drawingml/2006/main">
            <a:off x="8153400" y="5610225"/>
            <a:ext cx="31623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9784B"/>
                </a:solidFill>
                <a:latin typeface="Arial"/>
                <a:ea typeface="Arial"/>
                <a:cs typeface="Arial"/>
              </a:defRPr>
            </a:defPPr>
          </a:lstStyle>
          <a:p xmlns:a="http://schemas.openxmlformats.org/drawingml/2006/main">
            <a:pPr algn="l">
              <a:defRPr sz="1575" b="1">
                <a:solidFill>
                  <a:srgbClr val="29784B"/>
                </a:solidFill>
                <a:latin typeface="Arial"/>
                <a:ea typeface="Arial"/>
                <a:cs typeface="Arial"/>
              </a:defRPr>
            </a:pPr>
            <a:r>
              <a:rPr sz="1575" b="1">
                <a:solidFill>
                  <a:srgbClr val="29784B"/>
                </a:solidFill>
                <a:latin typeface="Arial"/>
                <a:ea typeface="Arial"/>
                <a:cs typeface="Arial"/>
              </a:rPr>
              <a:t>Visible issues and follow-up</a:t>
            </a:r>
          </a:p>
        </p:txBody>
      </p:sp>
    </p:spTree>
    <p:extLst>
      <p:ext uri="{BB962C8B-B14F-4D97-AF65-F5344CB8AC3E}">
        <p14:creationId xmlns:p14="http://schemas.microsoft.com/office/powerpoint/2010/main" val="1109673657"/>
      </p:ext>
    </p:extLst>
  </p:cSld>
</p:sld>
</file>

<file path=ppt/slides/slide4.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22" name="text-37">
            <a:extLst xmlns:a="http://schemas.openxmlformats.org/drawingml/2006/main">
              <a:ext uri="{FF2B5EF4-FFF2-40B4-BE49-F238E27FC236}">
                <a16:creationId xmlns:a16="http://schemas.microsoft.com/office/drawing/2014/main" id="{EC98E3A5-AFDC-48BD-A85F-22478F747A34}"/>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CITIZEN EXPERIENCE</a:t>
            </a:r>
          </a:p>
        </p:txBody>
      </p:sp>
      <p:sp>
        <p:nvSpPr>
          <p:cNvPr id="2" name="text-38">
            <a:extLst xmlns:a="http://schemas.openxmlformats.org/drawingml/2006/main">
              <a:ext uri="{FF2B5EF4-FFF2-40B4-BE49-F238E27FC236}">
                <a16:creationId xmlns:a16="http://schemas.microsoft.com/office/drawing/2014/main" id="{EA16AD03-5BD1-41AF-97BE-2CE6EFA0B435}"/>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A short path from capture to public map</a:t>
            </a:r>
          </a:p>
        </p:txBody>
      </p:sp>
      <p:sp>
        <p:nvSpPr>
          <p:cNvPr id="3" name="frame-39">
            <a:extLst xmlns:a="http://schemas.openxmlformats.org/drawingml/2006/main">
              <a:ext uri="{FF2B5EF4-FFF2-40B4-BE49-F238E27FC236}">
                <a16:creationId xmlns:a16="http://schemas.microsoft.com/office/drawing/2014/main" id="{4F89CF58-B783-4197-9F2B-1A4FD3A33654}"/>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40">
            <a:extLst xmlns:a="http://schemas.openxmlformats.org/drawingml/2006/main">
              <a:ext uri="{FF2B5EF4-FFF2-40B4-BE49-F238E27FC236}">
                <a16:creationId xmlns:a16="http://schemas.microsoft.com/office/drawing/2014/main" id="{072352FA-C323-4DB5-ADD3-CCA86C3BB404}"/>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41">
            <a:extLst xmlns:a="http://schemas.openxmlformats.org/drawingml/2006/main">
              <a:ext uri="{FF2B5EF4-FFF2-40B4-BE49-F238E27FC236}">
                <a16:creationId xmlns:a16="http://schemas.microsoft.com/office/drawing/2014/main" id="{2F35D93B-D874-4DFE-9025-C3342D68D24A}"/>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04</a:t>
            </a:r>
          </a:p>
        </p:txBody>
      </p:sp>
      <p:sp>
        <p:nvSpPr>
          <p:cNvPr id="6" name="text-42">
            <a:extLst xmlns:a="http://schemas.openxmlformats.org/drawingml/2006/main">
              <a:ext uri="{FF2B5EF4-FFF2-40B4-BE49-F238E27FC236}">
                <a16:creationId xmlns:a16="http://schemas.microsoft.com/office/drawing/2014/main" id="{B59473A6-8FA5-4BBB-A21D-1A8851C3811D}"/>
              </a:ext>
            </a:extLst>
          </p:cNvPr>
          <p:cNvSpPr>
            <a:spLocks xmlns:a="http://schemas.openxmlformats.org/drawingml/2006/main" noGrp="1"/>
          </p:cNvSpPr>
          <p:nvPr/>
        </p:nvSpPr>
        <p:spPr>
          <a:xfrm xmlns:a="http://schemas.openxmlformats.org/drawingml/2006/main">
            <a:off x="609600" y="204787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01</a:t>
            </a:r>
          </a:p>
        </p:txBody>
      </p:sp>
      <p:sp>
        <p:nvSpPr>
          <p:cNvPr id="7" name="text-43">
            <a:extLst xmlns:a="http://schemas.openxmlformats.org/drawingml/2006/main">
              <a:ext uri="{FF2B5EF4-FFF2-40B4-BE49-F238E27FC236}">
                <a16:creationId xmlns:a16="http://schemas.microsoft.com/office/drawing/2014/main" id="{44800A15-258F-4ABC-B631-7FEB65DF6529}"/>
              </a:ext>
            </a:extLst>
          </p:cNvPr>
          <p:cNvSpPr>
            <a:spLocks xmlns:a="http://schemas.openxmlformats.org/drawingml/2006/main" noGrp="1"/>
          </p:cNvSpPr>
          <p:nvPr/>
        </p:nvSpPr>
        <p:spPr>
          <a:xfrm xmlns:a="http://schemas.openxmlformats.org/drawingml/2006/main">
            <a:off x="1428750" y="2047875"/>
            <a:ext cx="4095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83C2F"/>
                </a:solidFill>
                <a:latin typeface="Arial"/>
                <a:ea typeface="Arial"/>
                <a:cs typeface="Arial"/>
              </a:defRPr>
            </a:defPPr>
          </a:lstStyle>
          <a:p xmlns:a="http://schemas.openxmlformats.org/drawingml/2006/main">
            <a:pPr algn="l">
              <a:defRPr sz="2025" b="1">
                <a:solidFill>
                  <a:srgbClr val="183C2F"/>
                </a:solidFill>
                <a:latin typeface="Arial"/>
                <a:ea typeface="Arial"/>
                <a:cs typeface="Arial"/>
              </a:defRPr>
            </a:pPr>
            <a:r>
              <a:rPr sz="2025" b="1">
                <a:solidFill>
                  <a:srgbClr val="183C2F"/>
                </a:solidFill>
                <a:latin typeface="Arial"/>
                <a:ea typeface="Arial"/>
                <a:cs typeface="Arial"/>
              </a:rPr>
              <a:t>Choose the concern</a:t>
            </a:r>
          </a:p>
        </p:txBody>
      </p:sp>
      <p:sp>
        <p:nvSpPr>
          <p:cNvPr id="8" name="text-44">
            <a:extLst xmlns:a="http://schemas.openxmlformats.org/drawingml/2006/main">
              <a:ext uri="{FF2B5EF4-FFF2-40B4-BE49-F238E27FC236}">
                <a16:creationId xmlns:a16="http://schemas.microsoft.com/office/drawing/2014/main" id="{4E139157-7526-4657-B03A-AECDAC82216C}"/>
              </a:ext>
            </a:extLst>
          </p:cNvPr>
          <p:cNvSpPr>
            <a:spLocks xmlns:a="http://schemas.openxmlformats.org/drawingml/2006/main" noGrp="1"/>
          </p:cNvSpPr>
          <p:nvPr/>
        </p:nvSpPr>
        <p:spPr>
          <a:xfrm xmlns:a="http://schemas.openxmlformats.org/drawingml/2006/main">
            <a:off x="6000750" y="2066925"/>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Roads, Garbage, Trees or Noise</a:t>
            </a:r>
          </a:p>
        </p:txBody>
      </p:sp>
      <p:sp>
        <p:nvSpPr>
          <p:cNvPr id="9" name="text-45">
            <a:extLst xmlns:a="http://schemas.openxmlformats.org/drawingml/2006/main">
              <a:ext uri="{FF2B5EF4-FFF2-40B4-BE49-F238E27FC236}">
                <a16:creationId xmlns:a16="http://schemas.microsoft.com/office/drawing/2014/main" id="{197F9FE9-DD56-444E-A93F-52E271814EC2}"/>
              </a:ext>
            </a:extLst>
          </p:cNvPr>
          <p:cNvSpPr>
            <a:spLocks xmlns:a="http://schemas.openxmlformats.org/drawingml/2006/main" noGrp="1"/>
          </p:cNvSpPr>
          <p:nvPr/>
        </p:nvSpPr>
        <p:spPr>
          <a:xfrm xmlns:a="http://schemas.openxmlformats.org/drawingml/2006/main">
            <a:off x="609600" y="280035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02</a:t>
            </a:r>
          </a:p>
        </p:txBody>
      </p:sp>
      <p:sp>
        <p:nvSpPr>
          <p:cNvPr id="10" name="text-46">
            <a:extLst xmlns:a="http://schemas.openxmlformats.org/drawingml/2006/main">
              <a:ext uri="{FF2B5EF4-FFF2-40B4-BE49-F238E27FC236}">
                <a16:creationId xmlns:a16="http://schemas.microsoft.com/office/drawing/2014/main" id="{EC92EDB8-8A20-42DF-B19B-FAA00AC94BA5}"/>
              </a:ext>
            </a:extLst>
          </p:cNvPr>
          <p:cNvSpPr>
            <a:spLocks xmlns:a="http://schemas.openxmlformats.org/drawingml/2006/main" noGrp="1"/>
          </p:cNvSpPr>
          <p:nvPr/>
        </p:nvSpPr>
        <p:spPr>
          <a:xfrm xmlns:a="http://schemas.openxmlformats.org/drawingml/2006/main">
            <a:off x="1428750" y="2800350"/>
            <a:ext cx="4095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83C2F"/>
                </a:solidFill>
                <a:latin typeface="Arial"/>
                <a:ea typeface="Arial"/>
                <a:cs typeface="Arial"/>
              </a:defRPr>
            </a:defPPr>
          </a:lstStyle>
          <a:p xmlns:a="http://schemas.openxmlformats.org/drawingml/2006/main">
            <a:pPr algn="l">
              <a:defRPr sz="2025" b="1">
                <a:solidFill>
                  <a:srgbClr val="183C2F"/>
                </a:solidFill>
                <a:latin typeface="Arial"/>
                <a:ea typeface="Arial"/>
                <a:cs typeface="Arial"/>
              </a:defRPr>
            </a:pPr>
            <a:r>
              <a:rPr sz="2025" b="1">
                <a:solidFill>
                  <a:srgbClr val="183C2F"/>
                </a:solidFill>
                <a:latin typeface="Arial"/>
                <a:ea typeface="Arial"/>
                <a:cs typeface="Arial"/>
              </a:rPr>
              <a:t>Capture guided evidence</a:t>
            </a:r>
          </a:p>
        </p:txBody>
      </p:sp>
      <p:sp>
        <p:nvSpPr>
          <p:cNvPr id="11" name="text-47">
            <a:extLst xmlns:a="http://schemas.openxmlformats.org/drawingml/2006/main">
              <a:ext uri="{FF2B5EF4-FFF2-40B4-BE49-F238E27FC236}">
                <a16:creationId xmlns:a16="http://schemas.microsoft.com/office/drawing/2014/main" id="{68A4BBE9-99F9-4E2F-95DB-73748BD01755}"/>
              </a:ext>
            </a:extLst>
          </p:cNvPr>
          <p:cNvSpPr>
            <a:spLocks xmlns:a="http://schemas.openxmlformats.org/drawingml/2006/main" noGrp="1"/>
          </p:cNvSpPr>
          <p:nvPr/>
        </p:nvSpPr>
        <p:spPr>
          <a:xfrm xmlns:a="http://schemas.openxmlformats.org/drawingml/2006/main">
            <a:off x="6000750" y="2819400"/>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Only the current step needs attention</a:t>
            </a:r>
          </a:p>
        </p:txBody>
      </p:sp>
      <p:sp>
        <p:nvSpPr>
          <p:cNvPr id="12" name="text-48">
            <a:extLst xmlns:a="http://schemas.openxmlformats.org/drawingml/2006/main">
              <a:ext uri="{FF2B5EF4-FFF2-40B4-BE49-F238E27FC236}">
                <a16:creationId xmlns:a16="http://schemas.microsoft.com/office/drawing/2014/main" id="{0573A3CD-A48F-44E3-88C7-8F39DE301594}"/>
              </a:ext>
            </a:extLst>
          </p:cNvPr>
          <p:cNvSpPr>
            <a:spLocks xmlns:a="http://schemas.openxmlformats.org/drawingml/2006/main" noGrp="1"/>
          </p:cNvSpPr>
          <p:nvPr/>
        </p:nvSpPr>
        <p:spPr>
          <a:xfrm xmlns:a="http://schemas.openxmlformats.org/drawingml/2006/main">
            <a:off x="609600" y="355282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03</a:t>
            </a:r>
          </a:p>
        </p:txBody>
      </p:sp>
      <p:sp>
        <p:nvSpPr>
          <p:cNvPr id="13" name="text-49">
            <a:extLst xmlns:a="http://schemas.openxmlformats.org/drawingml/2006/main">
              <a:ext uri="{FF2B5EF4-FFF2-40B4-BE49-F238E27FC236}">
                <a16:creationId xmlns:a16="http://schemas.microsoft.com/office/drawing/2014/main" id="{44261D09-2F4D-41DC-83FA-B305478E7B45}"/>
              </a:ext>
            </a:extLst>
          </p:cNvPr>
          <p:cNvSpPr>
            <a:spLocks xmlns:a="http://schemas.openxmlformats.org/drawingml/2006/main" noGrp="1"/>
          </p:cNvSpPr>
          <p:nvPr/>
        </p:nvSpPr>
        <p:spPr>
          <a:xfrm xmlns:a="http://schemas.openxmlformats.org/drawingml/2006/main">
            <a:off x="1428750" y="3552825"/>
            <a:ext cx="4095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83C2F"/>
                </a:solidFill>
                <a:latin typeface="Arial"/>
                <a:ea typeface="Arial"/>
                <a:cs typeface="Arial"/>
              </a:defRPr>
            </a:defPPr>
          </a:lstStyle>
          <a:p xmlns:a="http://schemas.openxmlformats.org/drawingml/2006/main">
            <a:pPr algn="l">
              <a:defRPr sz="2025" b="1">
                <a:solidFill>
                  <a:srgbClr val="183C2F"/>
                </a:solidFill>
                <a:latin typeface="Arial"/>
                <a:ea typeface="Arial"/>
                <a:cs typeface="Arial"/>
              </a:defRPr>
            </a:pPr>
            <a:r>
              <a:rPr sz="2025" b="1">
                <a:solidFill>
                  <a:srgbClr val="183C2F"/>
                </a:solidFill>
                <a:latin typeface="Arial"/>
                <a:ea typeface="Arial"/>
                <a:cs typeface="Arial"/>
              </a:rPr>
              <a:t>Let AI prepare the draft</a:t>
            </a:r>
          </a:p>
        </p:txBody>
      </p:sp>
      <p:sp>
        <p:nvSpPr>
          <p:cNvPr id="14" name="text-50">
            <a:extLst xmlns:a="http://schemas.openxmlformats.org/drawingml/2006/main">
              <a:ext uri="{FF2B5EF4-FFF2-40B4-BE49-F238E27FC236}">
                <a16:creationId xmlns:a16="http://schemas.microsoft.com/office/drawing/2014/main" id="{E1392C67-F418-4475-A895-DFE008D66933}"/>
              </a:ext>
            </a:extLst>
          </p:cNvPr>
          <p:cNvSpPr>
            <a:spLocks xmlns:a="http://schemas.openxmlformats.org/drawingml/2006/main" noGrp="1"/>
          </p:cNvSpPr>
          <p:nvPr/>
        </p:nvSpPr>
        <p:spPr>
          <a:xfrm xmlns:a="http://schemas.openxmlformats.org/drawingml/2006/main">
            <a:off x="6000750" y="3571875"/>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Visible observations enter the category template</a:t>
            </a:r>
          </a:p>
        </p:txBody>
      </p:sp>
      <p:sp>
        <p:nvSpPr>
          <p:cNvPr id="15" name="text-51">
            <a:extLst xmlns:a="http://schemas.openxmlformats.org/drawingml/2006/main">
              <a:ext uri="{FF2B5EF4-FFF2-40B4-BE49-F238E27FC236}">
                <a16:creationId xmlns:a16="http://schemas.microsoft.com/office/drawing/2014/main" id="{FD32BC51-3D13-4368-82F6-115EAC2641EF}"/>
              </a:ext>
            </a:extLst>
          </p:cNvPr>
          <p:cNvSpPr>
            <a:spLocks xmlns:a="http://schemas.openxmlformats.org/drawingml/2006/main" noGrp="1"/>
          </p:cNvSpPr>
          <p:nvPr/>
        </p:nvSpPr>
        <p:spPr>
          <a:xfrm xmlns:a="http://schemas.openxmlformats.org/drawingml/2006/main">
            <a:off x="609600" y="43053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04</a:t>
            </a:r>
          </a:p>
        </p:txBody>
      </p:sp>
      <p:sp>
        <p:nvSpPr>
          <p:cNvPr id="16" name="text-52">
            <a:extLst xmlns:a="http://schemas.openxmlformats.org/drawingml/2006/main">
              <a:ext uri="{FF2B5EF4-FFF2-40B4-BE49-F238E27FC236}">
                <a16:creationId xmlns:a16="http://schemas.microsoft.com/office/drawing/2014/main" id="{C683C2E7-EB89-411C-B42C-68EB526DD9A9}"/>
              </a:ext>
            </a:extLst>
          </p:cNvPr>
          <p:cNvSpPr>
            <a:spLocks xmlns:a="http://schemas.openxmlformats.org/drawingml/2006/main" noGrp="1"/>
          </p:cNvSpPr>
          <p:nvPr/>
        </p:nvSpPr>
        <p:spPr>
          <a:xfrm xmlns:a="http://schemas.openxmlformats.org/drawingml/2006/main">
            <a:off x="1428750" y="4305300"/>
            <a:ext cx="4095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83C2F"/>
                </a:solidFill>
                <a:latin typeface="Arial"/>
                <a:ea typeface="Arial"/>
                <a:cs typeface="Arial"/>
              </a:defRPr>
            </a:defPPr>
          </a:lstStyle>
          <a:p xmlns:a="http://schemas.openxmlformats.org/drawingml/2006/main">
            <a:pPr algn="l">
              <a:defRPr sz="2025" b="1">
                <a:solidFill>
                  <a:srgbClr val="183C2F"/>
                </a:solidFill>
                <a:latin typeface="Arial"/>
                <a:ea typeface="Arial"/>
                <a:cs typeface="Arial"/>
              </a:defRPr>
            </a:pPr>
            <a:r>
              <a:rPr sz="2025" b="1">
                <a:solidFill>
                  <a:srgbClr val="183C2F"/>
                </a:solidFill>
                <a:latin typeface="Arial"/>
                <a:ea typeface="Arial"/>
                <a:cs typeface="Arial"/>
              </a:rPr>
              <a:t>Review, edit and send</a:t>
            </a:r>
          </a:p>
        </p:txBody>
      </p:sp>
      <p:sp>
        <p:nvSpPr>
          <p:cNvPr id="17" name="text-53">
            <a:extLst xmlns:a="http://schemas.openxmlformats.org/drawingml/2006/main">
              <a:ext uri="{FF2B5EF4-FFF2-40B4-BE49-F238E27FC236}">
                <a16:creationId xmlns:a16="http://schemas.microsoft.com/office/drawing/2014/main" id="{9C8A3B0D-1702-4F91-9C21-2D5873ABC913}"/>
              </a:ext>
            </a:extLst>
          </p:cNvPr>
          <p:cNvSpPr>
            <a:spLocks xmlns:a="http://schemas.openxmlformats.org/drawingml/2006/main" noGrp="1"/>
          </p:cNvSpPr>
          <p:nvPr/>
        </p:nvSpPr>
        <p:spPr>
          <a:xfrm xmlns:a="http://schemas.openxmlformats.org/drawingml/2006/main">
            <a:off x="6000750" y="4324350"/>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The citizen approves the email or WhatsApp complaint</a:t>
            </a:r>
          </a:p>
        </p:txBody>
      </p:sp>
      <p:sp>
        <p:nvSpPr>
          <p:cNvPr id="18" name="text-54">
            <a:extLst xmlns:a="http://schemas.openxmlformats.org/drawingml/2006/main">
              <a:ext uri="{FF2B5EF4-FFF2-40B4-BE49-F238E27FC236}">
                <a16:creationId xmlns:a16="http://schemas.microsoft.com/office/drawing/2014/main" id="{9B5D553C-8297-4A2A-B949-518F9D08AB48}"/>
              </a:ext>
            </a:extLst>
          </p:cNvPr>
          <p:cNvSpPr>
            <a:spLocks xmlns:a="http://schemas.openxmlformats.org/drawingml/2006/main" noGrp="1"/>
          </p:cNvSpPr>
          <p:nvPr/>
        </p:nvSpPr>
        <p:spPr>
          <a:xfrm xmlns:a="http://schemas.openxmlformats.org/drawingml/2006/main">
            <a:off x="609600" y="5057775"/>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05</a:t>
            </a:r>
          </a:p>
        </p:txBody>
      </p:sp>
      <p:sp>
        <p:nvSpPr>
          <p:cNvPr id="19" name="text-55">
            <a:extLst xmlns:a="http://schemas.openxmlformats.org/drawingml/2006/main">
              <a:ext uri="{FF2B5EF4-FFF2-40B4-BE49-F238E27FC236}">
                <a16:creationId xmlns:a16="http://schemas.microsoft.com/office/drawing/2014/main" id="{1F93D052-0723-4A83-A738-85824E727A12}"/>
              </a:ext>
            </a:extLst>
          </p:cNvPr>
          <p:cNvSpPr>
            <a:spLocks xmlns:a="http://schemas.openxmlformats.org/drawingml/2006/main" noGrp="1"/>
          </p:cNvSpPr>
          <p:nvPr/>
        </p:nvSpPr>
        <p:spPr>
          <a:xfrm xmlns:a="http://schemas.openxmlformats.org/drawingml/2006/main">
            <a:off x="1428750" y="5057775"/>
            <a:ext cx="4095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83C2F"/>
                </a:solidFill>
                <a:latin typeface="Arial"/>
                <a:ea typeface="Arial"/>
                <a:cs typeface="Arial"/>
              </a:defRPr>
            </a:defPPr>
          </a:lstStyle>
          <a:p xmlns:a="http://schemas.openxmlformats.org/drawingml/2006/main">
            <a:pPr algn="l">
              <a:defRPr sz="2025" b="1">
                <a:solidFill>
                  <a:srgbClr val="183C2F"/>
                </a:solidFill>
                <a:latin typeface="Arial"/>
                <a:ea typeface="Arial"/>
                <a:cs typeface="Arial"/>
              </a:defRPr>
            </a:pPr>
            <a:r>
              <a:rPr sz="2025" b="1">
                <a:solidFill>
                  <a:srgbClr val="183C2F"/>
                </a:solidFill>
                <a:latin typeface="Arial"/>
                <a:ea typeface="Arial"/>
                <a:cs typeface="Arial"/>
              </a:rPr>
              <a:t>Open the public map</a:t>
            </a:r>
          </a:p>
        </p:txBody>
      </p:sp>
      <p:sp>
        <p:nvSpPr>
          <p:cNvPr id="20" name="text-56">
            <a:extLst xmlns:a="http://schemas.openxmlformats.org/drawingml/2006/main">
              <a:ext uri="{FF2B5EF4-FFF2-40B4-BE49-F238E27FC236}">
                <a16:creationId xmlns:a16="http://schemas.microsoft.com/office/drawing/2014/main" id="{B45D74C2-6F3B-4128-BE59-D94914E54AB7}"/>
              </a:ext>
            </a:extLst>
          </p:cNvPr>
          <p:cNvSpPr>
            <a:spLocks xmlns:a="http://schemas.openxmlformats.org/drawingml/2006/main" noGrp="1"/>
          </p:cNvSpPr>
          <p:nvPr/>
        </p:nvSpPr>
        <p:spPr>
          <a:xfrm xmlns:a="http://schemas.openxmlformats.org/drawingml/2006/main">
            <a:off x="6000750" y="5076825"/>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4655C"/>
                </a:solidFill>
                <a:latin typeface="Arial"/>
                <a:ea typeface="Arial"/>
                <a:cs typeface="Arial"/>
              </a:defRPr>
            </a:defPPr>
          </a:lstStyle>
          <a:p xmlns:a="http://schemas.openxmlformats.org/drawingml/2006/main">
            <a:pPr algn="l">
              <a:defRPr sz="1800" b="0">
                <a:solidFill>
                  <a:srgbClr val="54655C"/>
                </a:solidFill>
                <a:latin typeface="Arial"/>
                <a:ea typeface="Arial"/>
                <a:cs typeface="Arial"/>
              </a:defRPr>
            </a:pPr>
            <a:r>
              <a:rPr sz="1800" b="0">
                <a:solidFill>
                  <a:srgbClr val="54655C"/>
                </a:solidFill>
                <a:latin typeface="Arial"/>
                <a:ea typeface="Arial"/>
                <a:cs typeface="Arial"/>
              </a:rPr>
              <a:t>The app focuses on the saved complaint</a:t>
            </a:r>
          </a:p>
        </p:txBody>
      </p:sp>
      <p:sp>
        <p:nvSpPr>
          <p:cNvPr id="21" name="text-57">
            <a:extLst xmlns:a="http://schemas.openxmlformats.org/drawingml/2006/main">
              <a:ext uri="{FF2B5EF4-FFF2-40B4-BE49-F238E27FC236}">
                <a16:creationId xmlns:a16="http://schemas.microsoft.com/office/drawing/2014/main" id="{4B1AE832-392C-441D-BB00-87234B6801C3}"/>
              </a:ext>
            </a:extLst>
          </p:cNvPr>
          <p:cNvSpPr>
            <a:spLocks xmlns:a="http://schemas.openxmlformats.org/drawingml/2006/main" noGrp="1"/>
          </p:cNvSpPr>
          <p:nvPr/>
        </p:nvSpPr>
        <p:spPr>
          <a:xfrm xmlns:a="http://schemas.openxmlformats.org/drawingml/2006/main">
            <a:off x="609600" y="59055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9784B"/>
                </a:solidFill>
                <a:latin typeface="Arial"/>
                <a:ea typeface="Arial"/>
                <a:cs typeface="Arial"/>
              </a:defRPr>
            </a:defPPr>
          </a:lstStyle>
          <a:p xmlns:a="http://schemas.openxmlformats.org/drawingml/2006/main">
            <a:pPr algn="l">
              <a:defRPr sz="1575" b="1">
                <a:solidFill>
                  <a:srgbClr val="29784B"/>
                </a:solidFill>
                <a:latin typeface="Arial"/>
                <a:ea typeface="Arial"/>
                <a:cs typeface="Arial"/>
              </a:defRPr>
            </a:pPr>
            <a:r>
              <a:rPr sz="1575" b="1">
                <a:solidFill>
                  <a:srgbClr val="29784B"/>
                </a:solidFill>
                <a:latin typeface="Arial"/>
                <a:ea typeface="Arial"/>
                <a:cs typeface="Arial"/>
              </a:rPr>
              <a:t>Design target: under 60 seconds, with minimal typing</a:t>
            </a:r>
          </a:p>
        </p:txBody>
      </p:sp>
    </p:spTree>
    <p:extLst>
      <p:ext uri="{BB962C8B-B14F-4D97-AF65-F5344CB8AC3E}">
        <p14:creationId xmlns:p14="http://schemas.microsoft.com/office/powerpoint/2010/main" val="1498648850"/>
      </p:ext>
    </p:extLst>
  </p:cSld>
</p:sld>
</file>

<file path=ppt/slides/slide5.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5" name="text-58">
            <a:extLst xmlns:a="http://schemas.openxmlformats.org/drawingml/2006/main">
              <a:ext uri="{FF2B5EF4-FFF2-40B4-BE49-F238E27FC236}">
                <a16:creationId xmlns:a16="http://schemas.microsoft.com/office/drawing/2014/main" id="{4EFCA09E-2CF6-4ED9-A45B-EA81217C6612}"/>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EVIDENCE</a:t>
            </a:r>
          </a:p>
        </p:txBody>
      </p:sp>
      <p:sp>
        <p:nvSpPr>
          <p:cNvPr id="2" name="text-59">
            <a:extLst xmlns:a="http://schemas.openxmlformats.org/drawingml/2006/main">
              <a:ext uri="{FF2B5EF4-FFF2-40B4-BE49-F238E27FC236}">
                <a16:creationId xmlns:a16="http://schemas.microsoft.com/office/drawing/2014/main" id="{7BF39534-DD2C-4F69-B087-06C9375AAABA}"/>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Evidence collection is central to the product</a:t>
            </a:r>
          </a:p>
        </p:txBody>
      </p:sp>
      <p:sp>
        <p:nvSpPr>
          <p:cNvPr id="3" name="frame-60">
            <a:extLst xmlns:a="http://schemas.openxmlformats.org/drawingml/2006/main">
              <a:ext uri="{FF2B5EF4-FFF2-40B4-BE49-F238E27FC236}">
                <a16:creationId xmlns:a16="http://schemas.microsoft.com/office/drawing/2014/main" id="{E98B39D0-949F-4817-8482-2729F85E19F7}"/>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61">
            <a:extLst xmlns:a="http://schemas.openxmlformats.org/drawingml/2006/main">
              <a:ext uri="{FF2B5EF4-FFF2-40B4-BE49-F238E27FC236}">
                <a16:creationId xmlns:a16="http://schemas.microsoft.com/office/drawing/2014/main" id="{B3D2BCC2-E971-4187-83D1-E2BA417684BD}"/>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62">
            <a:extLst xmlns:a="http://schemas.openxmlformats.org/drawingml/2006/main">
              <a:ext uri="{FF2B5EF4-FFF2-40B4-BE49-F238E27FC236}">
                <a16:creationId xmlns:a16="http://schemas.microsoft.com/office/drawing/2014/main" id="{6F284969-E81B-4F9B-AE3C-DDC05E5811C2}"/>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05</a:t>
            </a:r>
          </a:p>
        </p:txBody>
      </p:sp>
      <p:sp>
        <p:nvSpPr>
          <p:cNvPr id="6" name="text-63">
            <a:extLst xmlns:a="http://schemas.openxmlformats.org/drawingml/2006/main">
              <a:ext uri="{FF2B5EF4-FFF2-40B4-BE49-F238E27FC236}">
                <a16:creationId xmlns:a16="http://schemas.microsoft.com/office/drawing/2014/main" id="{38A1D3A4-E6CF-4FD3-89A0-CA0809394595}"/>
              </a:ext>
            </a:extLst>
          </p:cNvPr>
          <p:cNvSpPr>
            <a:spLocks xmlns:a="http://schemas.openxmlformats.org/drawingml/2006/main" noGrp="1"/>
          </p:cNvSpPr>
          <p:nvPr/>
        </p:nvSpPr>
        <p:spPr>
          <a:xfrm xmlns:a="http://schemas.openxmlformats.org/drawingml/2006/main">
            <a:off x="609600" y="2028825"/>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3616B"/>
                </a:solidFill>
                <a:latin typeface="Arial"/>
                <a:ea typeface="Arial"/>
                <a:cs typeface="Arial"/>
              </a:defRPr>
            </a:defPPr>
          </a:lstStyle>
          <a:p xmlns:a="http://schemas.openxmlformats.org/drawingml/2006/main">
            <a:pPr algn="l">
              <a:defRPr sz="2250" b="1">
                <a:solidFill>
                  <a:srgbClr val="53616B"/>
                </a:solidFill>
                <a:latin typeface="Arial"/>
                <a:ea typeface="Arial"/>
                <a:cs typeface="Arial"/>
              </a:defRPr>
            </a:pPr>
            <a:r>
              <a:rPr sz="2250" b="1">
                <a:solidFill>
                  <a:srgbClr val="53616B"/>
                </a:solidFill>
                <a:latin typeface="Arial"/>
                <a:ea typeface="Arial"/>
                <a:cs typeface="Arial"/>
              </a:rPr>
              <a:t>Roads</a:t>
            </a:r>
          </a:p>
        </p:txBody>
      </p:sp>
      <p:sp>
        <p:nvSpPr>
          <p:cNvPr id="7" name="text-64">
            <a:extLst xmlns:a="http://schemas.openxmlformats.org/drawingml/2006/main">
              <a:ext uri="{FF2B5EF4-FFF2-40B4-BE49-F238E27FC236}">
                <a16:creationId xmlns:a16="http://schemas.microsoft.com/office/drawing/2014/main" id="{5B101253-5C87-4682-9546-295579AF677B}"/>
              </a:ext>
            </a:extLst>
          </p:cNvPr>
          <p:cNvSpPr>
            <a:spLocks xmlns:a="http://schemas.openxmlformats.org/drawingml/2006/main" noGrp="1"/>
          </p:cNvSpPr>
          <p:nvPr/>
        </p:nvSpPr>
        <p:spPr>
          <a:xfrm xmlns:a="http://schemas.openxmlformats.org/drawingml/2006/main">
            <a:off x="3362325" y="20288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Potholes: close-up plus a wider road/location view.</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Photos also document open drains and blocked footpaths.</a:t>
            </a:r>
          </a:p>
        </p:txBody>
      </p:sp>
      <p:sp>
        <p:nvSpPr>
          <p:cNvPr id="8" name="text-65">
            <a:extLst xmlns:a="http://schemas.openxmlformats.org/drawingml/2006/main">
              <a:ext uri="{FF2B5EF4-FFF2-40B4-BE49-F238E27FC236}">
                <a16:creationId xmlns:a16="http://schemas.microsoft.com/office/drawing/2014/main" id="{B53A670A-A3D0-4085-A3F4-44E7D30193B9}"/>
              </a:ext>
            </a:extLst>
          </p:cNvPr>
          <p:cNvSpPr>
            <a:spLocks xmlns:a="http://schemas.openxmlformats.org/drawingml/2006/main" noGrp="1"/>
          </p:cNvSpPr>
          <p:nvPr/>
        </p:nvSpPr>
        <p:spPr>
          <a:xfrm xmlns:a="http://schemas.openxmlformats.org/drawingml/2006/main">
            <a:off x="609600" y="2981325"/>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57D17"/>
                </a:solidFill>
                <a:latin typeface="Arial"/>
                <a:ea typeface="Arial"/>
                <a:cs typeface="Arial"/>
              </a:defRPr>
            </a:defPPr>
          </a:lstStyle>
          <a:p xmlns:a="http://schemas.openxmlformats.org/drawingml/2006/main">
            <a:pPr algn="l">
              <a:defRPr sz="2250" b="1">
                <a:solidFill>
                  <a:srgbClr val="A57D17"/>
                </a:solidFill>
                <a:latin typeface="Arial"/>
                <a:ea typeface="Arial"/>
                <a:cs typeface="Arial"/>
              </a:defRPr>
            </a:pPr>
            <a:r>
              <a:rPr sz="2250" b="1">
                <a:solidFill>
                  <a:srgbClr val="A57D17"/>
                </a:solidFill>
                <a:latin typeface="Arial"/>
                <a:ea typeface="Arial"/>
                <a:cs typeface="Arial"/>
              </a:rPr>
              <a:t>Garbage</a:t>
            </a:r>
          </a:p>
        </p:txBody>
      </p:sp>
      <p:sp>
        <p:nvSpPr>
          <p:cNvPr id="9" name="text-66">
            <a:extLst xmlns:a="http://schemas.openxmlformats.org/drawingml/2006/main">
              <a:ext uri="{FF2B5EF4-FFF2-40B4-BE49-F238E27FC236}">
                <a16:creationId xmlns:a16="http://schemas.microsoft.com/office/drawing/2014/main" id="{4576BAF1-1761-4605-AE05-DEFF3F619514}"/>
              </a:ext>
            </a:extLst>
          </p:cNvPr>
          <p:cNvSpPr>
            <a:spLocks xmlns:a="http://schemas.openxmlformats.org/drawingml/2006/main" noGrp="1"/>
          </p:cNvSpPr>
          <p:nvPr/>
        </p:nvSpPr>
        <p:spPr>
          <a:xfrm xmlns:a="http://schemas.openxmlformats.org/drawingml/2006/main">
            <a:off x="3362325" y="29813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Photos of waste dumps or visible burning,</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captured from a safe distance.</a:t>
            </a:r>
          </a:p>
        </p:txBody>
      </p:sp>
      <p:sp>
        <p:nvSpPr>
          <p:cNvPr id="10" name="text-67">
            <a:extLst xmlns:a="http://schemas.openxmlformats.org/drawingml/2006/main">
              <a:ext uri="{FF2B5EF4-FFF2-40B4-BE49-F238E27FC236}">
                <a16:creationId xmlns:a16="http://schemas.microsoft.com/office/drawing/2014/main" id="{2DF8CDC3-8B66-49CC-8EB3-7BADBD257310}"/>
              </a:ext>
            </a:extLst>
          </p:cNvPr>
          <p:cNvSpPr>
            <a:spLocks xmlns:a="http://schemas.openxmlformats.org/drawingml/2006/main" noGrp="1"/>
          </p:cNvSpPr>
          <p:nvPr/>
        </p:nvSpPr>
        <p:spPr>
          <a:xfrm xmlns:a="http://schemas.openxmlformats.org/drawingml/2006/main">
            <a:off x="609600" y="3933825"/>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9784B"/>
                </a:solidFill>
                <a:latin typeface="Arial"/>
                <a:ea typeface="Arial"/>
                <a:cs typeface="Arial"/>
              </a:defRPr>
            </a:defPPr>
          </a:lstStyle>
          <a:p xmlns:a="http://schemas.openxmlformats.org/drawingml/2006/main">
            <a:pPr algn="l">
              <a:defRPr sz="2250" b="1">
                <a:solidFill>
                  <a:srgbClr val="29784B"/>
                </a:solidFill>
                <a:latin typeface="Arial"/>
                <a:ea typeface="Arial"/>
                <a:cs typeface="Arial"/>
              </a:defRPr>
            </a:pPr>
            <a:r>
              <a:rPr sz="2250" b="1">
                <a:solidFill>
                  <a:srgbClr val="29784B"/>
                </a:solidFill>
                <a:latin typeface="Arial"/>
                <a:ea typeface="Arial"/>
                <a:cs typeface="Arial"/>
              </a:rPr>
              <a:t>Trees</a:t>
            </a:r>
          </a:p>
        </p:txBody>
      </p:sp>
      <p:sp>
        <p:nvSpPr>
          <p:cNvPr id="11" name="text-68">
            <a:extLst xmlns:a="http://schemas.openxmlformats.org/drawingml/2006/main">
              <a:ext uri="{FF2B5EF4-FFF2-40B4-BE49-F238E27FC236}">
                <a16:creationId xmlns:a16="http://schemas.microsoft.com/office/drawing/2014/main" id="{E0949B1E-A4AE-404E-9CC7-B53550D4AC87}"/>
              </a:ext>
            </a:extLst>
          </p:cNvPr>
          <p:cNvSpPr>
            <a:spLocks xmlns:a="http://schemas.openxmlformats.org/drawingml/2006/main" noGrp="1"/>
          </p:cNvSpPr>
          <p:nvPr/>
        </p:nvSpPr>
        <p:spPr>
          <a:xfrm xmlns:a="http://schemas.openxmlformats.org/drawingml/2006/main">
            <a:off x="3362325" y="39338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Overall tree/site view plus a close-up of the issue.</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Both views help explain the same concern.</a:t>
            </a:r>
          </a:p>
        </p:txBody>
      </p:sp>
      <p:sp>
        <p:nvSpPr>
          <p:cNvPr id="12" name="text-69">
            <a:extLst xmlns:a="http://schemas.openxmlformats.org/drawingml/2006/main">
              <a:ext uri="{FF2B5EF4-FFF2-40B4-BE49-F238E27FC236}">
                <a16:creationId xmlns:a16="http://schemas.microsoft.com/office/drawing/2014/main" id="{6A34D3E3-C444-4117-917A-B793A1B05A95}"/>
              </a:ext>
            </a:extLst>
          </p:cNvPr>
          <p:cNvSpPr>
            <a:spLocks xmlns:a="http://schemas.openxmlformats.org/drawingml/2006/main" noGrp="1"/>
          </p:cNvSpPr>
          <p:nvPr/>
        </p:nvSpPr>
        <p:spPr>
          <a:xfrm xmlns:a="http://schemas.openxmlformats.org/drawingml/2006/main">
            <a:off x="609600" y="4886325"/>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C45233"/>
                </a:solidFill>
                <a:latin typeface="Arial"/>
                <a:ea typeface="Arial"/>
                <a:cs typeface="Arial"/>
              </a:defRPr>
            </a:defPPr>
          </a:lstStyle>
          <a:p xmlns:a="http://schemas.openxmlformats.org/drawingml/2006/main">
            <a:pPr algn="l">
              <a:defRPr sz="2250" b="1">
                <a:solidFill>
                  <a:srgbClr val="C45233"/>
                </a:solidFill>
                <a:latin typeface="Arial"/>
                <a:ea typeface="Arial"/>
                <a:cs typeface="Arial"/>
              </a:defRPr>
            </a:pPr>
            <a:r>
              <a:rPr sz="2250" b="1">
                <a:solidFill>
                  <a:srgbClr val="C45233"/>
                </a:solidFill>
                <a:latin typeface="Arial"/>
                <a:ea typeface="Arial"/>
                <a:cs typeface="Arial"/>
              </a:rPr>
              <a:t>Noise</a:t>
            </a:r>
          </a:p>
        </p:txBody>
      </p:sp>
      <p:sp>
        <p:nvSpPr>
          <p:cNvPr id="13" name="text-70">
            <a:extLst xmlns:a="http://schemas.openxmlformats.org/drawingml/2006/main">
              <a:ext uri="{FF2B5EF4-FFF2-40B4-BE49-F238E27FC236}">
                <a16:creationId xmlns:a16="http://schemas.microsoft.com/office/drawing/2014/main" id="{F872E63C-6A44-4E7F-9EF5-0386B57ABD70}"/>
              </a:ext>
            </a:extLst>
          </p:cNvPr>
          <p:cNvSpPr>
            <a:spLocks xmlns:a="http://schemas.openxmlformats.org/drawingml/2006/main" noGrp="1"/>
          </p:cNvSpPr>
          <p:nvPr/>
        </p:nvSpPr>
        <p:spPr>
          <a:xfrm xmlns:a="http://schemas.openxmlformats.org/drawingml/2006/main">
            <a:off x="3362325" y="4886325"/>
            <a:ext cx="8058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Audio, optional video and capture time.</a:t>
            </a:r>
          </a:p>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Phone sound-level estimates support the recording.</a:t>
            </a:r>
          </a:p>
        </p:txBody>
      </p:sp>
      <p:sp>
        <p:nvSpPr>
          <p:cNvPr id="14" name="text-71">
            <a:extLst xmlns:a="http://schemas.openxmlformats.org/drawingml/2006/main">
              <a:ext uri="{FF2B5EF4-FFF2-40B4-BE49-F238E27FC236}">
                <a16:creationId xmlns:a16="http://schemas.microsoft.com/office/drawing/2014/main" id="{CE0D4971-7973-48B7-BA24-5173B1253057}"/>
              </a:ext>
            </a:extLst>
          </p:cNvPr>
          <p:cNvSpPr>
            <a:spLocks xmlns:a="http://schemas.openxmlformats.org/drawingml/2006/main" noGrp="1"/>
          </p:cNvSpPr>
          <p:nvPr/>
        </p:nvSpPr>
        <p:spPr>
          <a:xfrm xmlns:a="http://schemas.openxmlformats.org/drawingml/2006/main">
            <a:off x="609600" y="595312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29784B"/>
                </a:solidFill>
                <a:latin typeface="Arial"/>
                <a:ea typeface="Arial"/>
                <a:cs typeface="Arial"/>
              </a:defRPr>
            </a:defPPr>
          </a:lstStyle>
          <a:p xmlns:a="http://schemas.openxmlformats.org/drawingml/2006/main">
            <a:pPr algn="l">
              <a:defRPr sz="1575" b="1">
                <a:solidFill>
                  <a:srgbClr val="29784B"/>
                </a:solidFill>
                <a:latin typeface="Arial"/>
                <a:ea typeface="Arial"/>
                <a:cs typeface="Arial"/>
              </a:defRPr>
            </a:pPr>
            <a:r>
              <a:rPr sz="1575" b="1">
                <a:solidFill>
                  <a:srgbClr val="29784B"/>
                </a:solidFill>
                <a:latin typeface="Arial"/>
                <a:ea typeface="Arial"/>
                <a:cs typeface="Arial"/>
              </a:rPr>
              <a:t>A documented record supports follow-up and potential legal escalation</a:t>
            </a:r>
          </a:p>
        </p:txBody>
      </p:sp>
    </p:spTree>
    <p:extLst>
      <p:ext uri="{BB962C8B-B14F-4D97-AF65-F5344CB8AC3E}">
        <p14:creationId xmlns:p14="http://schemas.microsoft.com/office/powerpoint/2010/main" val="1197576631"/>
      </p:ext>
    </p:extLst>
  </p:cSld>
</p:sld>
</file>

<file path=ppt/slides/slide6.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1" name="text-72">
            <a:extLst xmlns:a="http://schemas.openxmlformats.org/drawingml/2006/main">
              <a:ext uri="{FF2B5EF4-FFF2-40B4-BE49-F238E27FC236}">
                <a16:creationId xmlns:a16="http://schemas.microsoft.com/office/drawing/2014/main" id="{4485208A-608F-4FB6-8545-30DCAE501E30}"/>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AI ASSISTANCE</a:t>
            </a:r>
          </a:p>
        </p:txBody>
      </p:sp>
      <p:sp>
        <p:nvSpPr>
          <p:cNvPr id="2" name="text-73">
            <a:extLst xmlns:a="http://schemas.openxmlformats.org/drawingml/2006/main">
              <a:ext uri="{FF2B5EF4-FFF2-40B4-BE49-F238E27FC236}">
                <a16:creationId xmlns:a16="http://schemas.microsoft.com/office/drawing/2014/main" id="{2F76CABE-D8AD-45ED-9860-0A3A3A4AD673}"/>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AI does the writing heavy lifting</a:t>
            </a:r>
          </a:p>
        </p:txBody>
      </p:sp>
      <p:sp>
        <p:nvSpPr>
          <p:cNvPr id="3" name="frame-74">
            <a:extLst xmlns:a="http://schemas.openxmlformats.org/drawingml/2006/main">
              <a:ext uri="{FF2B5EF4-FFF2-40B4-BE49-F238E27FC236}">
                <a16:creationId xmlns:a16="http://schemas.microsoft.com/office/drawing/2014/main" id="{0EBCCFE0-3C2A-4474-92F9-42BBD803B94B}"/>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75">
            <a:extLst xmlns:a="http://schemas.openxmlformats.org/drawingml/2006/main">
              <a:ext uri="{FF2B5EF4-FFF2-40B4-BE49-F238E27FC236}">
                <a16:creationId xmlns:a16="http://schemas.microsoft.com/office/drawing/2014/main" id="{BA2925AB-CB9D-4E65-930A-5F77A190EFFA}"/>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76">
            <a:extLst xmlns:a="http://schemas.openxmlformats.org/drawingml/2006/main">
              <a:ext uri="{FF2B5EF4-FFF2-40B4-BE49-F238E27FC236}">
                <a16:creationId xmlns:a16="http://schemas.microsoft.com/office/drawing/2014/main" id="{1206BF3F-7615-4E87-8C48-C5F50A38ED08}"/>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06</a:t>
            </a:r>
          </a:p>
        </p:txBody>
      </p:sp>
      <p:sp>
        <p:nvSpPr>
          <p:cNvPr id="6" name="text-77">
            <a:extLst xmlns:a="http://schemas.openxmlformats.org/drawingml/2006/main">
              <a:ext uri="{FF2B5EF4-FFF2-40B4-BE49-F238E27FC236}">
                <a16:creationId xmlns:a16="http://schemas.microsoft.com/office/drawing/2014/main" id="{3BBCC431-7786-4246-9873-4F2920C20A70}"/>
              </a:ext>
            </a:extLst>
          </p:cNvPr>
          <p:cNvSpPr>
            <a:spLocks xmlns:a="http://schemas.openxmlformats.org/drawingml/2006/main" noGrp="1"/>
          </p:cNvSpPr>
          <p:nvPr/>
        </p:nvSpPr>
        <p:spPr>
          <a:xfrm xmlns:a="http://schemas.openxmlformats.org/drawingml/2006/main">
            <a:off x="609600" y="2057400"/>
            <a:ext cx="561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84B"/>
                </a:solidFill>
                <a:latin typeface="Arial"/>
                <a:ea typeface="Arial"/>
                <a:cs typeface="Arial"/>
              </a:defRPr>
            </a:defPPr>
          </a:lstStyle>
          <a:p xmlns:a="http://schemas.openxmlformats.org/drawingml/2006/main">
            <a:pPr algn="l">
              <a:defRPr sz="2175" b="1">
                <a:solidFill>
                  <a:srgbClr val="29784B"/>
                </a:solidFill>
                <a:latin typeface="Arial"/>
                <a:ea typeface="Arial"/>
                <a:cs typeface="Arial"/>
              </a:defRPr>
            </a:pPr>
            <a:r>
              <a:rPr sz="2175" b="1">
                <a:solidFill>
                  <a:srgbClr val="29784B"/>
                </a:solidFill>
                <a:latin typeface="Arial"/>
                <a:ea typeface="Arial"/>
                <a:cs typeface="Arial"/>
              </a:rPr>
              <a:t>What AI contributes</a:t>
            </a:r>
          </a:p>
        </p:txBody>
      </p:sp>
      <p:sp>
        <p:nvSpPr>
          <p:cNvPr id="7" name="text-78">
            <a:extLst xmlns:a="http://schemas.openxmlformats.org/drawingml/2006/main">
              <a:ext uri="{FF2B5EF4-FFF2-40B4-BE49-F238E27FC236}">
                <a16:creationId xmlns:a16="http://schemas.microsoft.com/office/drawing/2014/main" id="{95CAF18D-1855-45A8-AF59-B7AE6882D9C6}"/>
              </a:ext>
            </a:extLst>
          </p:cNvPr>
          <p:cNvSpPr>
            <a:spLocks xmlns:a="http://schemas.openxmlformats.org/drawingml/2006/main" noGrp="1"/>
          </p:cNvSpPr>
          <p:nvPr/>
        </p:nvSpPr>
        <p:spPr>
          <a:xfrm xmlns:a="http://schemas.openxmlformats.org/drawingml/2006/main">
            <a:off x="609600" y="2714625"/>
            <a:ext cx="52578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Describes what the photographs show</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Flags additional supported issues</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for the citizen to confirm</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Produces English observations</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and a Marathi summary</a:t>
            </a:r>
          </a:p>
        </p:txBody>
      </p:sp>
      <p:sp>
        <p:nvSpPr>
          <p:cNvPr id="8" name="text-79">
            <a:extLst xmlns:a="http://schemas.openxmlformats.org/drawingml/2006/main">
              <a:ext uri="{FF2B5EF4-FFF2-40B4-BE49-F238E27FC236}">
                <a16:creationId xmlns:a16="http://schemas.microsoft.com/office/drawing/2014/main" id="{AB77918A-C3DF-44DE-A1D6-5145F5CD3553}"/>
              </a:ext>
            </a:extLst>
          </p:cNvPr>
          <p:cNvSpPr>
            <a:spLocks xmlns:a="http://schemas.openxmlformats.org/drawingml/2006/main" noGrp="1"/>
          </p:cNvSpPr>
          <p:nvPr/>
        </p:nvSpPr>
        <p:spPr>
          <a:xfrm xmlns:a="http://schemas.openxmlformats.org/drawingml/2006/main">
            <a:off x="6791325" y="2057400"/>
            <a:ext cx="4810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84B"/>
                </a:solidFill>
                <a:latin typeface="Arial"/>
                <a:ea typeface="Arial"/>
                <a:cs typeface="Arial"/>
              </a:defRPr>
            </a:defPPr>
          </a:lstStyle>
          <a:p xmlns:a="http://schemas.openxmlformats.org/drawingml/2006/main">
            <a:pPr algn="l">
              <a:defRPr sz="2175" b="1">
                <a:solidFill>
                  <a:srgbClr val="29784B"/>
                </a:solidFill>
                <a:latin typeface="Arial"/>
                <a:ea typeface="Arial"/>
                <a:cs typeface="Arial"/>
              </a:defRPr>
            </a:pPr>
            <a:r>
              <a:rPr sz="2175" b="1">
                <a:solidFill>
                  <a:srgbClr val="29784B"/>
                </a:solidFill>
                <a:latin typeface="Arial"/>
                <a:ea typeface="Arial"/>
                <a:cs typeface="Arial"/>
              </a:rPr>
              <a:t>What the citizen controls</a:t>
            </a:r>
          </a:p>
        </p:txBody>
      </p:sp>
      <p:sp>
        <p:nvSpPr>
          <p:cNvPr id="9" name="text-80">
            <a:extLst xmlns:a="http://schemas.openxmlformats.org/drawingml/2006/main">
              <a:ext uri="{FF2B5EF4-FFF2-40B4-BE49-F238E27FC236}">
                <a16:creationId xmlns:a16="http://schemas.microsoft.com/office/drawing/2014/main" id="{679C77D4-BB84-4C38-8507-9243137D26C6}"/>
              </a:ext>
            </a:extLst>
          </p:cNvPr>
          <p:cNvSpPr>
            <a:spLocks xmlns:a="http://schemas.openxmlformats.org/drawingml/2006/main" noGrp="1"/>
          </p:cNvSpPr>
          <p:nvPr/>
        </p:nvSpPr>
        <p:spPr>
          <a:xfrm xmlns:a="http://schemas.openxmlformats.org/drawingml/2006/main">
            <a:off x="6791325" y="2714625"/>
            <a:ext cx="4581525"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Confirms additional concerns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Reviews and edits the complaint</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Chooses when to send it</a:t>
            </a:r>
          </a:p>
        </p:txBody>
      </p:sp>
      <p:sp>
        <p:nvSpPr>
          <p:cNvPr id="10" name="text-81">
            <a:extLst xmlns:a="http://schemas.openxmlformats.org/drawingml/2006/main">
              <a:ext uri="{FF2B5EF4-FFF2-40B4-BE49-F238E27FC236}">
                <a16:creationId xmlns:a16="http://schemas.microsoft.com/office/drawing/2014/main" id="{0BE7F841-5146-4815-AFA5-33A8BBF31BCE}"/>
              </a:ext>
            </a:extLst>
          </p:cNvPr>
          <p:cNvSpPr>
            <a:spLocks xmlns:a="http://schemas.openxmlformats.org/drawingml/2006/main" noGrp="1"/>
          </p:cNvSpPr>
          <p:nvPr/>
        </p:nvSpPr>
        <p:spPr>
          <a:xfrm xmlns:a="http://schemas.openxmlformats.org/drawingml/2006/main">
            <a:off x="609600" y="5743575"/>
            <a:ext cx="10839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4655C"/>
                </a:solidFill>
                <a:latin typeface="Arial"/>
                <a:ea typeface="Arial"/>
                <a:cs typeface="Arial"/>
              </a:defRPr>
            </a:defPPr>
          </a:lstStyle>
          <a:p xmlns:a="http://schemas.openxmlformats.org/drawingml/2006/main">
            <a:pPr algn="l">
              <a:defRPr sz="1650" b="0">
                <a:solidFill>
                  <a:srgbClr val="54655C"/>
                </a:solidFill>
                <a:latin typeface="Arial"/>
                <a:ea typeface="Arial"/>
                <a:cs typeface="Arial"/>
              </a:defRPr>
            </a:pPr>
            <a:r>
              <a:rPr sz="1650" b="0">
                <a:solidFill>
                  <a:srgbClr val="54655C"/>
                </a:solidFill>
                <a:latin typeface="Arial"/>
                <a:ea typeface="Arial"/>
                <a:cs typeface="Arial"/>
              </a:rPr>
              <a:t>Category templates supply the complaint structure, contacts and legal references</a:t>
            </a:r>
          </a:p>
        </p:txBody>
      </p:sp>
    </p:spTree>
    <p:extLst>
      <p:ext uri="{BB962C8B-B14F-4D97-AF65-F5344CB8AC3E}">
        <p14:creationId xmlns:p14="http://schemas.microsoft.com/office/powerpoint/2010/main" val="2103320261"/>
      </p:ext>
    </p:extLst>
  </p:cSld>
</p:sld>
</file>

<file path=ppt/slides/slide7.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0" name="text-82">
            <a:extLst xmlns:a="http://schemas.openxmlformats.org/drawingml/2006/main">
              <a:ext uri="{FF2B5EF4-FFF2-40B4-BE49-F238E27FC236}">
                <a16:creationId xmlns:a16="http://schemas.microsoft.com/office/drawing/2014/main" id="{B7A47E7B-9075-42D1-8A98-77ED9F5E66D6}"/>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DASHBOARD AND ACCOUNTABILITY</a:t>
            </a:r>
          </a:p>
        </p:txBody>
      </p:sp>
      <p:sp>
        <p:nvSpPr>
          <p:cNvPr id="2" name="text-83">
            <a:extLst xmlns:a="http://schemas.openxmlformats.org/drawingml/2006/main">
              <a:ext uri="{FF2B5EF4-FFF2-40B4-BE49-F238E27FC236}">
                <a16:creationId xmlns:a16="http://schemas.microsoft.com/office/drawing/2014/main" id="{0161B7A3-8FD9-4B05-8209-7A4D8CE316F6}"/>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A public view of local concerns</a:t>
            </a:r>
          </a:p>
        </p:txBody>
      </p:sp>
      <p:sp>
        <p:nvSpPr>
          <p:cNvPr id="3" name="frame-84">
            <a:extLst xmlns:a="http://schemas.openxmlformats.org/drawingml/2006/main">
              <a:ext uri="{FF2B5EF4-FFF2-40B4-BE49-F238E27FC236}">
                <a16:creationId xmlns:a16="http://schemas.microsoft.com/office/drawing/2014/main" id="{FEE5B1F6-7079-45E2-B6D2-4123E06B427A}"/>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85">
            <a:extLst xmlns:a="http://schemas.openxmlformats.org/drawingml/2006/main">
              <a:ext uri="{FF2B5EF4-FFF2-40B4-BE49-F238E27FC236}">
                <a16:creationId xmlns:a16="http://schemas.microsoft.com/office/drawing/2014/main" id="{42848CDD-A0B9-46E1-99BF-4C85F60CB517}"/>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86">
            <a:extLst xmlns:a="http://schemas.openxmlformats.org/drawingml/2006/main">
              <a:ext uri="{FF2B5EF4-FFF2-40B4-BE49-F238E27FC236}">
                <a16:creationId xmlns:a16="http://schemas.microsoft.com/office/drawing/2014/main" id="{932B8270-4620-4AEE-854D-84195678798B}"/>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07</a:t>
            </a:r>
          </a:p>
        </p:txBody>
      </p:sp>
      <p:sp>
        <p:nvSpPr>
          <p:cNvPr id="6" name="text-87">
            <a:extLst xmlns:a="http://schemas.openxmlformats.org/drawingml/2006/main">
              <a:ext uri="{FF2B5EF4-FFF2-40B4-BE49-F238E27FC236}">
                <a16:creationId xmlns:a16="http://schemas.microsoft.com/office/drawing/2014/main" id="{90FBB678-3C8E-41A0-8768-F06708F38101}"/>
              </a:ext>
            </a:extLst>
          </p:cNvPr>
          <p:cNvSpPr>
            <a:spLocks xmlns:a="http://schemas.openxmlformats.org/drawingml/2006/main" noGrp="1"/>
          </p:cNvSpPr>
          <p:nvPr/>
        </p:nvSpPr>
        <p:spPr>
          <a:xfrm xmlns:a="http://schemas.openxmlformats.org/drawingml/2006/main">
            <a:off x="609600" y="2162175"/>
            <a:ext cx="528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784B"/>
                </a:solidFill>
                <a:latin typeface="Arial"/>
                <a:ea typeface="Arial"/>
                <a:cs typeface="Arial"/>
              </a:defRPr>
            </a:defPPr>
          </a:lstStyle>
          <a:p xmlns:a="http://schemas.openxmlformats.org/drawingml/2006/main">
            <a:pPr algn="l">
              <a:defRPr sz="2550" b="1">
                <a:solidFill>
                  <a:srgbClr val="29784B"/>
                </a:solidFill>
                <a:latin typeface="Arial"/>
                <a:ea typeface="Arial"/>
                <a:cs typeface="Arial"/>
              </a:defRPr>
            </a:pPr>
            <a:r>
              <a:rPr sz="2550" b="1">
                <a:solidFill>
                  <a:srgbClr val="29784B"/>
                </a:solidFill>
                <a:latin typeface="Arial"/>
                <a:ea typeface="Arial"/>
                <a:cs typeface="Arial"/>
              </a:rPr>
              <a:t>Public complaint map</a:t>
            </a:r>
          </a:p>
        </p:txBody>
      </p:sp>
      <p:sp>
        <p:nvSpPr>
          <p:cNvPr id="7" name="text-88">
            <a:extLst xmlns:a="http://schemas.openxmlformats.org/drawingml/2006/main">
              <a:ext uri="{FF2B5EF4-FFF2-40B4-BE49-F238E27FC236}">
                <a16:creationId xmlns:a16="http://schemas.microsoft.com/office/drawing/2014/main" id="{39FAB955-7244-4D4F-A9B4-E93083F199E9}"/>
              </a:ext>
            </a:extLst>
          </p:cNvPr>
          <p:cNvSpPr>
            <a:spLocks xmlns:a="http://schemas.openxmlformats.org/drawingml/2006/main" noGrp="1"/>
          </p:cNvSpPr>
          <p:nvPr/>
        </p:nvSpPr>
        <p:spPr>
          <a:xfrm xmlns:a="http://schemas.openxmlformats.org/drawingml/2006/main">
            <a:off x="609600" y="3009900"/>
            <a:ext cx="5343525"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Citizens can inspect reported issues</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in their area.</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Nearby reports open at a closer zoom.</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After sharing, the map highlights</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the citizen’s saved complaint.</a:t>
            </a:r>
          </a:p>
        </p:txBody>
      </p:sp>
      <p:sp>
        <p:nvSpPr>
          <p:cNvPr id="8" name="text-89">
            <a:extLst xmlns:a="http://schemas.openxmlformats.org/drawingml/2006/main">
              <a:ext uri="{FF2B5EF4-FFF2-40B4-BE49-F238E27FC236}">
                <a16:creationId xmlns:a16="http://schemas.microsoft.com/office/drawing/2014/main" id="{17E8017A-BFB6-4E6F-997C-5F023CBFAFBE}"/>
              </a:ext>
            </a:extLst>
          </p:cNvPr>
          <p:cNvSpPr>
            <a:spLocks xmlns:a="http://schemas.openxmlformats.org/drawingml/2006/main" noGrp="1"/>
          </p:cNvSpPr>
          <p:nvPr/>
        </p:nvSpPr>
        <p:spPr>
          <a:xfrm xmlns:a="http://schemas.openxmlformats.org/drawingml/2006/main">
            <a:off x="6791325" y="2162175"/>
            <a:ext cx="481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9784B"/>
                </a:solidFill>
                <a:latin typeface="Arial"/>
                <a:ea typeface="Arial"/>
                <a:cs typeface="Arial"/>
              </a:defRPr>
            </a:defPPr>
          </a:lstStyle>
          <a:p xmlns:a="http://schemas.openxmlformats.org/drawingml/2006/main">
            <a:pPr algn="l">
              <a:defRPr sz="2550" b="1">
                <a:solidFill>
                  <a:srgbClr val="29784B"/>
                </a:solidFill>
                <a:latin typeface="Arial"/>
                <a:ea typeface="Arial"/>
                <a:cs typeface="Arial"/>
              </a:defRPr>
            </a:pPr>
            <a:r>
              <a:rPr sz="2550" b="1">
                <a:solidFill>
                  <a:srgbClr val="29784B"/>
                </a:solidFill>
                <a:latin typeface="Arial"/>
                <a:ea typeface="Arial"/>
                <a:cs typeface="Arial"/>
              </a:rPr>
              <a:t>Follow-up evidence</a:t>
            </a:r>
          </a:p>
        </p:txBody>
      </p:sp>
      <p:sp>
        <p:nvSpPr>
          <p:cNvPr id="9" name="text-90">
            <a:extLst xmlns:a="http://schemas.openxmlformats.org/drawingml/2006/main">
              <a:ext uri="{FF2B5EF4-FFF2-40B4-BE49-F238E27FC236}">
                <a16:creationId xmlns:a16="http://schemas.microsoft.com/office/drawing/2014/main" id="{E875EACF-6207-498D-A416-3964FF67EEB1}"/>
              </a:ext>
            </a:extLst>
          </p:cNvPr>
          <p:cNvSpPr>
            <a:spLocks xmlns:a="http://schemas.openxmlformats.org/drawingml/2006/main" noGrp="1"/>
          </p:cNvSpPr>
          <p:nvPr/>
        </p:nvSpPr>
        <p:spPr>
          <a:xfrm xmlns:a="http://schemas.openxmlformats.org/drawingml/2006/main">
            <a:off x="6791325" y="3009900"/>
            <a:ext cx="466725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Supported cases accept a new photo</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for comparison with the original.</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The record helps show whether</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the physical problem has changed.</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Unresolved issues remain a basis</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for further citizen follow-up.</a:t>
            </a:r>
          </a:p>
        </p:txBody>
      </p:sp>
    </p:spTree>
    <p:extLst>
      <p:ext uri="{BB962C8B-B14F-4D97-AF65-F5344CB8AC3E}">
        <p14:creationId xmlns:p14="http://schemas.microsoft.com/office/powerpoint/2010/main" val="1222464741"/>
      </p:ext>
    </p:extLst>
  </p:cSld>
</p:sld>
</file>

<file path=ppt/slides/slide8.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49635592-B0DE-4202-A146-E1BCCB4A83A8}"/>
              </a:ext>
            </a:extLst>
          </p:cNvPr>
          <p:cNvCxnSpPr>
            <a:stCxn xmlns:a="http://schemas.openxmlformats.org/drawingml/2006/main" id="9" idx="3"/>
            <a:endCxn xmlns:a="http://schemas.openxmlformats.org/drawingml/2006/main" id="21" idx="1"/>
          </p:cNvCxnSpPr>
          <p:nvPr/>
        </p:nvCxnSpPr>
        <p:spPr>
          <a:xfrm xmlns:a="http://schemas.openxmlformats.org/drawingml/2006/main">
            <a:off x="7543800" y="2909888"/>
            <a:ext cx="790575" cy="2266950"/>
          </a:xfrm>
          <a:prstGeom xmlns:a="http://schemas.openxmlformats.org/drawingml/2006/main" prst="straightConnector1">
            <a:avLst/>
          </a:prstGeom>
          <a:ln xmlns:a="http://schemas.openxmlformats.org/drawingml/2006/main" w="23813">
            <a:solidFill>
              <a:srgbClr val="29784B"/>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9AFE1760-6CAF-4832-A386-420F7FC2ED9C}"/>
              </a:ext>
            </a:extLst>
          </p:cNvPr>
          <p:cNvCxnSpPr>
            <a:stCxn xmlns:a="http://schemas.openxmlformats.org/drawingml/2006/main" id="9" idx="2"/>
            <a:endCxn xmlns:a="http://schemas.openxmlformats.org/drawingml/2006/main" id="18" idx="0"/>
          </p:cNvCxnSpPr>
          <p:nvPr/>
        </p:nvCxnSpPr>
        <p:spPr>
          <a:xfrm xmlns:a="http://schemas.openxmlformats.org/drawingml/2006/main">
            <a:off x="5957888" y="3724275"/>
            <a:ext cx="0" cy="733425"/>
          </a:xfrm>
          <a:prstGeom xmlns:a="http://schemas.openxmlformats.org/drawingml/2006/main" prst="straightConnector1">
            <a:avLst/>
          </a:prstGeom>
          <a:ln xmlns:a="http://schemas.openxmlformats.org/drawingml/2006/main" w="23813">
            <a:solidFill>
              <a:srgbClr val="29784B"/>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816F4027-2C21-4541-B525-46178C332752}"/>
              </a:ext>
            </a:extLst>
          </p:cNvPr>
          <p:cNvCxnSpPr>
            <a:stCxn xmlns:a="http://schemas.openxmlformats.org/drawingml/2006/main" id="6" idx="2"/>
            <a:endCxn xmlns:a="http://schemas.openxmlformats.org/drawingml/2006/main" id="15" idx="0"/>
          </p:cNvCxnSpPr>
          <p:nvPr/>
        </p:nvCxnSpPr>
        <p:spPr>
          <a:xfrm xmlns:a="http://schemas.openxmlformats.org/drawingml/2006/main">
            <a:off x="2109788" y="3724275"/>
            <a:ext cx="0" cy="733425"/>
          </a:xfrm>
          <a:prstGeom xmlns:a="http://schemas.openxmlformats.org/drawingml/2006/main" prst="straightConnector1">
            <a:avLst/>
          </a:prstGeom>
          <a:ln xmlns:a="http://schemas.openxmlformats.org/drawingml/2006/main" w="23813">
            <a:solidFill>
              <a:srgbClr val="29784B"/>
            </a:solidFill>
            <a:prstDash val="dash"/>
            <a:tailEnd type="triangle" w="med" len="med"/>
          </a:ln>
        </p:spPr>
      </p:cxnSp>
      <p:cxnSp>
        <p:nvCxnSpPr>
          <p:cNvPr id="25" name="">
            <a:extLst xmlns:a="http://schemas.openxmlformats.org/drawingml/2006/main">
              <a:ext uri="{FF2B5EF4-FFF2-40B4-BE49-F238E27FC236}">
                <a16:creationId xmlns:a16="http://schemas.microsoft.com/office/drawing/2014/main" id="{19124F5B-71E9-4BC1-B166-D084E01A2902}"/>
              </a:ext>
            </a:extLst>
          </p:cNvPr>
          <p:cNvCxnSpPr>
            <a:stCxn xmlns:a="http://schemas.openxmlformats.org/drawingml/2006/main" id="9" idx="3"/>
            <a:endCxn xmlns:a="http://schemas.openxmlformats.org/drawingml/2006/main" id="12" idx="1"/>
          </p:cNvCxnSpPr>
          <p:nvPr/>
        </p:nvCxnSpPr>
        <p:spPr>
          <a:xfrm xmlns:a="http://schemas.openxmlformats.org/drawingml/2006/main">
            <a:off x="7543800" y="2909888"/>
            <a:ext cx="790575" cy="0"/>
          </a:xfrm>
          <a:prstGeom xmlns:a="http://schemas.openxmlformats.org/drawingml/2006/main" prst="straightConnector1">
            <a:avLst/>
          </a:prstGeom>
          <a:ln xmlns:a="http://schemas.openxmlformats.org/drawingml/2006/main" w="23813">
            <a:solidFill>
              <a:srgbClr val="29784B"/>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3D3A0A7B-4EDC-49AA-A7A9-39A9BB4A871D}"/>
              </a:ext>
            </a:extLst>
          </p:cNvPr>
          <p:cNvCxnSpPr>
            <a:stCxn xmlns:a="http://schemas.openxmlformats.org/drawingml/2006/main" id="6" idx="3"/>
            <a:endCxn xmlns:a="http://schemas.openxmlformats.org/drawingml/2006/main" id="9" idx="1"/>
          </p:cNvCxnSpPr>
          <p:nvPr/>
        </p:nvCxnSpPr>
        <p:spPr>
          <a:xfrm xmlns:a="http://schemas.openxmlformats.org/drawingml/2006/main">
            <a:off x="3609975" y="2909888"/>
            <a:ext cx="762000" cy="0"/>
          </a:xfrm>
          <a:prstGeom xmlns:a="http://schemas.openxmlformats.org/drawingml/2006/main" prst="straightConnector1">
            <a:avLst/>
          </a:prstGeom>
          <a:ln xmlns:a="http://schemas.openxmlformats.org/drawingml/2006/main" w="23813">
            <a:solidFill>
              <a:srgbClr val="29784B"/>
            </a:solidFill>
            <a:prstDash val="solid"/>
            <a:tailEnd type="triangle" w="med" len="med"/>
          </a:ln>
        </p:spPr>
      </p:cxnSp>
      <p:sp>
        <p:nvSpPr>
          <p:cNvPr id="31" name="text-91">
            <a:extLst xmlns:a="http://schemas.openxmlformats.org/drawingml/2006/main">
              <a:ext uri="{FF2B5EF4-FFF2-40B4-BE49-F238E27FC236}">
                <a16:creationId xmlns:a16="http://schemas.microsoft.com/office/drawing/2014/main" id="{31665E32-BA83-4C87-8482-2EEADB0D8772}"/>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TECHNICAL OVERVIEW</a:t>
            </a:r>
          </a:p>
        </p:txBody>
      </p:sp>
      <p:sp>
        <p:nvSpPr>
          <p:cNvPr id="2" name="text-92">
            <a:extLst xmlns:a="http://schemas.openxmlformats.org/drawingml/2006/main">
              <a:ext uri="{FF2B5EF4-FFF2-40B4-BE49-F238E27FC236}">
                <a16:creationId xmlns:a16="http://schemas.microsoft.com/office/drawing/2014/main" id="{EC48F377-98FC-4349-BF0B-A9281F0766E5}"/>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System architecture</a:t>
            </a:r>
          </a:p>
        </p:txBody>
      </p:sp>
      <p:sp>
        <p:nvSpPr>
          <p:cNvPr id="3" name="frame-93">
            <a:extLst xmlns:a="http://schemas.openxmlformats.org/drawingml/2006/main">
              <a:ext uri="{FF2B5EF4-FFF2-40B4-BE49-F238E27FC236}">
                <a16:creationId xmlns:a16="http://schemas.microsoft.com/office/drawing/2014/main" id="{077FCAB9-583D-49BC-8FE0-80DE04C70BEF}"/>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94">
            <a:extLst xmlns:a="http://schemas.openxmlformats.org/drawingml/2006/main">
              <a:ext uri="{FF2B5EF4-FFF2-40B4-BE49-F238E27FC236}">
                <a16:creationId xmlns:a16="http://schemas.microsoft.com/office/drawing/2014/main" id="{AC27CCCB-BD27-4B7D-ABAD-C2801271C79F}"/>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95">
            <a:extLst xmlns:a="http://schemas.openxmlformats.org/drawingml/2006/main">
              <a:ext uri="{FF2B5EF4-FFF2-40B4-BE49-F238E27FC236}">
                <a16:creationId xmlns:a16="http://schemas.microsoft.com/office/drawing/2014/main" id="{D7D06955-2DCD-4290-BE11-4BB5CF45ED50}"/>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08</a:t>
            </a:r>
          </a:p>
        </p:txBody>
      </p:sp>
      <p:sp>
        <p:nvSpPr>
          <p:cNvPr id="6" name="frame-96">
            <a:extLst xmlns:a="http://schemas.openxmlformats.org/drawingml/2006/main">
              <a:ext uri="{FF2B5EF4-FFF2-40B4-BE49-F238E27FC236}">
                <a16:creationId xmlns:a16="http://schemas.microsoft.com/office/drawing/2014/main" id="{79F604ED-874E-4C2B-AF54-139A2E8F6728}"/>
              </a:ext>
            </a:extLst>
          </p:cNvPr>
          <p:cNvSpPr>
            <a:spLocks xmlns:a="http://schemas.openxmlformats.org/drawingml/2006/main" noGrp="1"/>
          </p:cNvSpPr>
          <p:nvPr/>
        </p:nvSpPr>
        <p:spPr>
          <a:xfrm xmlns:a="http://schemas.openxmlformats.org/drawingml/2006/main">
            <a:off x="609600" y="2095500"/>
            <a:ext cx="3000375" cy="1628775"/>
          </a:xfrm>
          <a:prstGeom xmlns:a="http://schemas.openxmlformats.org/drawingml/2006/main" prst="rect">
            <a:avLst/>
          </a:prstGeom>
          <a:solidFill xmlns:a="http://schemas.openxmlformats.org/drawingml/2006/main">
            <a:srgbClr val="DCEBDF"/>
          </a:solidFill>
          <a:ln xmlns:a="http://schemas.openxmlformats.org/drawingml/2006/main" w="14288">
            <a:solidFill>
              <a:srgbClr val="D5DED4"/>
            </a:solidFill>
          </a:ln>
        </p:spPr>
      </p:sp>
      <p:sp>
        <p:nvSpPr>
          <p:cNvPr id="7" name="text-97">
            <a:extLst xmlns:a="http://schemas.openxmlformats.org/drawingml/2006/main">
              <a:ext uri="{FF2B5EF4-FFF2-40B4-BE49-F238E27FC236}">
                <a16:creationId xmlns:a16="http://schemas.microsoft.com/office/drawing/2014/main" id="{CE5EEB97-727B-43AC-837D-BD381207B367}"/>
              </a:ext>
            </a:extLst>
          </p:cNvPr>
          <p:cNvSpPr>
            <a:spLocks xmlns:a="http://schemas.openxmlformats.org/drawingml/2006/main" noGrp="1"/>
          </p:cNvSpPr>
          <p:nvPr/>
        </p:nvSpPr>
        <p:spPr>
          <a:xfrm xmlns:a="http://schemas.openxmlformats.org/drawingml/2006/main">
            <a:off x="781050" y="2257425"/>
            <a:ext cx="2657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83C2F"/>
                </a:solidFill>
                <a:latin typeface="Arial"/>
                <a:ea typeface="Arial"/>
                <a:cs typeface="Arial"/>
              </a:defRPr>
            </a:defPPr>
          </a:lstStyle>
          <a:p xmlns:a="http://schemas.openxmlformats.org/drawingml/2006/main">
            <a:pPr algn="l">
              <a:defRPr sz="1800" b="1">
                <a:solidFill>
                  <a:srgbClr val="183C2F"/>
                </a:solidFill>
                <a:latin typeface="Arial"/>
                <a:ea typeface="Arial"/>
                <a:cs typeface="Arial"/>
              </a:defRPr>
            </a:pPr>
            <a:r>
              <a:rPr sz="1800" b="1">
                <a:solidFill>
                  <a:srgbClr val="183C2F"/>
                </a:solidFill>
                <a:latin typeface="Arial"/>
                <a:ea typeface="Arial"/>
                <a:cs typeface="Arial"/>
              </a:rPr>
              <a:t>Android app</a:t>
            </a:r>
          </a:p>
        </p:txBody>
      </p:sp>
      <p:sp>
        <p:nvSpPr>
          <p:cNvPr id="8" name="text-98">
            <a:extLst xmlns:a="http://schemas.openxmlformats.org/drawingml/2006/main">
              <a:ext uri="{FF2B5EF4-FFF2-40B4-BE49-F238E27FC236}">
                <a16:creationId xmlns:a16="http://schemas.microsoft.com/office/drawing/2014/main" id="{80939425-F85B-41AC-882C-864E967327A8}"/>
              </a:ext>
            </a:extLst>
          </p:cNvPr>
          <p:cNvSpPr>
            <a:spLocks xmlns:a="http://schemas.openxmlformats.org/drawingml/2006/main" noGrp="1"/>
          </p:cNvSpPr>
          <p:nvPr/>
        </p:nvSpPr>
        <p:spPr>
          <a:xfrm xmlns:a="http://schemas.openxmlformats.org/drawingml/2006/main">
            <a:off x="781050" y="2695575"/>
            <a:ext cx="26574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4655C"/>
                </a:solidFill>
                <a:latin typeface="Arial"/>
                <a:ea typeface="Arial"/>
                <a:cs typeface="Arial"/>
              </a:defRPr>
            </a:defPPr>
          </a:lstStyle>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Expo + React Native</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Camera, GPS, audio/video</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Flow hooks + saved progress</a:t>
            </a:r>
          </a:p>
        </p:txBody>
      </p:sp>
      <p:sp>
        <p:nvSpPr>
          <p:cNvPr id="9" name="frame-99">
            <a:extLst xmlns:a="http://schemas.openxmlformats.org/drawingml/2006/main">
              <a:ext uri="{FF2B5EF4-FFF2-40B4-BE49-F238E27FC236}">
                <a16:creationId xmlns:a16="http://schemas.microsoft.com/office/drawing/2014/main" id="{F1B7B138-726D-4ED2-9A9B-9B9D5C8A6733}"/>
              </a:ext>
            </a:extLst>
          </p:cNvPr>
          <p:cNvSpPr>
            <a:spLocks xmlns:a="http://schemas.openxmlformats.org/drawingml/2006/main" noGrp="1"/>
          </p:cNvSpPr>
          <p:nvPr/>
        </p:nvSpPr>
        <p:spPr>
          <a:xfrm xmlns:a="http://schemas.openxmlformats.org/drawingml/2006/main">
            <a:off x="4371975" y="2095500"/>
            <a:ext cx="3171825" cy="1628775"/>
          </a:xfrm>
          <a:prstGeom xmlns:a="http://schemas.openxmlformats.org/drawingml/2006/main" prst="rect">
            <a:avLst/>
          </a:prstGeom>
          <a:solidFill xmlns:a="http://schemas.openxmlformats.org/drawingml/2006/main">
            <a:srgbClr val="DCEBDF"/>
          </a:solidFill>
          <a:ln xmlns:a="http://schemas.openxmlformats.org/drawingml/2006/main" w="14288">
            <a:solidFill>
              <a:srgbClr val="D5DED4"/>
            </a:solidFill>
          </a:ln>
        </p:spPr>
      </p:sp>
      <p:sp>
        <p:nvSpPr>
          <p:cNvPr id="10" name="text-100">
            <a:extLst xmlns:a="http://schemas.openxmlformats.org/drawingml/2006/main">
              <a:ext uri="{FF2B5EF4-FFF2-40B4-BE49-F238E27FC236}">
                <a16:creationId xmlns:a16="http://schemas.microsoft.com/office/drawing/2014/main" id="{D0F6AEBC-535A-4C6E-AD0E-72461DFF1002}"/>
              </a:ext>
            </a:extLst>
          </p:cNvPr>
          <p:cNvSpPr>
            <a:spLocks xmlns:a="http://schemas.openxmlformats.org/drawingml/2006/main" noGrp="1"/>
          </p:cNvSpPr>
          <p:nvPr/>
        </p:nvSpPr>
        <p:spPr>
          <a:xfrm xmlns:a="http://schemas.openxmlformats.org/drawingml/2006/main">
            <a:off x="4543425" y="2257425"/>
            <a:ext cx="2828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83C2F"/>
                </a:solidFill>
                <a:latin typeface="Arial"/>
                <a:ea typeface="Arial"/>
                <a:cs typeface="Arial"/>
              </a:defRPr>
            </a:defPPr>
          </a:lstStyle>
          <a:p xmlns:a="http://schemas.openxmlformats.org/drawingml/2006/main">
            <a:pPr algn="l">
              <a:defRPr sz="1800" b="1">
                <a:solidFill>
                  <a:srgbClr val="183C2F"/>
                </a:solidFill>
                <a:latin typeface="Arial"/>
                <a:ea typeface="Arial"/>
                <a:cs typeface="Arial"/>
              </a:defRPr>
            </a:pPr>
            <a:r>
              <a:rPr sz="1800" b="1">
                <a:solidFill>
                  <a:srgbClr val="183C2F"/>
                </a:solidFill>
                <a:latin typeface="Arial"/>
                <a:ea typeface="Arial"/>
                <a:cs typeface="Arial"/>
              </a:rPr>
              <a:t>Next.js backend</a:t>
            </a:r>
          </a:p>
        </p:txBody>
      </p:sp>
      <p:sp>
        <p:nvSpPr>
          <p:cNvPr id="11" name="text-101">
            <a:extLst xmlns:a="http://schemas.openxmlformats.org/drawingml/2006/main">
              <a:ext uri="{FF2B5EF4-FFF2-40B4-BE49-F238E27FC236}">
                <a16:creationId xmlns:a16="http://schemas.microsoft.com/office/drawing/2014/main" id="{9E67F456-4CE4-43B4-934C-BC38394F507F}"/>
              </a:ext>
            </a:extLst>
          </p:cNvPr>
          <p:cNvSpPr>
            <a:spLocks xmlns:a="http://schemas.openxmlformats.org/drawingml/2006/main" noGrp="1"/>
          </p:cNvSpPr>
          <p:nvPr/>
        </p:nvSpPr>
        <p:spPr>
          <a:xfrm xmlns:a="http://schemas.openxmlformats.org/drawingml/2006/main">
            <a:off x="4543425" y="2695575"/>
            <a:ext cx="28289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4655C"/>
                </a:solidFill>
                <a:latin typeface="Arial"/>
                <a:ea typeface="Arial"/>
                <a:cs typeface="Arial"/>
              </a:defRPr>
            </a:defPPr>
          </a:lstStyle>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API routes + validation</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Complaint templates + routing</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Draft, PDF and verification</a:t>
            </a:r>
          </a:p>
        </p:txBody>
      </p:sp>
      <p:sp>
        <p:nvSpPr>
          <p:cNvPr id="12" name="frame-102">
            <a:extLst xmlns:a="http://schemas.openxmlformats.org/drawingml/2006/main">
              <a:ext uri="{FF2B5EF4-FFF2-40B4-BE49-F238E27FC236}">
                <a16:creationId xmlns:a16="http://schemas.microsoft.com/office/drawing/2014/main" id="{3C70589A-1239-40C4-BF04-CBC8B4E7AE4A}"/>
              </a:ext>
            </a:extLst>
          </p:cNvPr>
          <p:cNvSpPr>
            <a:spLocks xmlns:a="http://schemas.openxmlformats.org/drawingml/2006/main" noGrp="1"/>
          </p:cNvSpPr>
          <p:nvPr/>
        </p:nvSpPr>
        <p:spPr>
          <a:xfrm xmlns:a="http://schemas.openxmlformats.org/drawingml/2006/main">
            <a:off x="8334375" y="2095500"/>
            <a:ext cx="3248025" cy="1628775"/>
          </a:xfrm>
          <a:prstGeom xmlns:a="http://schemas.openxmlformats.org/drawingml/2006/main" prst="rect">
            <a:avLst/>
          </a:prstGeom>
          <a:solidFill xmlns:a="http://schemas.openxmlformats.org/drawingml/2006/main">
            <a:srgbClr val="DCEBDF"/>
          </a:solidFill>
          <a:ln xmlns:a="http://schemas.openxmlformats.org/drawingml/2006/main" w="14288">
            <a:solidFill>
              <a:srgbClr val="D5DED4"/>
            </a:solidFill>
          </a:ln>
        </p:spPr>
      </p:sp>
      <p:sp>
        <p:nvSpPr>
          <p:cNvPr id="13" name="text-103">
            <a:extLst xmlns:a="http://schemas.openxmlformats.org/drawingml/2006/main">
              <a:ext uri="{FF2B5EF4-FFF2-40B4-BE49-F238E27FC236}">
                <a16:creationId xmlns:a16="http://schemas.microsoft.com/office/drawing/2014/main" id="{324FA682-F68F-4888-AFF4-65B5E5901B41}"/>
              </a:ext>
            </a:extLst>
          </p:cNvPr>
          <p:cNvSpPr>
            <a:spLocks xmlns:a="http://schemas.openxmlformats.org/drawingml/2006/main" noGrp="1"/>
          </p:cNvSpPr>
          <p:nvPr/>
        </p:nvSpPr>
        <p:spPr>
          <a:xfrm xmlns:a="http://schemas.openxmlformats.org/drawingml/2006/main">
            <a:off x="8505825" y="2257425"/>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83C2F"/>
                </a:solidFill>
                <a:latin typeface="Arial"/>
                <a:ea typeface="Arial"/>
                <a:cs typeface="Arial"/>
              </a:defRPr>
            </a:defPPr>
          </a:lstStyle>
          <a:p xmlns:a="http://schemas.openxmlformats.org/drawingml/2006/main">
            <a:pPr algn="l">
              <a:defRPr sz="1800" b="1">
                <a:solidFill>
                  <a:srgbClr val="183C2F"/>
                </a:solidFill>
                <a:latin typeface="Arial"/>
                <a:ea typeface="Arial"/>
                <a:cs typeface="Arial"/>
              </a:defRPr>
            </a:pPr>
            <a:r>
              <a:rPr sz="1800" b="1">
                <a:solidFill>
                  <a:srgbClr val="183C2F"/>
                </a:solidFill>
                <a:latin typeface="Arial"/>
                <a:ea typeface="Arial"/>
                <a:cs typeface="Arial"/>
              </a:rPr>
              <a:t>Cloud vision AI</a:t>
            </a:r>
          </a:p>
        </p:txBody>
      </p:sp>
      <p:sp>
        <p:nvSpPr>
          <p:cNvPr id="14" name="text-104">
            <a:extLst xmlns:a="http://schemas.openxmlformats.org/drawingml/2006/main">
              <a:ext uri="{FF2B5EF4-FFF2-40B4-BE49-F238E27FC236}">
                <a16:creationId xmlns:a16="http://schemas.microsoft.com/office/drawing/2014/main" id="{5154F4B9-DE8B-4029-87FD-7712D135789F}"/>
              </a:ext>
            </a:extLst>
          </p:cNvPr>
          <p:cNvSpPr>
            <a:spLocks xmlns:a="http://schemas.openxmlformats.org/drawingml/2006/main" noGrp="1"/>
          </p:cNvSpPr>
          <p:nvPr/>
        </p:nvSpPr>
        <p:spPr>
          <a:xfrm xmlns:a="http://schemas.openxmlformats.org/drawingml/2006/main">
            <a:off x="8505825" y="2695575"/>
            <a:ext cx="2905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4655C"/>
                </a:solidFill>
                <a:latin typeface="Arial"/>
                <a:ea typeface="Arial"/>
                <a:cs typeface="Arial"/>
              </a:defRPr>
            </a:defPPr>
          </a:lstStyle>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OpenRouter / Gemini</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Structured observations</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Additional issue detection</a:t>
            </a:r>
          </a:p>
        </p:txBody>
      </p:sp>
      <p:sp>
        <p:nvSpPr>
          <p:cNvPr id="15" name="frame-105">
            <a:extLst xmlns:a="http://schemas.openxmlformats.org/drawingml/2006/main">
              <a:ext uri="{FF2B5EF4-FFF2-40B4-BE49-F238E27FC236}">
                <a16:creationId xmlns:a16="http://schemas.microsoft.com/office/drawing/2014/main" id="{2B959D77-0472-4837-9522-71F01FEBB68A}"/>
              </a:ext>
            </a:extLst>
          </p:cNvPr>
          <p:cNvSpPr>
            <a:spLocks xmlns:a="http://schemas.openxmlformats.org/drawingml/2006/main" noGrp="1"/>
          </p:cNvSpPr>
          <p:nvPr/>
        </p:nvSpPr>
        <p:spPr>
          <a:xfrm xmlns:a="http://schemas.openxmlformats.org/drawingml/2006/main">
            <a:off x="609600" y="4457700"/>
            <a:ext cx="3000375" cy="1438275"/>
          </a:xfrm>
          <a:prstGeom xmlns:a="http://schemas.openxmlformats.org/drawingml/2006/main" prst="rect">
            <a:avLst/>
          </a:prstGeom>
          <a:solidFill xmlns:a="http://schemas.openxmlformats.org/drawingml/2006/main">
            <a:srgbClr val="DCEBDF"/>
          </a:solidFill>
          <a:ln xmlns:a="http://schemas.openxmlformats.org/drawingml/2006/main" w="14288">
            <a:solidFill>
              <a:srgbClr val="D5DED4"/>
            </a:solidFill>
          </a:ln>
        </p:spPr>
      </p:sp>
      <p:sp>
        <p:nvSpPr>
          <p:cNvPr id="16" name="text-106">
            <a:extLst xmlns:a="http://schemas.openxmlformats.org/drawingml/2006/main">
              <a:ext uri="{FF2B5EF4-FFF2-40B4-BE49-F238E27FC236}">
                <a16:creationId xmlns:a16="http://schemas.microsoft.com/office/drawing/2014/main" id="{96FA8F4F-507D-4B38-8B27-98751B8D7C0C}"/>
              </a:ext>
            </a:extLst>
          </p:cNvPr>
          <p:cNvSpPr>
            <a:spLocks xmlns:a="http://schemas.openxmlformats.org/drawingml/2006/main" noGrp="1"/>
          </p:cNvSpPr>
          <p:nvPr/>
        </p:nvSpPr>
        <p:spPr>
          <a:xfrm xmlns:a="http://schemas.openxmlformats.org/drawingml/2006/main">
            <a:off x="781050" y="4619625"/>
            <a:ext cx="26574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83C2F"/>
                </a:solidFill>
                <a:latin typeface="Arial"/>
                <a:ea typeface="Arial"/>
                <a:cs typeface="Arial"/>
              </a:defRPr>
            </a:defPPr>
          </a:lstStyle>
          <a:p xmlns:a="http://schemas.openxmlformats.org/drawingml/2006/main">
            <a:pPr algn="l">
              <a:defRPr sz="1800" b="1">
                <a:solidFill>
                  <a:srgbClr val="183C2F"/>
                </a:solidFill>
                <a:latin typeface="Arial"/>
                <a:ea typeface="Arial"/>
                <a:cs typeface="Arial"/>
              </a:defRPr>
            </a:pPr>
            <a:r>
              <a:rPr sz="1800" b="1">
                <a:solidFill>
                  <a:srgbClr val="183C2F"/>
                </a:solidFill>
                <a:latin typeface="Arial"/>
                <a:ea typeface="Arial"/>
                <a:cs typeface="Arial"/>
              </a:rPr>
              <a:t>Optional local AI</a:t>
            </a:r>
          </a:p>
        </p:txBody>
      </p:sp>
      <p:sp>
        <p:nvSpPr>
          <p:cNvPr id="17" name="text-107">
            <a:extLst xmlns:a="http://schemas.openxmlformats.org/drawingml/2006/main">
              <a:ext uri="{FF2B5EF4-FFF2-40B4-BE49-F238E27FC236}">
                <a16:creationId xmlns:a16="http://schemas.microsoft.com/office/drawing/2014/main" id="{A3FBFC01-3E5F-4209-9C59-F7778E93E97C}"/>
              </a:ext>
            </a:extLst>
          </p:cNvPr>
          <p:cNvSpPr>
            <a:spLocks xmlns:a="http://schemas.openxmlformats.org/drawingml/2006/main" noGrp="1"/>
          </p:cNvSpPr>
          <p:nvPr/>
        </p:nvSpPr>
        <p:spPr>
          <a:xfrm xmlns:a="http://schemas.openxmlformats.org/drawingml/2006/main">
            <a:off x="781050" y="5057775"/>
            <a:ext cx="2657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4655C"/>
                </a:solidFill>
                <a:latin typeface="Arial"/>
                <a:ea typeface="Arial"/>
                <a:cs typeface="Arial"/>
              </a:defRPr>
            </a:defPPr>
          </a:lstStyle>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Qwen3.5 native module</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Compatible model required</a:t>
            </a:r>
          </a:p>
        </p:txBody>
      </p:sp>
      <p:sp>
        <p:nvSpPr>
          <p:cNvPr id="18" name="frame-108">
            <a:extLst xmlns:a="http://schemas.openxmlformats.org/drawingml/2006/main">
              <a:ext uri="{FF2B5EF4-FFF2-40B4-BE49-F238E27FC236}">
                <a16:creationId xmlns:a16="http://schemas.microsoft.com/office/drawing/2014/main" id="{2404F3B4-9D8E-4BB2-8049-14524032F0BD}"/>
              </a:ext>
            </a:extLst>
          </p:cNvPr>
          <p:cNvSpPr>
            <a:spLocks xmlns:a="http://schemas.openxmlformats.org/drawingml/2006/main" noGrp="1"/>
          </p:cNvSpPr>
          <p:nvPr/>
        </p:nvSpPr>
        <p:spPr>
          <a:xfrm xmlns:a="http://schemas.openxmlformats.org/drawingml/2006/main">
            <a:off x="4371975" y="4457700"/>
            <a:ext cx="3171825" cy="1438275"/>
          </a:xfrm>
          <a:prstGeom xmlns:a="http://schemas.openxmlformats.org/drawingml/2006/main" prst="rect">
            <a:avLst/>
          </a:prstGeom>
          <a:solidFill xmlns:a="http://schemas.openxmlformats.org/drawingml/2006/main">
            <a:srgbClr val="DCEBDF"/>
          </a:solidFill>
          <a:ln xmlns:a="http://schemas.openxmlformats.org/drawingml/2006/main" w="14288">
            <a:solidFill>
              <a:srgbClr val="D5DED4"/>
            </a:solidFill>
          </a:ln>
        </p:spPr>
      </p:sp>
      <p:sp>
        <p:nvSpPr>
          <p:cNvPr id="19" name="text-109">
            <a:extLst xmlns:a="http://schemas.openxmlformats.org/drawingml/2006/main">
              <a:ext uri="{FF2B5EF4-FFF2-40B4-BE49-F238E27FC236}">
                <a16:creationId xmlns:a16="http://schemas.microsoft.com/office/drawing/2014/main" id="{CEEB48CF-0AF2-4F74-BB42-3FAEED4B37F9}"/>
              </a:ext>
            </a:extLst>
          </p:cNvPr>
          <p:cNvSpPr>
            <a:spLocks xmlns:a="http://schemas.openxmlformats.org/drawingml/2006/main" noGrp="1"/>
          </p:cNvSpPr>
          <p:nvPr/>
        </p:nvSpPr>
        <p:spPr>
          <a:xfrm xmlns:a="http://schemas.openxmlformats.org/drawingml/2006/main">
            <a:off x="4543425" y="4619625"/>
            <a:ext cx="2828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83C2F"/>
                </a:solidFill>
                <a:latin typeface="Arial"/>
                <a:ea typeface="Arial"/>
                <a:cs typeface="Arial"/>
              </a:defRPr>
            </a:defPPr>
          </a:lstStyle>
          <a:p xmlns:a="http://schemas.openxmlformats.org/drawingml/2006/main">
            <a:pPr algn="l">
              <a:defRPr sz="1800" b="1">
                <a:solidFill>
                  <a:srgbClr val="183C2F"/>
                </a:solidFill>
                <a:latin typeface="Arial"/>
                <a:ea typeface="Arial"/>
                <a:cs typeface="Arial"/>
              </a:defRPr>
            </a:pPr>
            <a:r>
              <a:rPr sz="1800" b="1">
                <a:solidFill>
                  <a:srgbClr val="183C2F"/>
                </a:solidFill>
                <a:latin typeface="Arial"/>
                <a:ea typeface="Arial"/>
                <a:cs typeface="Arial"/>
              </a:rPr>
              <a:t>Persistent records</a:t>
            </a:r>
          </a:p>
        </p:txBody>
      </p:sp>
      <p:sp>
        <p:nvSpPr>
          <p:cNvPr id="20" name="text-110">
            <a:extLst xmlns:a="http://schemas.openxmlformats.org/drawingml/2006/main">
              <a:ext uri="{FF2B5EF4-FFF2-40B4-BE49-F238E27FC236}">
                <a16:creationId xmlns:a16="http://schemas.microsoft.com/office/drawing/2014/main" id="{128A1E59-053F-4B01-8712-6F31D1A7676F}"/>
              </a:ext>
            </a:extLst>
          </p:cNvPr>
          <p:cNvSpPr>
            <a:spLocks xmlns:a="http://schemas.openxmlformats.org/drawingml/2006/main" noGrp="1"/>
          </p:cNvSpPr>
          <p:nvPr/>
        </p:nvSpPr>
        <p:spPr>
          <a:xfrm xmlns:a="http://schemas.openxmlformats.org/drawingml/2006/main">
            <a:off x="4543425" y="5057775"/>
            <a:ext cx="2828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4655C"/>
                </a:solidFill>
                <a:latin typeface="Arial"/>
                <a:ea typeface="Arial"/>
                <a:cs typeface="Arial"/>
              </a:defRPr>
            </a:defPPr>
          </a:lstStyle>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SQLite complaint database</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Evidence + PDF media files</a:t>
            </a:r>
          </a:p>
        </p:txBody>
      </p:sp>
      <p:sp>
        <p:nvSpPr>
          <p:cNvPr id="21" name="frame-111">
            <a:extLst xmlns:a="http://schemas.openxmlformats.org/drawingml/2006/main">
              <a:ext uri="{FF2B5EF4-FFF2-40B4-BE49-F238E27FC236}">
                <a16:creationId xmlns:a16="http://schemas.microsoft.com/office/drawing/2014/main" id="{FDD5B4FD-6CF3-4473-8388-E93F0E5E0A1A}"/>
              </a:ext>
            </a:extLst>
          </p:cNvPr>
          <p:cNvSpPr>
            <a:spLocks xmlns:a="http://schemas.openxmlformats.org/drawingml/2006/main" noGrp="1"/>
          </p:cNvSpPr>
          <p:nvPr/>
        </p:nvSpPr>
        <p:spPr>
          <a:xfrm xmlns:a="http://schemas.openxmlformats.org/drawingml/2006/main">
            <a:off x="8334375" y="4457700"/>
            <a:ext cx="3248025" cy="1438275"/>
          </a:xfrm>
          <a:prstGeom xmlns:a="http://schemas.openxmlformats.org/drawingml/2006/main" prst="rect">
            <a:avLst/>
          </a:prstGeom>
          <a:solidFill xmlns:a="http://schemas.openxmlformats.org/drawingml/2006/main">
            <a:srgbClr val="DCEBDF"/>
          </a:solidFill>
          <a:ln xmlns:a="http://schemas.openxmlformats.org/drawingml/2006/main" w="14288">
            <a:solidFill>
              <a:srgbClr val="D5DED4"/>
            </a:solidFill>
          </a:ln>
        </p:spPr>
      </p:sp>
      <p:sp>
        <p:nvSpPr>
          <p:cNvPr id="22" name="text-112">
            <a:extLst xmlns:a="http://schemas.openxmlformats.org/drawingml/2006/main">
              <a:ext uri="{FF2B5EF4-FFF2-40B4-BE49-F238E27FC236}">
                <a16:creationId xmlns:a16="http://schemas.microsoft.com/office/drawing/2014/main" id="{751082B8-9657-47DF-88EE-E6814232C3C3}"/>
              </a:ext>
            </a:extLst>
          </p:cNvPr>
          <p:cNvSpPr>
            <a:spLocks xmlns:a="http://schemas.openxmlformats.org/drawingml/2006/main" noGrp="1"/>
          </p:cNvSpPr>
          <p:nvPr/>
        </p:nvSpPr>
        <p:spPr>
          <a:xfrm xmlns:a="http://schemas.openxmlformats.org/drawingml/2006/main">
            <a:off x="8505825" y="4619625"/>
            <a:ext cx="2905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83C2F"/>
                </a:solidFill>
                <a:latin typeface="Arial"/>
                <a:ea typeface="Arial"/>
                <a:cs typeface="Arial"/>
              </a:defRPr>
            </a:defPPr>
          </a:lstStyle>
          <a:p xmlns:a="http://schemas.openxmlformats.org/drawingml/2006/main">
            <a:pPr algn="l">
              <a:defRPr sz="1800" b="1">
                <a:solidFill>
                  <a:srgbClr val="183C2F"/>
                </a:solidFill>
                <a:latin typeface="Arial"/>
                <a:ea typeface="Arial"/>
                <a:cs typeface="Arial"/>
              </a:defRPr>
            </a:pPr>
            <a:r>
              <a:rPr sz="1800" b="1">
                <a:solidFill>
                  <a:srgbClr val="183C2F"/>
                </a:solidFill>
                <a:latin typeface="Arial"/>
                <a:ea typeface="Arial"/>
                <a:cs typeface="Arial"/>
              </a:rPr>
              <a:t>Public dashboard</a:t>
            </a:r>
          </a:p>
        </p:txBody>
      </p:sp>
      <p:sp>
        <p:nvSpPr>
          <p:cNvPr id="23" name="text-113">
            <a:extLst xmlns:a="http://schemas.openxmlformats.org/drawingml/2006/main">
              <a:ext uri="{FF2B5EF4-FFF2-40B4-BE49-F238E27FC236}">
                <a16:creationId xmlns:a16="http://schemas.microsoft.com/office/drawing/2014/main" id="{05A8BB9C-E4C2-4BB7-BB29-4FEDB98113A5}"/>
              </a:ext>
            </a:extLst>
          </p:cNvPr>
          <p:cNvSpPr>
            <a:spLocks xmlns:a="http://schemas.openxmlformats.org/drawingml/2006/main" noGrp="1"/>
          </p:cNvSpPr>
          <p:nvPr/>
        </p:nvSpPr>
        <p:spPr>
          <a:xfrm xmlns:a="http://schemas.openxmlformats.org/drawingml/2006/main">
            <a:off x="8505825" y="5057775"/>
            <a:ext cx="2905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4655C"/>
                </a:solidFill>
                <a:latin typeface="Arial"/>
                <a:ea typeface="Arial"/>
                <a:cs typeface="Arial"/>
              </a:defRPr>
            </a:defPPr>
          </a:lstStyle>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Next.js + Leaflet map</a:t>
            </a:r>
          </a:p>
          <a:p xmlns:a="http://schemas.openxmlformats.org/drawingml/2006/main">
            <a:pPr algn="l">
              <a:defRPr sz="1500" b="0">
                <a:solidFill>
                  <a:srgbClr val="54655C"/>
                </a:solidFill>
                <a:latin typeface="Arial"/>
                <a:ea typeface="Arial"/>
                <a:cs typeface="Arial"/>
              </a:defRPr>
            </a:pPr>
            <a:r>
              <a:rPr sz="1500" b="0">
                <a:solidFill>
                  <a:srgbClr val="54655C"/>
                </a:solidFill>
                <a:latin typeface="Arial"/>
                <a:ea typeface="Arial"/>
                <a:cs typeface="Arial"/>
              </a:rPr>
              <a:t>Embedded in the Android app</a:t>
            </a:r>
          </a:p>
        </p:txBody>
      </p:sp>
      <p:sp>
        <p:nvSpPr>
          <p:cNvPr id="29" name="text-114">
            <a:extLst xmlns:a="http://schemas.openxmlformats.org/drawingml/2006/main">
              <a:ext uri="{FF2B5EF4-FFF2-40B4-BE49-F238E27FC236}">
                <a16:creationId xmlns:a16="http://schemas.microsoft.com/office/drawing/2014/main" id="{8F16C49D-D57A-4434-B354-2F8F41A2907A}"/>
              </a:ext>
            </a:extLst>
          </p:cNvPr>
          <p:cNvSpPr>
            <a:spLocks xmlns:a="http://schemas.openxmlformats.org/drawingml/2006/main" noGrp="1"/>
          </p:cNvSpPr>
          <p:nvPr/>
        </p:nvSpPr>
        <p:spPr>
          <a:xfrm xmlns:a="http://schemas.openxmlformats.org/drawingml/2006/main">
            <a:off x="3638550" y="3019425"/>
            <a:ext cx="6953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4655C"/>
                </a:solidFill>
                <a:latin typeface="Arial"/>
                <a:ea typeface="Arial"/>
                <a:cs typeface="Arial"/>
              </a:defRPr>
            </a:defPPr>
          </a:lstStyle>
          <a:p xmlns:a="http://schemas.openxmlformats.org/drawingml/2006/main">
            <a:pPr algn="ctr">
              <a:defRPr sz="1050" b="0">
                <a:solidFill>
                  <a:srgbClr val="54655C"/>
                </a:solidFill>
                <a:latin typeface="Arial"/>
                <a:ea typeface="Arial"/>
                <a:cs typeface="Arial"/>
              </a:defRPr>
            </a:pPr>
            <a:r>
              <a:rPr sz="1050" b="0">
                <a:solidFill>
                  <a:srgbClr val="54655C"/>
                </a:solidFill>
                <a:latin typeface="Arial"/>
                <a:ea typeface="Arial"/>
                <a:cs typeface="Arial"/>
              </a:rPr>
              <a:t>API</a:t>
            </a:r>
          </a:p>
        </p:txBody>
      </p:sp>
      <p:sp>
        <p:nvSpPr>
          <p:cNvPr id="30" name="text-115">
            <a:extLst xmlns:a="http://schemas.openxmlformats.org/drawingml/2006/main">
              <a:ext uri="{FF2B5EF4-FFF2-40B4-BE49-F238E27FC236}">
                <a16:creationId xmlns:a16="http://schemas.microsoft.com/office/drawing/2014/main" id="{B14A9B75-B2AC-4BD7-BBFD-453ABE3E2894}"/>
              </a:ext>
            </a:extLst>
          </p:cNvPr>
          <p:cNvSpPr>
            <a:spLocks xmlns:a="http://schemas.openxmlformats.org/drawingml/2006/main" noGrp="1"/>
          </p:cNvSpPr>
          <p:nvPr/>
        </p:nvSpPr>
        <p:spPr>
          <a:xfrm xmlns:a="http://schemas.openxmlformats.org/drawingml/2006/main">
            <a:off x="609600" y="6038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29784B"/>
                </a:solidFill>
                <a:latin typeface="Arial"/>
                <a:ea typeface="Arial"/>
                <a:cs typeface="Arial"/>
              </a:defRPr>
            </a:defPPr>
          </a:lstStyle>
          <a:p xmlns:a="http://schemas.openxmlformats.org/drawingml/2006/main">
            <a:pPr algn="l">
              <a:defRPr sz="1350" b="1">
                <a:solidFill>
                  <a:srgbClr val="29784B"/>
                </a:solidFill>
                <a:latin typeface="Arial"/>
                <a:ea typeface="Arial"/>
                <a:cs typeface="Arial"/>
              </a:defRPr>
            </a:pPr>
            <a:r>
              <a:rPr sz="1350" b="1">
                <a:solidFill>
                  <a:srgbClr val="29784B"/>
                </a:solidFill>
                <a:latin typeface="Arial"/>
                <a:ea typeface="Arial"/>
                <a:cs typeface="Arial"/>
              </a:rPr>
              <a:t>Citizen email / WhatsApp apps handle sending after review</a:t>
            </a:r>
          </a:p>
        </p:txBody>
      </p:sp>
    </p:spTree>
    <p:extLst>
      <p:ext uri="{BB962C8B-B14F-4D97-AF65-F5344CB8AC3E}">
        <p14:creationId xmlns:p14="http://schemas.microsoft.com/office/powerpoint/2010/main" val="1826230705"/>
      </p:ext>
    </p:extLst>
  </p:cSld>
</p:sld>
</file>

<file path=ppt/slides/slide9.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0" name="text-116">
            <a:extLst xmlns:a="http://schemas.openxmlformats.org/drawingml/2006/main">
              <a:ext uri="{FF2B5EF4-FFF2-40B4-BE49-F238E27FC236}">
                <a16:creationId xmlns:a16="http://schemas.microsoft.com/office/drawing/2014/main" id="{BBBECEAC-9813-4608-B791-1F1B7AA19105}"/>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IMPLEMENTATION</a:t>
            </a:r>
          </a:p>
        </p:txBody>
      </p:sp>
      <p:sp>
        <p:nvSpPr>
          <p:cNvPr id="2" name="text-117">
            <a:extLst xmlns:a="http://schemas.openxmlformats.org/drawingml/2006/main">
              <a:ext uri="{FF2B5EF4-FFF2-40B4-BE49-F238E27FC236}">
                <a16:creationId xmlns:a16="http://schemas.microsoft.com/office/drawing/2014/main" id="{A6266D85-E5EB-47BA-892F-AF67F387DBCE}"/>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Current prototype</a:t>
            </a:r>
          </a:p>
        </p:txBody>
      </p:sp>
      <p:sp>
        <p:nvSpPr>
          <p:cNvPr id="3" name="frame-118">
            <a:extLst xmlns:a="http://schemas.openxmlformats.org/drawingml/2006/main">
              <a:ext uri="{FF2B5EF4-FFF2-40B4-BE49-F238E27FC236}">
                <a16:creationId xmlns:a16="http://schemas.microsoft.com/office/drawing/2014/main" id="{10373DF8-D17C-4FB9-8A9D-BEA2DFA2B78F}"/>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119">
            <a:extLst xmlns:a="http://schemas.openxmlformats.org/drawingml/2006/main">
              <a:ext uri="{FF2B5EF4-FFF2-40B4-BE49-F238E27FC236}">
                <a16:creationId xmlns:a16="http://schemas.microsoft.com/office/drawing/2014/main" id="{9BDFF1C5-AAD7-46DE-A49C-03180AF90F12}"/>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120">
            <a:extLst xmlns:a="http://schemas.openxmlformats.org/drawingml/2006/main">
              <a:ext uri="{FF2B5EF4-FFF2-40B4-BE49-F238E27FC236}">
                <a16:creationId xmlns:a16="http://schemas.microsoft.com/office/drawing/2014/main" id="{4877CC18-8F53-4C00-95DA-7BCAA7676D3D}"/>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09</a:t>
            </a:r>
          </a:p>
        </p:txBody>
      </p:sp>
      <p:sp>
        <p:nvSpPr>
          <p:cNvPr id="6" name="text-121">
            <a:extLst xmlns:a="http://schemas.openxmlformats.org/drawingml/2006/main">
              <a:ext uri="{FF2B5EF4-FFF2-40B4-BE49-F238E27FC236}">
                <a16:creationId xmlns:a16="http://schemas.microsoft.com/office/drawing/2014/main" id="{59B4AB98-31ED-4C1C-B433-F89D3BBCE441}"/>
              </a:ext>
            </a:extLst>
          </p:cNvPr>
          <p:cNvSpPr>
            <a:spLocks xmlns:a="http://schemas.openxmlformats.org/drawingml/2006/main" noGrp="1"/>
          </p:cNvSpPr>
          <p:nvPr/>
        </p:nvSpPr>
        <p:spPr>
          <a:xfrm xmlns:a="http://schemas.openxmlformats.org/drawingml/2006/main">
            <a:off x="609600" y="2057400"/>
            <a:ext cx="5191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Available in the app</a:t>
            </a:r>
          </a:p>
        </p:txBody>
      </p:sp>
      <p:sp>
        <p:nvSpPr>
          <p:cNvPr id="7" name="text-122">
            <a:extLst xmlns:a="http://schemas.openxmlformats.org/drawingml/2006/main">
              <a:ext uri="{FF2B5EF4-FFF2-40B4-BE49-F238E27FC236}">
                <a16:creationId xmlns:a16="http://schemas.microsoft.com/office/drawing/2014/main" id="{B60EA75B-E20A-4188-81B5-090EDD06CEA0}"/>
              </a:ext>
            </a:extLst>
          </p:cNvPr>
          <p:cNvSpPr>
            <a:spLocks xmlns:a="http://schemas.openxmlformats.org/drawingml/2006/main" noGrp="1"/>
          </p:cNvSpPr>
          <p:nvPr/>
        </p:nvSpPr>
        <p:spPr>
          <a:xfrm xmlns:a="http://schemas.openxmlformats.org/drawingml/2006/main">
            <a:off x="609600" y="2762250"/>
            <a:ext cx="542925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Four civic domains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Guided capture and AI drafting</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Editable notices and in-app PDFs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Public map and supported photo checks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Saved complaint progress</a:t>
            </a:r>
          </a:p>
        </p:txBody>
      </p:sp>
      <p:sp>
        <p:nvSpPr>
          <p:cNvPr id="8" name="text-123">
            <a:extLst xmlns:a="http://schemas.openxmlformats.org/drawingml/2006/main">
              <a:ext uri="{FF2B5EF4-FFF2-40B4-BE49-F238E27FC236}">
                <a16:creationId xmlns:a16="http://schemas.microsoft.com/office/drawing/2014/main" id="{73D5F010-295D-46D4-B7FB-9989BB45B345}"/>
              </a:ext>
            </a:extLst>
          </p:cNvPr>
          <p:cNvSpPr>
            <a:spLocks xmlns:a="http://schemas.openxmlformats.org/drawingml/2006/main" noGrp="1"/>
          </p:cNvSpPr>
          <p:nvPr/>
        </p:nvSpPr>
        <p:spPr>
          <a:xfrm xmlns:a="http://schemas.openxmlformats.org/drawingml/2006/main">
            <a:off x="6791325" y="2057400"/>
            <a:ext cx="4810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Prototype conditions</a:t>
            </a:r>
          </a:p>
        </p:txBody>
      </p:sp>
      <p:sp>
        <p:nvSpPr>
          <p:cNvPr id="9" name="text-124">
            <a:extLst xmlns:a="http://schemas.openxmlformats.org/drawingml/2006/main">
              <a:ext uri="{FF2B5EF4-FFF2-40B4-BE49-F238E27FC236}">
                <a16:creationId xmlns:a16="http://schemas.microsoft.com/office/drawing/2014/main" id="{40DABBCE-432F-4F4D-AC73-2C4AABC007A6}"/>
              </a:ext>
            </a:extLst>
          </p:cNvPr>
          <p:cNvSpPr>
            <a:spLocks xmlns:a="http://schemas.openxmlformats.org/drawingml/2006/main" noGrp="1"/>
          </p:cNvSpPr>
          <p:nvPr/>
        </p:nvSpPr>
        <p:spPr>
          <a:xfrm xmlns:a="http://schemas.openxmlformats.org/drawingml/2006/main">
            <a:off x="6791325" y="2762250"/>
            <a:ext cx="48006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C2F"/>
                </a:solidFill>
                <a:latin typeface="Arial"/>
                <a:ea typeface="Arial"/>
                <a:cs typeface="Arial"/>
              </a:defRPr>
            </a:defPPr>
          </a:lstStyle>
          <a:p xmlns:a="http://schemas.openxmlformats.org/drawingml/2006/main">
            <a:pPr algn="l">
              <a:defRPr sz="1950" b="0">
                <a:solidFill>
                  <a:srgbClr val="183C2F"/>
                </a:solidFill>
                <a:latin typeface="Arial"/>
                <a:ea typeface="Arial"/>
                <a:cs typeface="Arial"/>
              </a:defRPr>
            </a:pPr>
            <a:r>
              <a:rPr sz="1950" b="0">
                <a:solidFill>
                  <a:srgbClr val="183C2F"/>
                </a:solidFill>
                <a:latin typeface="Arial"/>
                <a:ea typeface="Arial"/>
                <a:cs typeface="Arial"/>
              </a:rPr>
              <a:t>Android app with a laptop backend</a:t>
            </a:r>
          </a:p>
          <a:p xmlns:a="http://schemas.openxmlformats.org/drawingml/2006/main">
            <a:r>
              <a:t/>
            </a:r>
          </a:p>
          <a:p xmlns:a="http://schemas.openxmlformats.org/drawingml/2006/main">
            <a:pPr algn="l">
              <a:defRPr sz="1950" b="0">
                <a:solidFill>
                  <a:srgbClr val="183C2F"/>
                </a:solidFill>
                <a:latin typeface="Arial"/>
                <a:ea typeface="Arial"/>
                <a:cs typeface="Arial"/>
              </a:defRPr>
            </a:pPr>
            <a:r>
              <a:rPr sz="1950" b="0">
                <a:solidFill>
                  <a:srgbClr val="183C2F"/>
                </a:solidFill>
                <a:latin typeface="Arial"/>
                <a:ea typeface="Arial"/>
                <a:cs typeface="Arial"/>
              </a:rPr>
              <a:t>Cloud AI needs connectivity</a:t>
            </a:r>
          </a:p>
          <a:p xmlns:a="http://schemas.openxmlformats.org/drawingml/2006/main">
            <a:r>
              <a:t/>
            </a:r>
          </a:p>
          <a:p xmlns:a="http://schemas.openxmlformats.org/drawingml/2006/main">
            <a:pPr algn="l">
              <a:defRPr sz="1950" b="0">
                <a:solidFill>
                  <a:srgbClr val="183C2F"/>
                </a:solidFill>
                <a:latin typeface="Arial"/>
                <a:ea typeface="Arial"/>
                <a:cs typeface="Arial"/>
              </a:defRPr>
            </a:pPr>
            <a:r>
              <a:rPr sz="1950" b="0">
                <a:solidFill>
                  <a:srgbClr val="183C2F"/>
                </a:solidFill>
                <a:latin typeface="Arial"/>
                <a:ea typeface="Arial"/>
                <a:cs typeface="Arial"/>
              </a:rPr>
              <a:t>Local AI needs compatible model files</a:t>
            </a:r>
          </a:p>
          <a:p xmlns:a="http://schemas.openxmlformats.org/drawingml/2006/main">
            <a:r>
              <a:t/>
            </a:r>
          </a:p>
          <a:p xmlns:a="http://schemas.openxmlformats.org/drawingml/2006/main">
            <a:pPr algn="l">
              <a:defRPr sz="1950" b="0">
                <a:solidFill>
                  <a:srgbClr val="183C2F"/>
                </a:solidFill>
                <a:latin typeface="Arial"/>
                <a:ea typeface="Arial"/>
                <a:cs typeface="Arial"/>
              </a:defRPr>
            </a:pPr>
            <a:r>
              <a:rPr sz="1950" b="0">
                <a:solidFill>
                  <a:srgbClr val="183C2F"/>
                </a:solidFill>
                <a:latin typeface="Arial"/>
                <a:ea typeface="Arial"/>
                <a:cs typeface="Arial"/>
              </a:rPr>
              <a:t>Sending uses the citizen’s own apps</a:t>
            </a:r>
          </a:p>
          <a:p xmlns:a="http://schemas.openxmlformats.org/drawingml/2006/main">
            <a:r>
              <a:t/>
            </a:r>
          </a:p>
          <a:p xmlns:a="http://schemas.openxmlformats.org/drawingml/2006/main">
            <a:pPr algn="l">
              <a:defRPr sz="1950" b="0">
                <a:solidFill>
                  <a:srgbClr val="183C2F"/>
                </a:solidFill>
                <a:latin typeface="Arial"/>
                <a:ea typeface="Arial"/>
                <a:cs typeface="Arial"/>
              </a:defRPr>
            </a:pPr>
            <a:r>
              <a:rPr sz="1950" b="0">
                <a:solidFill>
                  <a:srgbClr val="183C2F"/>
                </a:solidFill>
                <a:latin typeface="Arial"/>
                <a:ea typeface="Arial"/>
                <a:cs typeface="Arial"/>
              </a:rPr>
              <a:t>Under 60 seconds is a design target</a:t>
            </a:r>
          </a:p>
        </p:txBody>
      </p:sp>
    </p:spTree>
    <p:extLst>
      <p:ext uri="{BB962C8B-B14F-4D97-AF65-F5344CB8AC3E}">
        <p14:creationId xmlns:p14="http://schemas.microsoft.com/office/powerpoint/2010/main" val="156442970"/>
      </p:ext>
    </p:extLst>
  </p:cSld>
</p:sld>
</file>

<file path=ppt/slides/slide10.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5" name="text-125">
            <a:extLst xmlns:a="http://schemas.openxmlformats.org/drawingml/2006/main">
              <a:ext uri="{FF2B5EF4-FFF2-40B4-BE49-F238E27FC236}">
                <a16:creationId xmlns:a16="http://schemas.microsoft.com/office/drawing/2014/main" id="{4572EE9F-D59F-4781-A641-1DF03ED306FA}"/>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DEMONSTRATION</a:t>
            </a:r>
          </a:p>
        </p:txBody>
      </p:sp>
      <p:sp>
        <p:nvSpPr>
          <p:cNvPr id="2" name="text-126">
            <a:extLst xmlns:a="http://schemas.openxmlformats.org/drawingml/2006/main">
              <a:ext uri="{FF2B5EF4-FFF2-40B4-BE49-F238E27FC236}">
                <a16:creationId xmlns:a16="http://schemas.microsoft.com/office/drawing/2014/main" id="{FC7D2F05-A01C-4E9D-8E1D-1EBA6203218B}"/>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Judge demo: a pothole complaint</a:t>
            </a:r>
          </a:p>
        </p:txBody>
      </p:sp>
      <p:sp>
        <p:nvSpPr>
          <p:cNvPr id="3" name="frame-127">
            <a:extLst xmlns:a="http://schemas.openxmlformats.org/drawingml/2006/main">
              <a:ext uri="{FF2B5EF4-FFF2-40B4-BE49-F238E27FC236}">
                <a16:creationId xmlns:a16="http://schemas.microsoft.com/office/drawing/2014/main" id="{5150719F-B862-43C1-8733-34A2AEEE87B8}"/>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128">
            <a:extLst xmlns:a="http://schemas.openxmlformats.org/drawingml/2006/main">
              <a:ext uri="{FF2B5EF4-FFF2-40B4-BE49-F238E27FC236}">
                <a16:creationId xmlns:a16="http://schemas.microsoft.com/office/drawing/2014/main" id="{928B73B9-53C3-4B05-B577-DFD2776EF566}"/>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129">
            <a:extLst xmlns:a="http://schemas.openxmlformats.org/drawingml/2006/main">
              <a:ext uri="{FF2B5EF4-FFF2-40B4-BE49-F238E27FC236}">
                <a16:creationId xmlns:a16="http://schemas.microsoft.com/office/drawing/2014/main" id="{94B80C66-F557-4BB0-B339-9082038B869D}"/>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10</a:t>
            </a:r>
          </a:p>
        </p:txBody>
      </p:sp>
      <p:sp>
        <p:nvSpPr>
          <p:cNvPr id="6" name="text-130">
            <a:extLst xmlns:a="http://schemas.openxmlformats.org/drawingml/2006/main">
              <a:ext uri="{FF2B5EF4-FFF2-40B4-BE49-F238E27FC236}">
                <a16:creationId xmlns:a16="http://schemas.microsoft.com/office/drawing/2014/main" id="{EC3DD16B-0C62-4366-A3CF-07EEA6E4533F}"/>
              </a:ext>
            </a:extLst>
          </p:cNvPr>
          <p:cNvSpPr>
            <a:spLocks xmlns:a="http://schemas.openxmlformats.org/drawingml/2006/main" noGrp="1"/>
          </p:cNvSpPr>
          <p:nvPr/>
        </p:nvSpPr>
        <p:spPr>
          <a:xfrm xmlns:a="http://schemas.openxmlformats.org/drawingml/2006/main">
            <a:off x="609600" y="211455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53616B"/>
                </a:solidFill>
                <a:latin typeface="Arial"/>
                <a:ea typeface="Arial"/>
                <a:cs typeface="Arial"/>
              </a:defRPr>
            </a:defPPr>
          </a:lstStyle>
          <a:p xmlns:a="http://schemas.openxmlformats.org/drawingml/2006/main">
            <a:pPr algn="l">
              <a:defRPr sz="2850" b="1">
                <a:solidFill>
                  <a:srgbClr val="53616B"/>
                </a:solidFill>
                <a:latin typeface="Arial"/>
                <a:ea typeface="Arial"/>
                <a:cs typeface="Arial"/>
              </a:defRPr>
            </a:pPr>
            <a:r>
              <a:rPr sz="2850" b="1">
                <a:solidFill>
                  <a:srgbClr val="53616B"/>
                </a:solidFill>
                <a:latin typeface="Arial"/>
                <a:ea typeface="Arial"/>
                <a:cs typeface="Arial"/>
              </a:rPr>
              <a:t>01</a:t>
            </a:r>
          </a:p>
        </p:txBody>
      </p:sp>
      <p:sp>
        <p:nvSpPr>
          <p:cNvPr id="7" name="text-131">
            <a:extLst xmlns:a="http://schemas.openxmlformats.org/drawingml/2006/main">
              <a:ext uri="{FF2B5EF4-FFF2-40B4-BE49-F238E27FC236}">
                <a16:creationId xmlns:a16="http://schemas.microsoft.com/office/drawing/2014/main" id="{5705BBA9-5285-4BDC-82C3-FE7AC7E23882}"/>
              </a:ext>
            </a:extLst>
          </p:cNvPr>
          <p:cNvSpPr>
            <a:spLocks xmlns:a="http://schemas.openxmlformats.org/drawingml/2006/main" noGrp="1"/>
          </p:cNvSpPr>
          <p:nvPr/>
        </p:nvSpPr>
        <p:spPr>
          <a:xfrm xmlns:a="http://schemas.openxmlformats.org/drawingml/2006/main">
            <a:off x="1438275" y="21336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3C2F"/>
                </a:solidFill>
                <a:latin typeface="Arial"/>
                <a:ea typeface="Arial"/>
                <a:cs typeface="Arial"/>
              </a:defRPr>
            </a:defPPr>
          </a:lstStyle>
          <a:p xmlns:a="http://schemas.openxmlformats.org/drawingml/2006/main">
            <a:pPr algn="l">
              <a:defRPr sz="2100" b="1">
                <a:solidFill>
                  <a:srgbClr val="183C2F"/>
                </a:solidFill>
                <a:latin typeface="Arial"/>
                <a:ea typeface="Arial"/>
                <a:cs typeface="Arial"/>
              </a:defRPr>
            </a:pPr>
            <a:r>
              <a:rPr sz="2100" b="1">
                <a:solidFill>
                  <a:srgbClr val="183C2F"/>
                </a:solidFill>
                <a:latin typeface="Arial"/>
                <a:ea typeface="Arial"/>
                <a:cs typeface="Arial"/>
              </a:rPr>
              <a:t>Document the hazard</a:t>
            </a:r>
          </a:p>
        </p:txBody>
      </p:sp>
      <p:sp>
        <p:nvSpPr>
          <p:cNvPr id="8" name="text-132">
            <a:extLst xmlns:a="http://schemas.openxmlformats.org/drawingml/2006/main">
              <a:ext uri="{FF2B5EF4-FFF2-40B4-BE49-F238E27FC236}">
                <a16:creationId xmlns:a16="http://schemas.microsoft.com/office/drawing/2014/main" id="{BBAB4E50-02FE-4398-BB83-F09BBE9EFF71}"/>
              </a:ext>
            </a:extLst>
          </p:cNvPr>
          <p:cNvSpPr>
            <a:spLocks xmlns:a="http://schemas.openxmlformats.org/drawingml/2006/main" noGrp="1"/>
          </p:cNvSpPr>
          <p:nvPr/>
        </p:nvSpPr>
        <p:spPr>
          <a:xfrm xmlns:a="http://schemas.openxmlformats.org/drawingml/2006/main">
            <a:off x="5219700" y="2133600"/>
            <a:ext cx="623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Capture a close-up, then a wider photo showing the road or a recognisable landmark.</a:t>
            </a:r>
          </a:p>
        </p:txBody>
      </p:sp>
      <p:sp>
        <p:nvSpPr>
          <p:cNvPr id="9" name="text-133">
            <a:extLst xmlns:a="http://schemas.openxmlformats.org/drawingml/2006/main">
              <a:ext uri="{FF2B5EF4-FFF2-40B4-BE49-F238E27FC236}">
                <a16:creationId xmlns:a16="http://schemas.microsoft.com/office/drawing/2014/main" id="{ACA703CF-329E-4636-96CB-B747B92E1ABB}"/>
              </a:ext>
            </a:extLst>
          </p:cNvPr>
          <p:cNvSpPr>
            <a:spLocks xmlns:a="http://schemas.openxmlformats.org/drawingml/2006/main" noGrp="1"/>
          </p:cNvSpPr>
          <p:nvPr/>
        </p:nvSpPr>
        <p:spPr>
          <a:xfrm xmlns:a="http://schemas.openxmlformats.org/drawingml/2006/main">
            <a:off x="609600" y="342900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53616B"/>
                </a:solidFill>
                <a:latin typeface="Arial"/>
                <a:ea typeface="Arial"/>
                <a:cs typeface="Arial"/>
              </a:defRPr>
            </a:defPPr>
          </a:lstStyle>
          <a:p xmlns:a="http://schemas.openxmlformats.org/drawingml/2006/main">
            <a:pPr algn="l">
              <a:defRPr sz="2850" b="1">
                <a:solidFill>
                  <a:srgbClr val="53616B"/>
                </a:solidFill>
                <a:latin typeface="Arial"/>
                <a:ea typeface="Arial"/>
                <a:cs typeface="Arial"/>
              </a:defRPr>
            </a:pPr>
            <a:r>
              <a:rPr sz="2850" b="1">
                <a:solidFill>
                  <a:srgbClr val="53616B"/>
                </a:solidFill>
                <a:latin typeface="Arial"/>
                <a:ea typeface="Arial"/>
                <a:cs typeface="Arial"/>
              </a:rPr>
              <a:t>02</a:t>
            </a:r>
          </a:p>
        </p:txBody>
      </p:sp>
      <p:sp>
        <p:nvSpPr>
          <p:cNvPr id="10" name="text-134">
            <a:extLst xmlns:a="http://schemas.openxmlformats.org/drawingml/2006/main">
              <a:ext uri="{FF2B5EF4-FFF2-40B4-BE49-F238E27FC236}">
                <a16:creationId xmlns:a16="http://schemas.microsoft.com/office/drawing/2014/main" id="{15848C58-A5C6-4F00-9CB9-36E31DC2FC12}"/>
              </a:ext>
            </a:extLst>
          </p:cNvPr>
          <p:cNvSpPr>
            <a:spLocks xmlns:a="http://schemas.openxmlformats.org/drawingml/2006/main" noGrp="1"/>
          </p:cNvSpPr>
          <p:nvPr/>
        </p:nvSpPr>
        <p:spPr>
          <a:xfrm xmlns:a="http://schemas.openxmlformats.org/drawingml/2006/main">
            <a:off x="1438275" y="344805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3C2F"/>
                </a:solidFill>
                <a:latin typeface="Arial"/>
                <a:ea typeface="Arial"/>
                <a:cs typeface="Arial"/>
              </a:defRPr>
            </a:defPPr>
          </a:lstStyle>
          <a:p xmlns:a="http://schemas.openxmlformats.org/drawingml/2006/main">
            <a:pPr algn="l">
              <a:defRPr sz="2100" b="1">
                <a:solidFill>
                  <a:srgbClr val="183C2F"/>
                </a:solidFill>
                <a:latin typeface="Arial"/>
                <a:ea typeface="Arial"/>
                <a:cs typeface="Arial"/>
              </a:defRPr>
            </a:pPr>
            <a:r>
              <a:rPr sz="2100" b="1">
                <a:solidFill>
                  <a:srgbClr val="183C2F"/>
                </a:solidFill>
                <a:latin typeface="Arial"/>
                <a:ea typeface="Arial"/>
                <a:cs typeface="Arial"/>
              </a:rPr>
              <a:t>Review the draft</a:t>
            </a:r>
          </a:p>
        </p:txBody>
      </p:sp>
      <p:sp>
        <p:nvSpPr>
          <p:cNvPr id="11" name="text-135">
            <a:extLst xmlns:a="http://schemas.openxmlformats.org/drawingml/2006/main">
              <a:ext uri="{FF2B5EF4-FFF2-40B4-BE49-F238E27FC236}">
                <a16:creationId xmlns:a16="http://schemas.microsoft.com/office/drawing/2014/main" id="{21D6BE71-C4A5-4E7B-B170-511F76238F1F}"/>
              </a:ext>
            </a:extLst>
          </p:cNvPr>
          <p:cNvSpPr>
            <a:spLocks xmlns:a="http://schemas.openxmlformats.org/drawingml/2006/main" noGrp="1"/>
          </p:cNvSpPr>
          <p:nvPr/>
        </p:nvSpPr>
        <p:spPr>
          <a:xfrm xmlns:a="http://schemas.openxmlformats.org/drawingml/2006/main">
            <a:off x="5219700" y="3448050"/>
            <a:ext cx="623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AI describes visible damage. The citizen edits the notice and confirms any additional issue.</a:t>
            </a:r>
          </a:p>
        </p:txBody>
      </p:sp>
      <p:sp>
        <p:nvSpPr>
          <p:cNvPr id="12" name="text-136">
            <a:extLst xmlns:a="http://schemas.openxmlformats.org/drawingml/2006/main">
              <a:ext uri="{FF2B5EF4-FFF2-40B4-BE49-F238E27FC236}">
                <a16:creationId xmlns:a16="http://schemas.microsoft.com/office/drawing/2014/main" id="{3AB18520-8C24-4547-89DA-E025F62484E3}"/>
              </a:ext>
            </a:extLst>
          </p:cNvPr>
          <p:cNvSpPr>
            <a:spLocks xmlns:a="http://schemas.openxmlformats.org/drawingml/2006/main" noGrp="1"/>
          </p:cNvSpPr>
          <p:nvPr/>
        </p:nvSpPr>
        <p:spPr>
          <a:xfrm xmlns:a="http://schemas.openxmlformats.org/drawingml/2006/main">
            <a:off x="609600" y="474345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53616B"/>
                </a:solidFill>
                <a:latin typeface="Arial"/>
                <a:ea typeface="Arial"/>
                <a:cs typeface="Arial"/>
              </a:defRPr>
            </a:defPPr>
          </a:lstStyle>
          <a:p xmlns:a="http://schemas.openxmlformats.org/drawingml/2006/main">
            <a:pPr algn="l">
              <a:defRPr sz="2850" b="1">
                <a:solidFill>
                  <a:srgbClr val="53616B"/>
                </a:solidFill>
                <a:latin typeface="Arial"/>
                <a:ea typeface="Arial"/>
                <a:cs typeface="Arial"/>
              </a:defRPr>
            </a:pPr>
            <a:r>
              <a:rPr sz="2850" b="1">
                <a:solidFill>
                  <a:srgbClr val="53616B"/>
                </a:solidFill>
                <a:latin typeface="Arial"/>
                <a:ea typeface="Arial"/>
                <a:cs typeface="Arial"/>
              </a:rPr>
              <a:t>03</a:t>
            </a:r>
          </a:p>
        </p:txBody>
      </p:sp>
      <p:sp>
        <p:nvSpPr>
          <p:cNvPr id="13" name="text-137">
            <a:extLst xmlns:a="http://schemas.openxmlformats.org/drawingml/2006/main">
              <a:ext uri="{FF2B5EF4-FFF2-40B4-BE49-F238E27FC236}">
                <a16:creationId xmlns:a16="http://schemas.microsoft.com/office/drawing/2014/main" id="{9717A22B-2EDD-45AC-A3CD-CEC86D28D9CA}"/>
              </a:ext>
            </a:extLst>
          </p:cNvPr>
          <p:cNvSpPr>
            <a:spLocks xmlns:a="http://schemas.openxmlformats.org/drawingml/2006/main" noGrp="1"/>
          </p:cNvSpPr>
          <p:nvPr/>
        </p:nvSpPr>
        <p:spPr>
          <a:xfrm xmlns:a="http://schemas.openxmlformats.org/drawingml/2006/main">
            <a:off x="1438275" y="4762500"/>
            <a:ext cx="333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3C2F"/>
                </a:solidFill>
                <a:latin typeface="Arial"/>
                <a:ea typeface="Arial"/>
                <a:cs typeface="Arial"/>
              </a:defRPr>
            </a:defPPr>
          </a:lstStyle>
          <a:p xmlns:a="http://schemas.openxmlformats.org/drawingml/2006/main">
            <a:pPr algn="l">
              <a:defRPr sz="2100" b="1">
                <a:solidFill>
                  <a:srgbClr val="183C2F"/>
                </a:solidFill>
                <a:latin typeface="Arial"/>
                <a:ea typeface="Arial"/>
                <a:cs typeface="Arial"/>
              </a:defRPr>
            </a:pPr>
            <a:r>
              <a:rPr sz="2100" b="1">
                <a:solidFill>
                  <a:srgbClr val="183C2F"/>
                </a:solidFill>
                <a:latin typeface="Arial"/>
                <a:ea typeface="Arial"/>
                <a:cs typeface="Arial"/>
              </a:rPr>
              <a:t>Share and follow up</a:t>
            </a:r>
          </a:p>
        </p:txBody>
      </p:sp>
      <p:sp>
        <p:nvSpPr>
          <p:cNvPr id="14" name="text-138">
            <a:extLst xmlns:a="http://schemas.openxmlformats.org/drawingml/2006/main">
              <a:ext uri="{FF2B5EF4-FFF2-40B4-BE49-F238E27FC236}">
                <a16:creationId xmlns:a16="http://schemas.microsoft.com/office/drawing/2014/main" id="{E0F61747-800B-4649-A2E8-E3016438CBCB}"/>
              </a:ext>
            </a:extLst>
          </p:cNvPr>
          <p:cNvSpPr>
            <a:spLocks xmlns:a="http://schemas.openxmlformats.org/drawingml/2006/main" noGrp="1"/>
          </p:cNvSpPr>
          <p:nvPr/>
        </p:nvSpPr>
        <p:spPr>
          <a:xfrm xmlns:a="http://schemas.openxmlformats.org/drawingml/2006/main">
            <a:off x="5219700" y="4762500"/>
            <a:ext cx="623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4655C"/>
                </a:solidFill>
                <a:latin typeface="Arial"/>
                <a:ea typeface="Arial"/>
                <a:cs typeface="Arial"/>
              </a:defRPr>
            </a:defPPr>
          </a:lstStyle>
          <a:p xmlns:a="http://schemas.openxmlformats.org/drawingml/2006/main">
            <a:pPr algn="l">
              <a:defRPr sz="1875" b="0">
                <a:solidFill>
                  <a:srgbClr val="54655C"/>
                </a:solidFill>
                <a:latin typeface="Arial"/>
                <a:ea typeface="Arial"/>
                <a:cs typeface="Arial"/>
              </a:defRPr>
            </a:pPr>
            <a:r>
              <a:rPr sz="1875" b="0">
                <a:solidFill>
                  <a:srgbClr val="54655C"/>
                </a:solidFill>
                <a:latin typeface="Arial"/>
                <a:ea typeface="Arial"/>
                <a:cs typeface="Arial"/>
              </a:rPr>
              <a:t>Open the email or WhatsApp complaint. Return to the public map focused on the saved report.</a:t>
            </a:r>
          </a:p>
        </p:txBody>
      </p:sp>
    </p:spTree>
    <p:extLst>
      <p:ext uri="{BB962C8B-B14F-4D97-AF65-F5344CB8AC3E}">
        <p14:creationId xmlns:p14="http://schemas.microsoft.com/office/powerpoint/2010/main" val="353049312"/>
      </p:ext>
    </p:extLst>
  </p:cSld>
</p:sld>
</file>

<file path=ppt/slides/slide11.xml><?xml version="1.0" encoding="utf-8"?>
<p:sld xmlns:p="http://schemas.openxmlformats.org/presentationml/2006/main">
  <p:cSld>
    <p:bg>
      <p:bgPr>
        <a:solidFill xmlns:a="http://schemas.openxmlformats.org/drawingml/2006/main">
          <a:srgbClr val="F5F8F3"/>
        </a:solidFill>
      </p:bgPr>
    </p:bg>
    <p:spTree>
      <p:nvGrpSpPr>
        <p:cNvPr id="1" name=""/>
        <p:cNvGrpSpPr/>
        <p:nvPr/>
      </p:nvGrpSpPr>
      <p:grpSpPr>
        <a:xfrm xmlns:a="http://schemas.openxmlformats.org/drawingml/2006/main"/>
      </p:grpSpPr>
      <p:sp>
        <p:nvSpPr>
          <p:cNvPr id="12" name="text-139">
            <a:extLst xmlns:a="http://schemas.openxmlformats.org/drawingml/2006/main">
              <a:ext uri="{FF2B5EF4-FFF2-40B4-BE49-F238E27FC236}">
                <a16:creationId xmlns:a16="http://schemas.microsoft.com/office/drawing/2014/main" id="{1AD5F594-20F7-418F-9344-AAF0DE75FAA7}"/>
              </a:ext>
            </a:extLst>
          </p:cNvPr>
          <p:cNvSpPr>
            <a:spLocks xmlns:a="http://schemas.openxmlformats.org/drawingml/2006/main" noGrp="1"/>
          </p:cNvSpPr>
          <p:nvPr/>
        </p:nvSpPr>
        <p:spPr>
          <a:xfrm xmlns:a="http://schemas.openxmlformats.org/drawingml/2006/main">
            <a:off x="609600" y="323850"/>
            <a:ext cx="1000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29784B"/>
                </a:solidFill>
                <a:latin typeface="Arial"/>
                <a:ea typeface="Arial"/>
                <a:cs typeface="Arial"/>
              </a:defRPr>
            </a:defPPr>
          </a:lstStyle>
          <a:p xmlns:a="http://schemas.openxmlformats.org/drawingml/2006/main">
            <a:pPr algn="l">
              <a:defRPr sz="1200" b="1">
                <a:solidFill>
                  <a:srgbClr val="29784B"/>
                </a:solidFill>
                <a:latin typeface="Arial"/>
                <a:ea typeface="Arial"/>
                <a:cs typeface="Arial"/>
              </a:defRPr>
            </a:pPr>
            <a:r>
              <a:rPr sz="1200" b="1">
                <a:solidFill>
                  <a:srgbClr val="29784B"/>
                </a:solidFill>
                <a:latin typeface="Arial"/>
                <a:ea typeface="Arial"/>
                <a:cs typeface="Arial"/>
              </a:rPr>
              <a:t>NEXT STEPS</a:t>
            </a:r>
          </a:p>
        </p:txBody>
      </p:sp>
      <p:sp>
        <p:nvSpPr>
          <p:cNvPr id="2" name="text-140">
            <a:extLst xmlns:a="http://schemas.openxmlformats.org/drawingml/2006/main">
              <a:ext uri="{FF2B5EF4-FFF2-40B4-BE49-F238E27FC236}">
                <a16:creationId xmlns:a16="http://schemas.microsoft.com/office/drawing/2014/main" id="{D70F8194-3AD2-404E-AFF3-1CAACBEC3998}"/>
              </a:ext>
            </a:extLst>
          </p:cNvPr>
          <p:cNvSpPr>
            <a:spLocks xmlns:a="http://schemas.openxmlformats.org/drawingml/2006/main" noGrp="1"/>
          </p:cNvSpPr>
          <p:nvPr/>
        </p:nvSpPr>
        <p:spPr>
          <a:xfrm xmlns:a="http://schemas.openxmlformats.org/drawingml/2006/main">
            <a:off x="609600" y="800100"/>
            <a:ext cx="1093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83C2F"/>
                </a:solidFill>
                <a:latin typeface="Arial"/>
                <a:ea typeface="Arial"/>
                <a:cs typeface="Arial"/>
              </a:defRPr>
            </a:defPPr>
          </a:lstStyle>
          <a:p xmlns:a="http://schemas.openxmlformats.org/drawingml/2006/main">
            <a:pPr algn="l">
              <a:defRPr sz="3300" b="1">
                <a:solidFill>
                  <a:srgbClr val="183C2F"/>
                </a:solidFill>
                <a:latin typeface="Arial"/>
                <a:ea typeface="Arial"/>
                <a:cs typeface="Arial"/>
              </a:defRPr>
            </a:pPr>
            <a:r>
              <a:rPr sz="3300" b="1">
                <a:solidFill>
                  <a:srgbClr val="183C2F"/>
                </a:solidFill>
                <a:latin typeface="Arial"/>
                <a:ea typeface="Arial"/>
                <a:cs typeface="Arial"/>
              </a:rPr>
              <a:t>The path to wider citizen accountability</a:t>
            </a:r>
          </a:p>
        </p:txBody>
      </p:sp>
      <p:sp>
        <p:nvSpPr>
          <p:cNvPr id="3" name="frame-141">
            <a:extLst xmlns:a="http://schemas.openxmlformats.org/drawingml/2006/main">
              <a:ext uri="{FF2B5EF4-FFF2-40B4-BE49-F238E27FC236}">
                <a16:creationId xmlns:a16="http://schemas.microsoft.com/office/drawing/2014/main" id="{9DB58FFD-9643-42FA-877C-292DEF402219}"/>
              </a:ext>
            </a:extLst>
          </p:cNvPr>
          <p:cNvSpPr>
            <a:spLocks xmlns:a="http://schemas.openxmlformats.org/drawingml/2006/main" noGrp="1"/>
          </p:cNvSpPr>
          <p:nvPr/>
        </p:nvSpPr>
        <p:spPr>
          <a:xfrm xmlns:a="http://schemas.openxmlformats.org/drawingml/2006/main">
            <a:off x="609600" y="6305550"/>
            <a:ext cx="10972800" cy="9525"/>
          </a:xfrm>
          <a:prstGeom xmlns:a="http://schemas.openxmlformats.org/drawingml/2006/main" prst="rect">
            <a:avLst/>
          </a:prstGeom>
          <a:solidFill xmlns:a="http://schemas.openxmlformats.org/drawingml/2006/main">
            <a:srgbClr val="D5DED4"/>
          </a:solidFill>
          <a:ln xmlns:a="http://schemas.openxmlformats.org/drawingml/2006/main" w="0">
            <a:noFill/>
          </a:ln>
        </p:spPr>
      </p:sp>
      <p:sp>
        <p:nvSpPr>
          <p:cNvPr id="4" name="text-142">
            <a:extLst xmlns:a="http://schemas.openxmlformats.org/drawingml/2006/main">
              <a:ext uri="{FF2B5EF4-FFF2-40B4-BE49-F238E27FC236}">
                <a16:creationId xmlns:a16="http://schemas.microsoft.com/office/drawing/2014/main" id="{AF48DA7C-6D9E-41FA-B5ED-8C5EF69BC355}"/>
              </a:ext>
            </a:extLst>
          </p:cNvPr>
          <p:cNvSpPr>
            <a:spLocks xmlns:a="http://schemas.openxmlformats.org/drawingml/2006/main" noGrp="1"/>
          </p:cNvSpPr>
          <p:nvPr/>
        </p:nvSpPr>
        <p:spPr>
          <a:xfrm xmlns:a="http://schemas.openxmlformats.org/drawingml/2006/main">
            <a:off x="609600" y="6496050"/>
            <a:ext cx="714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4655C"/>
                </a:solidFill>
                <a:latin typeface="Arial"/>
                <a:ea typeface="Arial"/>
                <a:cs typeface="Arial"/>
              </a:defRPr>
            </a:defPPr>
          </a:lstStyle>
          <a:p xmlns:a="http://schemas.openxmlformats.org/drawingml/2006/main">
            <a:pPr algn="l">
              <a:defRPr sz="1050" b="1">
                <a:solidFill>
                  <a:srgbClr val="54655C"/>
                </a:solidFill>
                <a:latin typeface="Arial"/>
                <a:ea typeface="Arial"/>
                <a:cs typeface="Arial"/>
              </a:defRPr>
            </a:pPr>
            <a:r>
              <a:rPr sz="1050" b="1">
                <a:solidFill>
                  <a:srgbClr val="54655C"/>
                </a:solidFill>
                <a:latin typeface="Arial"/>
                <a:ea typeface="Arial"/>
                <a:cs typeface="Arial"/>
              </a:rPr>
              <a:t>PUNE FAST COMPLAINT</a:t>
            </a:r>
          </a:p>
        </p:txBody>
      </p:sp>
      <p:sp>
        <p:nvSpPr>
          <p:cNvPr id="5" name="text-143">
            <a:extLst xmlns:a="http://schemas.openxmlformats.org/drawingml/2006/main">
              <a:ext uri="{FF2B5EF4-FFF2-40B4-BE49-F238E27FC236}">
                <a16:creationId xmlns:a16="http://schemas.microsoft.com/office/drawing/2014/main" id="{C508BE72-D709-4850-BC48-BEA7ADBE7555}"/>
              </a:ext>
            </a:extLst>
          </p:cNvPr>
          <p:cNvSpPr>
            <a:spLocks xmlns:a="http://schemas.openxmlformats.org/drawingml/2006/main" noGrp="1"/>
          </p:cNvSpPr>
          <p:nvPr/>
        </p:nvSpPr>
        <p:spPr>
          <a:xfrm xmlns:a="http://schemas.openxmlformats.org/drawingml/2006/main">
            <a:off x="10991850" y="6467475"/>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4655C"/>
                </a:solidFill>
                <a:latin typeface="Arial"/>
                <a:ea typeface="Arial"/>
                <a:cs typeface="Arial"/>
              </a:defRPr>
            </a:defPPr>
          </a:lstStyle>
          <a:p xmlns:a="http://schemas.openxmlformats.org/drawingml/2006/main">
            <a:pPr algn="r">
              <a:defRPr sz="1275" b="0">
                <a:solidFill>
                  <a:srgbClr val="54655C"/>
                </a:solidFill>
                <a:latin typeface="Arial"/>
                <a:ea typeface="Arial"/>
                <a:cs typeface="Arial"/>
              </a:defRPr>
            </a:pPr>
            <a:r>
              <a:rPr sz="1275" b="0">
                <a:solidFill>
                  <a:srgbClr val="54655C"/>
                </a:solidFill>
                <a:latin typeface="Arial"/>
                <a:ea typeface="Arial"/>
                <a:cs typeface="Arial"/>
              </a:rPr>
              <a:t>11</a:t>
            </a:r>
          </a:p>
        </p:txBody>
      </p:sp>
      <p:sp>
        <p:nvSpPr>
          <p:cNvPr id="6" name="text-144">
            <a:extLst xmlns:a="http://schemas.openxmlformats.org/drawingml/2006/main">
              <a:ext uri="{FF2B5EF4-FFF2-40B4-BE49-F238E27FC236}">
                <a16:creationId xmlns:a16="http://schemas.microsoft.com/office/drawing/2014/main" id="{0BECF26B-148C-4EC0-B77B-435C9EED2E1D}"/>
              </a:ext>
            </a:extLst>
          </p:cNvPr>
          <p:cNvSpPr>
            <a:spLocks xmlns:a="http://schemas.openxmlformats.org/drawingml/2006/main" noGrp="1"/>
          </p:cNvSpPr>
          <p:nvPr/>
        </p:nvSpPr>
        <p:spPr>
          <a:xfrm xmlns:a="http://schemas.openxmlformats.org/drawingml/2006/main">
            <a:off x="609600" y="20574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Production readiness</a:t>
            </a:r>
          </a:p>
        </p:txBody>
      </p:sp>
      <p:sp>
        <p:nvSpPr>
          <p:cNvPr id="7" name="text-145">
            <a:extLst xmlns:a="http://schemas.openxmlformats.org/drawingml/2006/main">
              <a:ext uri="{FF2B5EF4-FFF2-40B4-BE49-F238E27FC236}">
                <a16:creationId xmlns:a16="http://schemas.microsoft.com/office/drawing/2014/main" id="{2DD25275-C5AA-451A-A65F-E1650FFD1748}"/>
              </a:ext>
            </a:extLst>
          </p:cNvPr>
          <p:cNvSpPr>
            <a:spLocks xmlns:a="http://schemas.openxmlformats.org/drawingml/2006/main" noGrp="1"/>
          </p:cNvSpPr>
          <p:nvPr/>
        </p:nvSpPr>
        <p:spPr>
          <a:xfrm xmlns:a="http://schemas.openxmlformats.org/drawingml/2006/main">
            <a:off x="609600" y="2809875"/>
            <a:ext cx="5362575"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Durable hosting and backups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Privacy and access controls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Verified authority contacts</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and official receipt tracking</a:t>
            </a:r>
          </a:p>
        </p:txBody>
      </p:sp>
      <p:sp>
        <p:nvSpPr>
          <p:cNvPr id="8" name="text-146">
            <a:extLst xmlns:a="http://schemas.openxmlformats.org/drawingml/2006/main">
              <a:ext uri="{FF2B5EF4-FFF2-40B4-BE49-F238E27FC236}">
                <a16:creationId xmlns:a16="http://schemas.microsoft.com/office/drawing/2014/main" id="{61C39FEF-CB8D-4670-8F29-77C23D0F0EC2}"/>
              </a:ext>
            </a:extLst>
          </p:cNvPr>
          <p:cNvSpPr>
            <a:spLocks xmlns:a="http://schemas.openxmlformats.org/drawingml/2006/main" noGrp="1"/>
          </p:cNvSpPr>
          <p:nvPr/>
        </p:nvSpPr>
        <p:spPr>
          <a:xfrm xmlns:a="http://schemas.openxmlformats.org/drawingml/2006/main">
            <a:off x="6791325" y="2057400"/>
            <a:ext cx="4791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9784B"/>
                </a:solidFill>
                <a:latin typeface="Arial"/>
                <a:ea typeface="Arial"/>
                <a:cs typeface="Arial"/>
              </a:defRPr>
            </a:defPPr>
          </a:lstStyle>
          <a:p xmlns:a="http://schemas.openxmlformats.org/drawingml/2006/main">
            <a:pPr algn="l">
              <a:defRPr sz="2325" b="1">
                <a:solidFill>
                  <a:srgbClr val="29784B"/>
                </a:solidFill>
                <a:latin typeface="Arial"/>
                <a:ea typeface="Arial"/>
                <a:cs typeface="Arial"/>
              </a:defRPr>
            </a:pPr>
            <a:r>
              <a:rPr sz="2325" b="1">
                <a:solidFill>
                  <a:srgbClr val="29784B"/>
                </a:solidFill>
                <a:latin typeface="Arial"/>
                <a:ea typeface="Arial"/>
                <a:cs typeface="Arial"/>
              </a:rPr>
              <a:t>Stronger evidence handling</a:t>
            </a:r>
          </a:p>
        </p:txBody>
      </p:sp>
      <p:sp>
        <p:nvSpPr>
          <p:cNvPr id="9" name="text-147">
            <a:extLst xmlns:a="http://schemas.openxmlformats.org/drawingml/2006/main">
              <a:ext uri="{FF2B5EF4-FFF2-40B4-BE49-F238E27FC236}">
                <a16:creationId xmlns:a16="http://schemas.microsoft.com/office/drawing/2014/main" id="{5A31E3AE-337B-40E4-812F-F62A967C9CA9}"/>
              </a:ext>
            </a:extLst>
          </p:cNvPr>
          <p:cNvSpPr>
            <a:spLocks xmlns:a="http://schemas.openxmlformats.org/drawingml/2006/main" noGrp="1"/>
          </p:cNvSpPr>
          <p:nvPr/>
        </p:nvSpPr>
        <p:spPr>
          <a:xfrm xmlns:a="http://schemas.openxmlformats.org/drawingml/2006/main">
            <a:off x="6791325" y="2952750"/>
            <a:ext cx="460057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C2F"/>
                </a:solidFill>
                <a:latin typeface="Arial"/>
                <a:ea typeface="Arial"/>
                <a:cs typeface="Arial"/>
              </a:defRPr>
            </a:defPPr>
          </a:lstStyle>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Original-file preservation</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and integrity checks</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Traceable report history</a:t>
            </a:r>
          </a:p>
          <a:p xmlns:a="http://schemas.openxmlformats.org/drawingml/2006/main">
            <a:r>
              <a:t/>
            </a:r>
          </a:p>
          <a:p xmlns:a="http://schemas.openxmlformats.org/drawingml/2006/main">
            <a:pPr algn="l">
              <a:defRPr sz="2025" b="0">
                <a:solidFill>
                  <a:srgbClr val="183C2F"/>
                </a:solidFill>
                <a:latin typeface="Arial"/>
                <a:ea typeface="Arial"/>
                <a:cs typeface="Arial"/>
              </a:defRPr>
            </a:pPr>
            <a:r>
              <a:rPr sz="2025" b="0">
                <a:solidFill>
                  <a:srgbClr val="183C2F"/>
                </a:solidFill>
                <a:latin typeface="Arial"/>
                <a:ea typeface="Arial"/>
                <a:cs typeface="Arial"/>
              </a:rPr>
              <a:t>Legal review of evidence exports</a:t>
            </a:r>
          </a:p>
        </p:txBody>
      </p:sp>
      <p:sp>
        <p:nvSpPr>
          <p:cNvPr id="10" name="text-148">
            <a:extLst xmlns:a="http://schemas.openxmlformats.org/drawingml/2006/main">
              <a:ext uri="{FF2B5EF4-FFF2-40B4-BE49-F238E27FC236}">
                <a16:creationId xmlns:a16="http://schemas.microsoft.com/office/drawing/2014/main" id="{2C0D7F75-7F10-4AA6-A3C6-FECAD41490D5}"/>
              </a:ext>
            </a:extLst>
          </p:cNvPr>
          <p:cNvSpPr>
            <a:spLocks xmlns:a="http://schemas.openxmlformats.org/drawingml/2006/main" noGrp="1"/>
          </p:cNvSpPr>
          <p:nvPr/>
        </p:nvSpPr>
        <p:spPr>
          <a:xfrm xmlns:a="http://schemas.openxmlformats.org/drawingml/2006/main">
            <a:off x="609600" y="5505450"/>
            <a:ext cx="109632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9784B"/>
                </a:solidFill>
                <a:latin typeface="Arial"/>
                <a:ea typeface="Arial"/>
                <a:cs typeface="Arial"/>
              </a:defRPr>
            </a:defPPr>
          </a:lstStyle>
          <a:p xmlns:a="http://schemas.openxmlformats.org/drawingml/2006/main">
            <a:pPr algn="l">
              <a:defRPr sz="2175" b="1">
                <a:solidFill>
                  <a:srgbClr val="29784B"/>
                </a:solidFill>
                <a:latin typeface="Arial"/>
                <a:ea typeface="Arial"/>
                <a:cs typeface="Arial"/>
              </a:defRPr>
            </a:pPr>
            <a:r>
              <a:rPr sz="2175" b="1">
                <a:solidFill>
                  <a:srgbClr val="29784B"/>
                </a:solidFill>
                <a:latin typeface="Arial"/>
                <a:ea typeface="Arial"/>
                <a:cs typeface="Arial"/>
              </a:rPr>
              <a:t>Fast complaints. Evidence collection. Public accountability.</a:t>
            </a:r>
          </a:p>
        </p:txBody>
      </p:sp>
      <p:sp>
        <p:nvSpPr>
          <p:cNvPr id="11" name="text-149">
            <a:extLst xmlns:a="http://schemas.openxmlformats.org/drawingml/2006/main">
              <a:ext uri="{FF2B5EF4-FFF2-40B4-BE49-F238E27FC236}">
                <a16:creationId xmlns:a16="http://schemas.microsoft.com/office/drawing/2014/main" id="{EC190DD3-4097-42CB-B545-6D8E8ECFC317}"/>
              </a:ext>
            </a:extLst>
          </p:cNvPr>
          <p:cNvSpPr>
            <a:spLocks xmlns:a="http://schemas.openxmlformats.org/drawingml/2006/main" noGrp="1"/>
          </p:cNvSpPr>
          <p:nvPr/>
        </p:nvSpPr>
        <p:spPr>
          <a:xfrm xmlns:a="http://schemas.openxmlformats.org/drawingml/2006/main">
            <a:off x="609600" y="5981700"/>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4655C"/>
                </a:solidFill>
                <a:latin typeface="Arial"/>
                <a:ea typeface="Arial"/>
                <a:cs typeface="Arial"/>
              </a:defRPr>
            </a:defPPr>
          </a:lstStyle>
          <a:p xmlns:a="http://schemas.openxmlformats.org/drawingml/2006/main">
            <a:pPr algn="l">
              <a:defRPr sz="1200" b="0">
                <a:solidFill>
                  <a:srgbClr val="54655C"/>
                </a:solidFill>
                <a:latin typeface="Arial"/>
                <a:ea typeface="Arial"/>
                <a:cs typeface="Arial"/>
              </a:defRPr>
            </a:pPr>
            <a:r>
              <a:rPr sz="1200" b="0">
                <a:solidFill>
                  <a:srgbClr val="54655C"/>
                </a:solidFill>
                <a:latin typeface="Arial"/>
                <a:ea typeface="Arial"/>
                <a:cs typeface="Arial"/>
              </a:rPr>
              <a:t>Evidence can support escalation and legal proceedings. Court acceptance depends on applicable requirements.</a:t>
            </a:r>
          </a:p>
        </p:txBody>
      </p:sp>
    </p:spTree>
    <p:extLst>
      <p:ext uri="{BB962C8B-B14F-4D97-AF65-F5344CB8AC3E}">
        <p14:creationId xmlns:p14="http://schemas.microsoft.com/office/powerpoint/2010/main" val="1223490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2026-10-11T08:03:32.6480000Z</dcterms:created>
  <dcterms:modified xsi:type="dcterms:W3CDTF">2026-10-11T08:03:32.6480000Z</dcterms:modified>
</coreProperties>
</file>